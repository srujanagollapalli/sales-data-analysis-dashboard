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3" d="100"/>
          <a:sy n="73" d="100"/>
        </p:scale>
        <p:origin x="-376" y="1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barChart>
        <c:barDir val="col"/>
        <c:grouping val="clustered"/>
        <c:varyColors val="0"/>
        <c:ser>
          <c:idx val="0"/>
          <c:order val="0"/>
          <c:tx>
            <c:strRef>
              <c:f>Sheet1!$B$1</c:f>
              <c:strCache>
                <c:ptCount val="1"/>
                <c:pt idx="0">
                  <c:v>Customers</c:v>
                </c:pt>
              </c:strCache>
            </c:strRef>
          </c:tx>
          <c:spPr>
            <a:solidFill>
              <a:srgbClr val="1E2761"/>
            </a:solidFill>
            <a:effectLst/>
          </c:spPr>
          <c:invertIfNegative val="0"/>
          <c:dLbls>
            <c:numFmt formatCode="#,##0" sourceLinked="0"/>
            <c:txPr>
              <a:bodyPr/>
              <a:lstStyle/>
              <a:p>
                <a:pPr>
                  <a:defRPr sz="850" b="0" i="0" u="none" strike="noStrike">
                    <a:solidFill>
                      <a:srgbClr val="161C4D"/>
                    </a:solidFill>
                    <a:latin typeface="Calibri"/>
                  </a:defRPr>
                </a:pPr>
                <a:endParaRPr lang="en-US"/>
              </a:p>
            </c:txPr>
            <c:showLegendKey val="0"/>
            <c:showVal val="1"/>
            <c:showCatName val="0"/>
            <c:showSerName val="0"/>
            <c:showPercent val="0"/>
            <c:showBubbleSize val="0"/>
            <c:showLeaderLines val="0"/>
          </c:dLbls>
          <c:cat>
            <c:strRef>
              <c:f>Sheet1!$A$2:$A$6</c:f>
              <c:strCache>
                <c:ptCount val="5"/>
                <c:pt idx="0">
                  <c:v>20-50K</c:v>
                </c:pt>
                <c:pt idx="1">
                  <c:v>50-80K</c:v>
                </c:pt>
                <c:pt idx="2">
                  <c:v>80-110K</c:v>
                </c:pt>
                <c:pt idx="3">
                  <c:v>110-140K</c:v>
                </c:pt>
                <c:pt idx="4">
                  <c:v>140-180K</c:v>
                </c:pt>
              </c:strCache>
            </c:strRef>
          </c:cat>
          <c:val>
            <c:numRef>
              <c:f>Sheet1!$B$2:$B$6</c:f>
              <c:numCache>
                <c:formatCode>General</c:formatCode>
                <c:ptCount val="5"/>
                <c:pt idx="0">
                  <c:v>69</c:v>
                </c:pt>
                <c:pt idx="1">
                  <c:v>51</c:v>
                </c:pt>
                <c:pt idx="2">
                  <c:v>33</c:v>
                </c:pt>
                <c:pt idx="3">
                  <c:v>22</c:v>
                </c:pt>
                <c:pt idx="4">
                  <c:v>25</c:v>
                </c:pt>
              </c:numCache>
            </c:numRef>
          </c:val>
        </c:ser>
        <c:dLbls>
          <c:showLegendKey val="0"/>
          <c:showVal val="1"/>
          <c:showCatName val="0"/>
          <c:showSerName val="0"/>
          <c:showPercent val="0"/>
          <c:showBubbleSize val="0"/>
        </c:dLbls>
        <c:gapWidth val="150"/>
        <c:axId val="169634048"/>
        <c:axId val="169644032"/>
      </c:barChart>
      <c:catAx>
        <c:axId val="16963404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Calibri"/>
              </a:defRPr>
            </a:pPr>
            <a:endParaRPr lang="en-US"/>
          </a:p>
        </c:txPr>
        <c:crossAx val="169644032"/>
        <c:crosses val="autoZero"/>
        <c:auto val="1"/>
        <c:lblAlgn val="ctr"/>
        <c:lblOffset val="100"/>
        <c:noMultiLvlLbl val="1"/>
      </c:catAx>
      <c:valAx>
        <c:axId val="169644032"/>
        <c:scaling>
          <c:orientation val="minMax"/>
        </c:scaling>
        <c:delete val="1"/>
        <c:axPos val="l"/>
        <c:numFmt formatCode="General" sourceLinked="0"/>
        <c:majorTickMark val="out"/>
        <c:minorTickMark val="none"/>
        <c:tickLblPos val="nextTo"/>
        <c:crossAx val="169634048"/>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barChart>
        <c:barDir val="col"/>
        <c:grouping val="clustered"/>
        <c:varyColors val="0"/>
        <c:ser>
          <c:idx val="0"/>
          <c:order val="0"/>
          <c:tx>
            <c:strRef>
              <c:f>Sheet1!$B$1</c:f>
              <c:strCache>
                <c:ptCount val="1"/>
                <c:pt idx="0">
                  <c:v>Customers</c:v>
                </c:pt>
              </c:strCache>
            </c:strRef>
          </c:tx>
          <c:spPr>
            <a:solidFill>
              <a:srgbClr val="D4A017"/>
            </a:solidFill>
            <a:effectLst/>
          </c:spPr>
          <c:invertIfNegative val="0"/>
          <c:dLbls>
            <c:numFmt formatCode="#,##0" sourceLinked="0"/>
            <c:txPr>
              <a:bodyPr/>
              <a:lstStyle/>
              <a:p>
                <a:pPr>
                  <a:defRPr sz="850" b="0" i="0" u="none" strike="noStrike">
                    <a:solidFill>
                      <a:srgbClr val="161C4D"/>
                    </a:solidFill>
                    <a:latin typeface="Calibri"/>
                  </a:defRPr>
                </a:pPr>
                <a:endParaRPr lang="en-US"/>
              </a:p>
            </c:txPr>
            <c:showLegendKey val="0"/>
            <c:showVal val="1"/>
            <c:showCatName val="0"/>
            <c:showSerName val="0"/>
            <c:showPercent val="0"/>
            <c:showBubbleSize val="0"/>
            <c:showLeaderLines val="0"/>
          </c:dLbls>
          <c:cat>
            <c:strRef>
              <c:f>Sheet1!$A$2:$A$6</c:f>
              <c:strCache>
                <c:ptCount val="5"/>
                <c:pt idx="0">
                  <c:v>0-20</c:v>
                </c:pt>
                <c:pt idx="1">
                  <c:v>20-40</c:v>
                </c:pt>
                <c:pt idx="2">
                  <c:v>40-60</c:v>
                </c:pt>
                <c:pt idx="3">
                  <c:v>60-80</c:v>
                </c:pt>
                <c:pt idx="4">
                  <c:v>80-100</c:v>
                </c:pt>
              </c:strCache>
            </c:strRef>
          </c:cat>
          <c:val>
            <c:numRef>
              <c:f>Sheet1!$B$2:$B$6</c:f>
              <c:numCache>
                <c:formatCode>General</c:formatCode>
                <c:ptCount val="5"/>
                <c:pt idx="0">
                  <c:v>17</c:v>
                </c:pt>
                <c:pt idx="1">
                  <c:v>35</c:v>
                </c:pt>
                <c:pt idx="2">
                  <c:v>51</c:v>
                </c:pt>
                <c:pt idx="3">
                  <c:v>50</c:v>
                </c:pt>
                <c:pt idx="4">
                  <c:v>47</c:v>
                </c:pt>
              </c:numCache>
            </c:numRef>
          </c:val>
        </c:ser>
        <c:dLbls>
          <c:showLegendKey val="0"/>
          <c:showVal val="1"/>
          <c:showCatName val="0"/>
          <c:showSerName val="0"/>
          <c:showPercent val="0"/>
          <c:showBubbleSize val="0"/>
        </c:dLbls>
        <c:gapWidth val="150"/>
        <c:axId val="171667840"/>
        <c:axId val="171669376"/>
      </c:barChart>
      <c:catAx>
        <c:axId val="17166784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Calibri"/>
              </a:defRPr>
            </a:pPr>
            <a:endParaRPr lang="en-US"/>
          </a:p>
        </c:txPr>
        <c:crossAx val="171669376"/>
        <c:crosses val="autoZero"/>
        <c:auto val="1"/>
        <c:lblAlgn val="ctr"/>
        <c:lblOffset val="100"/>
        <c:noMultiLvlLbl val="1"/>
      </c:catAx>
      <c:valAx>
        <c:axId val="171669376"/>
        <c:scaling>
          <c:orientation val="minMax"/>
        </c:scaling>
        <c:delete val="1"/>
        <c:axPos val="l"/>
        <c:numFmt formatCode="General" sourceLinked="0"/>
        <c:majorTickMark val="out"/>
        <c:minorTickMark val="none"/>
        <c:tickLblPos val="nextTo"/>
        <c:crossAx val="171667840"/>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barChart>
        <c:barDir val="col"/>
        <c:grouping val="clustered"/>
        <c:varyColors val="0"/>
        <c:ser>
          <c:idx val="0"/>
          <c:order val="0"/>
          <c:tx>
            <c:strRef>
              <c:f>Sheet1!$B$1</c:f>
              <c:strCache>
                <c:ptCount val="1"/>
                <c:pt idx="0">
                  <c:v>Avg Purchases</c:v>
                </c:pt>
              </c:strCache>
            </c:strRef>
          </c:tx>
          <c:spPr>
            <a:solidFill>
              <a:srgbClr val="8FA6D6"/>
            </a:solidFill>
            <a:effectLst/>
          </c:spPr>
          <c:invertIfNegative val="0"/>
          <c:dPt>
            <c:idx val="0"/>
            <c:invertIfNegative val="0"/>
            <c:bubble3D val="0"/>
          </c:dPt>
          <c:dPt>
            <c:idx val="1"/>
            <c:invertIfNegative val="0"/>
            <c:bubble3D val="0"/>
            <c:spPr>
              <a:solidFill>
                <a:srgbClr val="4A62A8"/>
              </a:solidFill>
              <a:effectLst/>
            </c:spPr>
          </c:dPt>
          <c:dPt>
            <c:idx val="2"/>
            <c:invertIfNegative val="0"/>
            <c:bubble3D val="0"/>
            <c:spPr>
              <a:solidFill>
                <a:srgbClr val="2A3A82"/>
              </a:solidFill>
              <a:effectLst/>
            </c:spPr>
          </c:dPt>
          <c:dPt>
            <c:idx val="3"/>
            <c:invertIfNegative val="0"/>
            <c:bubble3D val="0"/>
            <c:spPr>
              <a:solidFill>
                <a:srgbClr val="D4A017"/>
              </a:solidFill>
              <a:effectLst/>
            </c:spPr>
          </c:dPt>
          <c:dLbls>
            <c:numFmt formatCode="#,##0" sourceLinked="0"/>
            <c:txPr>
              <a:bodyPr/>
              <a:lstStyle/>
              <a:p>
                <a:pPr>
                  <a:defRPr sz="850" b="0" i="0" u="none" strike="noStrike">
                    <a:solidFill>
                      <a:srgbClr val="161C4D"/>
                    </a:solidFill>
                    <a:latin typeface="Calibri"/>
                  </a:defRPr>
                </a:pPr>
                <a:endParaRPr lang="en-US"/>
              </a:p>
            </c:txPr>
            <c:showLegendKey val="0"/>
            <c:showVal val="1"/>
            <c:showCatName val="0"/>
            <c:showSerName val="0"/>
            <c:showPercent val="0"/>
            <c:showBubbleSize val="0"/>
            <c:showLeaderLines val="0"/>
          </c:dLbls>
          <c:cat>
            <c:strRef>
              <c:f>Sheet1!$A$2:$A$5</c:f>
              <c:strCache>
                <c:ptCount val="4"/>
                <c:pt idx="0">
                  <c:v>Budget</c:v>
                </c:pt>
                <c:pt idx="1">
                  <c:v>Regular</c:v>
                </c:pt>
                <c:pt idx="2">
                  <c:v>Premium</c:v>
                </c:pt>
                <c:pt idx="3">
                  <c:v>VIP</c:v>
                </c:pt>
              </c:strCache>
            </c:strRef>
          </c:cat>
          <c:val>
            <c:numRef>
              <c:f>Sheet1!$B$2:$B$5</c:f>
              <c:numCache>
                <c:formatCode>General</c:formatCode>
                <c:ptCount val="4"/>
                <c:pt idx="0">
                  <c:v>5.8</c:v>
                </c:pt>
                <c:pt idx="1">
                  <c:v>14.5</c:v>
                </c:pt>
                <c:pt idx="2">
                  <c:v>24.1</c:v>
                </c:pt>
                <c:pt idx="3">
                  <c:v>39.5</c:v>
                </c:pt>
              </c:numCache>
            </c:numRef>
          </c:val>
        </c:ser>
        <c:dLbls>
          <c:showLegendKey val="0"/>
          <c:showVal val="1"/>
          <c:showCatName val="0"/>
          <c:showSerName val="0"/>
          <c:showPercent val="0"/>
          <c:showBubbleSize val="0"/>
        </c:dLbls>
        <c:gapWidth val="150"/>
        <c:axId val="175844352"/>
        <c:axId val="175846144"/>
      </c:barChart>
      <c:catAx>
        <c:axId val="17584435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6B7280"/>
                </a:solidFill>
                <a:latin typeface="Calibri"/>
              </a:defRPr>
            </a:pPr>
            <a:endParaRPr lang="en-US"/>
          </a:p>
        </c:txPr>
        <c:crossAx val="175846144"/>
        <c:crosses val="autoZero"/>
        <c:auto val="1"/>
        <c:lblAlgn val="ctr"/>
        <c:lblOffset val="100"/>
        <c:noMultiLvlLbl val="1"/>
      </c:catAx>
      <c:valAx>
        <c:axId val="175846144"/>
        <c:scaling>
          <c:orientation val="minMax"/>
        </c:scaling>
        <c:delete val="1"/>
        <c:axPos val="l"/>
        <c:numFmt formatCode="General" sourceLinked="0"/>
        <c:majorTickMark val="out"/>
        <c:minorTickMark val="none"/>
        <c:tickLblPos val="nextTo"/>
        <c:crossAx val="175844352"/>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scatterChart>
        <c:scatterStyle val="lineMarker"/>
        <c:varyColors val="0"/>
        <c:ser>
          <c:idx val="0"/>
          <c:order val="0"/>
          <c:tx>
            <c:strRef>
              <c:f>Sheet1!$B$1</c:f>
              <c:strCache>
                <c:ptCount val="1"/>
                <c:pt idx="0">
                  <c:v>Budget</c:v>
                </c:pt>
              </c:strCache>
            </c:strRef>
          </c:tx>
          <c:spPr>
            <a:ln>
              <a:noFill/>
            </a:ln>
            <a:effectLst/>
          </c:spPr>
          <c:marker>
            <c:symbol val="circle"/>
            <c:size val="7"/>
            <c:spPr>
              <a:solidFill>
                <a:srgbClr val="8FA6D6"/>
              </a:solidFill>
              <a:ln w="9525" cap="flat">
                <a:solidFill>
                  <a:srgbClr val="8FA6D6"/>
                </a:solidFill>
                <a:prstDash val="solid"/>
                <a:round/>
              </a:ln>
              <a:effectLst/>
            </c:spPr>
          </c:marker>
          <c:xVal>
            <c:numRef>
              <c:f>Sheet1!$A$2:$A$201</c:f>
              <c:numCache>
                <c:formatCode>General</c:formatCode>
                <c:ptCount val="200"/>
                <c:pt idx="0">
                  <c:v>24943</c:v>
                </c:pt>
                <c:pt idx="1">
                  <c:v>22373</c:v>
                </c:pt>
                <c:pt idx="2">
                  <c:v>39096</c:v>
                </c:pt>
                <c:pt idx="3">
                  <c:v>27035</c:v>
                </c:pt>
                <c:pt idx="4">
                  <c:v>33702</c:v>
                </c:pt>
                <c:pt idx="5">
                  <c:v>38056</c:v>
                </c:pt>
                <c:pt idx="6">
                  <c:v>27315</c:v>
                </c:pt>
                <c:pt idx="7">
                  <c:v>38910</c:v>
                </c:pt>
                <c:pt idx="8">
                  <c:v>27244</c:v>
                </c:pt>
                <c:pt idx="9">
                  <c:v>29489</c:v>
                </c:pt>
                <c:pt idx="10">
                  <c:v>23859</c:v>
                </c:pt>
                <c:pt idx="11">
                  <c:v>46742</c:v>
                </c:pt>
                <c:pt idx="12">
                  <c:v>32202</c:v>
                </c:pt>
                <c:pt idx="13">
                  <c:v>38493</c:v>
                </c:pt>
                <c:pt idx="14">
                  <c:v>36266</c:v>
                </c:pt>
                <c:pt idx="15">
                  <c:v>35256</c:v>
                </c:pt>
                <c:pt idx="16">
                  <c:v>31848</c:v>
                </c:pt>
                <c:pt idx="17">
                  <c:v>42904</c:v>
                </c:pt>
                <c:pt idx="18">
                  <c:v>37209</c:v>
                </c:pt>
                <c:pt idx="19">
                  <c:v>43902</c:v>
                </c:pt>
                <c:pt idx="20">
                  <c:v>23868</c:v>
                </c:pt>
                <c:pt idx="21">
                  <c:v>44809</c:v>
                </c:pt>
                <c:pt idx="22">
                  <c:v>33818</c:v>
                </c:pt>
                <c:pt idx="23">
                  <c:v>45053</c:v>
                </c:pt>
                <c:pt idx="24">
                  <c:v>31145</c:v>
                </c:pt>
                <c:pt idx="25">
                  <c:v>39002</c:v>
                </c:pt>
                <c:pt idx="26">
                  <c:v>28845</c:v>
                </c:pt>
                <c:pt idx="27">
                  <c:v>21988</c:v>
                </c:pt>
                <c:pt idx="28">
                  <c:v>29325</c:v>
                </c:pt>
                <c:pt idx="29">
                  <c:v>20739</c:v>
                </c:pt>
                <c:pt idx="30">
                  <c:v>40018</c:v>
                </c:pt>
                <c:pt idx="31">
                  <c:v>27150</c:v>
                </c:pt>
                <c:pt idx="32">
                  <c:v>33038</c:v>
                </c:pt>
                <c:pt idx="33">
                  <c:v>22640</c:v>
                </c:pt>
                <c:pt idx="34">
                  <c:v>38004</c:v>
                </c:pt>
                <c:pt idx="35">
                  <c:v>46846</c:v>
                </c:pt>
                <c:pt idx="36">
                  <c:v>29123</c:v>
                </c:pt>
                <c:pt idx="37">
                  <c:v>27561</c:v>
                </c:pt>
                <c:pt idx="38">
                  <c:v>24957</c:v>
                </c:pt>
                <c:pt idx="39">
                  <c:v>20395</c:v>
                </c:pt>
                <c:pt idx="40">
                  <c:v>28609</c:v>
                </c:pt>
                <c:pt idx="41">
                  <c:v>33728</c:v>
                </c:pt>
                <c:pt idx="42">
                  <c:v>24112</c:v>
                </c:pt>
                <c:pt idx="43">
                  <c:v>34963</c:v>
                </c:pt>
                <c:pt idx="44">
                  <c:v>33073</c:v>
                </c:pt>
                <c:pt idx="45">
                  <c:v>40784</c:v>
                </c:pt>
                <c:pt idx="46">
                  <c:v>22206</c:v>
                </c:pt>
                <c:pt idx="47">
                  <c:v>23602</c:v>
                </c:pt>
                <c:pt idx="48">
                  <c:v>23354</c:v>
                </c:pt>
                <c:pt idx="49">
                  <c:v>37583</c:v>
                </c:pt>
                <c:pt idx="50">
                  <c:v>41671</c:v>
                </c:pt>
                <c:pt idx="51">
                  <c:v>64656</c:v>
                </c:pt>
                <c:pt idx="52">
                  <c:v>62766</c:v>
                </c:pt>
                <c:pt idx="53">
                  <c:v>48050</c:v>
                </c:pt>
                <c:pt idx="54">
                  <c:v>71483</c:v>
                </c:pt>
                <c:pt idx="55">
                  <c:v>49444</c:v>
                </c:pt>
                <c:pt idx="56">
                  <c:v>57351</c:v>
                </c:pt>
                <c:pt idx="57">
                  <c:v>41513</c:v>
                </c:pt>
                <c:pt idx="58">
                  <c:v>49607</c:v>
                </c:pt>
                <c:pt idx="59">
                  <c:v>74610</c:v>
                </c:pt>
                <c:pt idx="60">
                  <c:v>57112</c:v>
                </c:pt>
                <c:pt idx="61">
                  <c:v>63310</c:v>
                </c:pt>
                <c:pt idx="62">
                  <c:v>75492</c:v>
                </c:pt>
                <c:pt idx="63">
                  <c:v>54617</c:v>
                </c:pt>
                <c:pt idx="64">
                  <c:v>55688</c:v>
                </c:pt>
                <c:pt idx="65">
                  <c:v>73923</c:v>
                </c:pt>
                <c:pt idx="66">
                  <c:v>41899</c:v>
                </c:pt>
                <c:pt idx="67">
                  <c:v>56985</c:v>
                </c:pt>
                <c:pt idx="68">
                  <c:v>69309</c:v>
                </c:pt>
                <c:pt idx="69">
                  <c:v>45278</c:v>
                </c:pt>
                <c:pt idx="70">
                  <c:v>70807</c:v>
                </c:pt>
                <c:pt idx="71">
                  <c:v>71631</c:v>
                </c:pt>
                <c:pt idx="72">
                  <c:v>71422</c:v>
                </c:pt>
                <c:pt idx="73">
                  <c:v>45556</c:v>
                </c:pt>
                <c:pt idx="74">
                  <c:v>53062</c:v>
                </c:pt>
                <c:pt idx="75">
                  <c:v>61791</c:v>
                </c:pt>
                <c:pt idx="76">
                  <c:v>66305</c:v>
                </c:pt>
                <c:pt idx="77">
                  <c:v>50410</c:v>
                </c:pt>
                <c:pt idx="78">
                  <c:v>49905</c:v>
                </c:pt>
                <c:pt idx="79">
                  <c:v>49579</c:v>
                </c:pt>
                <c:pt idx="80">
                  <c:v>62964</c:v>
                </c:pt>
                <c:pt idx="81">
                  <c:v>48584</c:v>
                </c:pt>
                <c:pt idx="82">
                  <c:v>46735</c:v>
                </c:pt>
                <c:pt idx="83">
                  <c:v>52766</c:v>
                </c:pt>
                <c:pt idx="84">
                  <c:v>53944</c:v>
                </c:pt>
                <c:pt idx="85">
                  <c:v>78432</c:v>
                </c:pt>
                <c:pt idx="86">
                  <c:v>67460</c:v>
                </c:pt>
                <c:pt idx="87">
                  <c:v>63185</c:v>
                </c:pt>
                <c:pt idx="88">
                  <c:v>67566</c:v>
                </c:pt>
                <c:pt idx="89">
                  <c:v>49950</c:v>
                </c:pt>
                <c:pt idx="90">
                  <c:v>68844</c:v>
                </c:pt>
                <c:pt idx="91">
                  <c:v>40257</c:v>
                </c:pt>
                <c:pt idx="92">
                  <c:v>49277</c:v>
                </c:pt>
                <c:pt idx="93">
                  <c:v>47886</c:v>
                </c:pt>
                <c:pt idx="94">
                  <c:v>73970</c:v>
                </c:pt>
                <c:pt idx="95">
                  <c:v>46953</c:v>
                </c:pt>
                <c:pt idx="96">
                  <c:v>52537</c:v>
                </c:pt>
                <c:pt idx="97">
                  <c:v>46405</c:v>
                </c:pt>
                <c:pt idx="98">
                  <c:v>41826</c:v>
                </c:pt>
                <c:pt idx="99">
                  <c:v>61339</c:v>
                </c:pt>
                <c:pt idx="100">
                  <c:v>103565</c:v>
                </c:pt>
                <c:pt idx="101">
                  <c:v>103302</c:v>
                </c:pt>
                <c:pt idx="102">
                  <c:v>86230</c:v>
                </c:pt>
                <c:pt idx="103">
                  <c:v>106668</c:v>
                </c:pt>
                <c:pt idx="104">
                  <c:v>97304</c:v>
                </c:pt>
                <c:pt idx="105">
                  <c:v>90708</c:v>
                </c:pt>
                <c:pt idx="106">
                  <c:v>74792</c:v>
                </c:pt>
                <c:pt idx="107">
                  <c:v>78018</c:v>
                </c:pt>
                <c:pt idx="108">
                  <c:v>93998</c:v>
                </c:pt>
                <c:pt idx="109">
                  <c:v>78995</c:v>
                </c:pt>
                <c:pt idx="110">
                  <c:v>76168</c:v>
                </c:pt>
                <c:pt idx="111">
                  <c:v>113767</c:v>
                </c:pt>
                <c:pt idx="112">
                  <c:v>98280</c:v>
                </c:pt>
                <c:pt idx="113">
                  <c:v>97608</c:v>
                </c:pt>
                <c:pt idx="114">
                  <c:v>76042</c:v>
                </c:pt>
                <c:pt idx="115">
                  <c:v>106310</c:v>
                </c:pt>
                <c:pt idx="116">
                  <c:v>71185</c:v>
                </c:pt>
                <c:pt idx="117">
                  <c:v>110889</c:v>
                </c:pt>
                <c:pt idx="118">
                  <c:v>74213</c:v>
                </c:pt>
                <c:pt idx="119">
                  <c:v>76866</c:v>
                </c:pt>
                <c:pt idx="120">
                  <c:v>72594</c:v>
                </c:pt>
                <c:pt idx="121">
                  <c:v>78490</c:v>
                </c:pt>
                <c:pt idx="122">
                  <c:v>79788</c:v>
                </c:pt>
                <c:pt idx="123">
                  <c:v>102414</c:v>
                </c:pt>
                <c:pt idx="124">
                  <c:v>73770</c:v>
                </c:pt>
                <c:pt idx="125">
                  <c:v>74745</c:v>
                </c:pt>
                <c:pt idx="126">
                  <c:v>75804</c:v>
                </c:pt>
                <c:pt idx="127">
                  <c:v>84575</c:v>
                </c:pt>
                <c:pt idx="128">
                  <c:v>77974</c:v>
                </c:pt>
                <c:pt idx="129">
                  <c:v>106245</c:v>
                </c:pt>
                <c:pt idx="130">
                  <c:v>78468</c:v>
                </c:pt>
                <c:pt idx="131">
                  <c:v>85626</c:v>
                </c:pt>
                <c:pt idx="132">
                  <c:v>73301</c:v>
                </c:pt>
                <c:pt idx="133">
                  <c:v>90446</c:v>
                </c:pt>
                <c:pt idx="134">
                  <c:v>119774</c:v>
                </c:pt>
                <c:pt idx="135">
                  <c:v>102773</c:v>
                </c:pt>
                <c:pt idx="136">
                  <c:v>71190</c:v>
                </c:pt>
                <c:pt idx="137">
                  <c:v>71208</c:v>
                </c:pt>
                <c:pt idx="138">
                  <c:v>103700</c:v>
                </c:pt>
                <c:pt idx="139">
                  <c:v>99298</c:v>
                </c:pt>
                <c:pt idx="140">
                  <c:v>113025</c:v>
                </c:pt>
                <c:pt idx="141">
                  <c:v>95761</c:v>
                </c:pt>
                <c:pt idx="142">
                  <c:v>84102</c:v>
                </c:pt>
                <c:pt idx="143">
                  <c:v>116315</c:v>
                </c:pt>
                <c:pt idx="144">
                  <c:v>92777</c:v>
                </c:pt>
                <c:pt idx="145">
                  <c:v>74634</c:v>
                </c:pt>
                <c:pt idx="146">
                  <c:v>80698</c:v>
                </c:pt>
                <c:pt idx="147">
                  <c:v>94961</c:v>
                </c:pt>
                <c:pt idx="148">
                  <c:v>85873</c:v>
                </c:pt>
                <c:pt idx="149">
                  <c:v>82147</c:v>
                </c:pt>
                <c:pt idx="150">
                  <c:v>100474</c:v>
                </c:pt>
                <c:pt idx="151">
                  <c:v>143113</c:v>
                </c:pt>
                <c:pt idx="152">
                  <c:v>104515</c:v>
                </c:pt>
                <c:pt idx="153">
                  <c:v>123980</c:v>
                </c:pt>
                <c:pt idx="154">
                  <c:v>110995</c:v>
                </c:pt>
                <c:pt idx="155">
                  <c:v>126342</c:v>
                </c:pt>
                <c:pt idx="156">
                  <c:v>100648</c:v>
                </c:pt>
                <c:pt idx="157">
                  <c:v>111764</c:v>
                </c:pt>
                <c:pt idx="158">
                  <c:v>105461</c:v>
                </c:pt>
                <c:pt idx="159">
                  <c:v>139877</c:v>
                </c:pt>
                <c:pt idx="160">
                  <c:v>176753</c:v>
                </c:pt>
                <c:pt idx="161">
                  <c:v>178192</c:v>
                </c:pt>
                <c:pt idx="162">
                  <c:v>164774</c:v>
                </c:pt>
                <c:pt idx="163">
                  <c:v>118972</c:v>
                </c:pt>
                <c:pt idx="164">
                  <c:v>156261</c:v>
                </c:pt>
                <c:pt idx="165">
                  <c:v>168649</c:v>
                </c:pt>
                <c:pt idx="166">
                  <c:v>102107</c:v>
                </c:pt>
                <c:pt idx="167">
                  <c:v>111153</c:v>
                </c:pt>
                <c:pt idx="168">
                  <c:v>147278</c:v>
                </c:pt>
                <c:pt idx="169">
                  <c:v>159164</c:v>
                </c:pt>
                <c:pt idx="170">
                  <c:v>102469</c:v>
                </c:pt>
                <c:pt idx="171">
                  <c:v>132054</c:v>
                </c:pt>
                <c:pt idx="172">
                  <c:v>159893</c:v>
                </c:pt>
                <c:pt idx="173">
                  <c:v>170149</c:v>
                </c:pt>
                <c:pt idx="174">
                  <c:v>162109</c:v>
                </c:pt>
                <c:pt idx="175">
                  <c:v>134807</c:v>
                </c:pt>
                <c:pt idx="176">
                  <c:v>160337</c:v>
                </c:pt>
                <c:pt idx="177">
                  <c:v>162784</c:v>
                </c:pt>
                <c:pt idx="178">
                  <c:v>125990</c:v>
                </c:pt>
                <c:pt idx="179">
                  <c:v>143486</c:v>
                </c:pt>
                <c:pt idx="180">
                  <c:v>139900</c:v>
                </c:pt>
                <c:pt idx="181">
                  <c:v>101634</c:v>
                </c:pt>
                <c:pt idx="182">
                  <c:v>135228</c:v>
                </c:pt>
                <c:pt idx="183">
                  <c:v>164174</c:v>
                </c:pt>
                <c:pt idx="184">
                  <c:v>160904</c:v>
                </c:pt>
                <c:pt idx="185">
                  <c:v>115532</c:v>
                </c:pt>
                <c:pt idx="186">
                  <c:v>111253</c:v>
                </c:pt>
                <c:pt idx="187">
                  <c:v>160158</c:v>
                </c:pt>
                <c:pt idx="188">
                  <c:v>158910</c:v>
                </c:pt>
                <c:pt idx="189">
                  <c:v>127618</c:v>
                </c:pt>
                <c:pt idx="190">
                  <c:v>118578</c:v>
                </c:pt>
                <c:pt idx="191">
                  <c:v>147127</c:v>
                </c:pt>
                <c:pt idx="192">
                  <c:v>166682</c:v>
                </c:pt>
                <c:pt idx="193">
                  <c:v>147865</c:v>
                </c:pt>
                <c:pt idx="194">
                  <c:v>163719</c:v>
                </c:pt>
                <c:pt idx="195">
                  <c:v>100470</c:v>
                </c:pt>
                <c:pt idx="196">
                  <c:v>139577</c:v>
                </c:pt>
                <c:pt idx="197">
                  <c:v>149296</c:v>
                </c:pt>
                <c:pt idx="198">
                  <c:v>143427</c:v>
                </c:pt>
                <c:pt idx="199">
                  <c:v>144338</c:v>
                </c:pt>
              </c:numCache>
            </c:numRef>
          </c:xVal>
          <c:yVal>
            <c:numRef>
              <c:f>Sheet1!$B$2:$B$201</c:f>
              <c:numCache>
                <c:formatCode>General</c:formatCode>
                <c:ptCount val="200"/>
                <c:pt idx="0">
                  <c:v>30</c:v>
                </c:pt>
                <c:pt idx="1">
                  <c:v>13</c:v>
                </c:pt>
                <c:pt idx="2">
                  <c:v>39</c:v>
                </c:pt>
                <c:pt idx="3">
                  <c:v>12</c:v>
                </c:pt>
                <c:pt idx="4">
                  <c:v>17</c:v>
                </c:pt>
                <c:pt idx="5">
                  <c:v>11</c:v>
                </c:pt>
                <c:pt idx="6">
                  <c:v>40</c:v>
                </c:pt>
                <c:pt idx="7">
                  <c:v>22</c:v>
                </c:pt>
                <c:pt idx="8">
                  <c:v>27</c:v>
                </c:pt>
                <c:pt idx="9">
                  <c:v>14</c:v>
                </c:pt>
                <c:pt idx="10">
                  <c:v>19</c:v>
                </c:pt>
                <c:pt idx="11">
                  <c:v>13</c:v>
                </c:pt>
                <c:pt idx="12">
                  <c:v>27</c:v>
                </c:pt>
                <c:pt idx="13">
                  <c:v>29</c:v>
                </c:pt>
                <c:pt idx="14">
                  <c:v>23</c:v>
                </c:pt>
                <c:pt idx="15">
                  <c:v>39</c:v>
                </c:pt>
                <c:pt idx="16">
                  <c:v>17</c:v>
                </c:pt>
                <c:pt idx="17">
                  <c:v>12</c:v>
                </c:pt>
                <c:pt idx="18">
                  <c:v>38</c:v>
                </c:pt>
                <c:pt idx="19">
                  <c:v>19</c:v>
                </c:pt>
                <c:pt idx="20">
                  <c:v>23</c:v>
                </c:pt>
                <c:pt idx="21">
                  <c:v>14</c:v>
                </c:pt>
                <c:pt idx="22">
                  <c:v>40</c:v>
                </c:pt>
                <c:pt idx="23">
                  <c:v>28</c:v>
                </c:pt>
                <c:pt idx="24">
                  <c:v>29</c:v>
                </c:pt>
                <c:pt idx="25">
                  <c:v>12</c:v>
                </c:pt>
                <c:pt idx="26">
                  <c:v>32</c:v>
                </c:pt>
                <c:pt idx="27">
                  <c:v>30</c:v>
                </c:pt>
                <c:pt idx="28">
                  <c:v>38</c:v>
                </c:pt>
                <c:pt idx="29">
                  <c:v>21</c:v>
                </c:pt>
                <c:pt idx="30">
                  <c:v>25</c:v>
                </c:pt>
                <c:pt idx="31">
                  <c:v>14</c:v>
                </c:pt>
                <c:pt idx="32">
                  <c:v>39</c:v>
                </c:pt>
                <c:pt idx="33">
                  <c:v>24</c:v>
                </c:pt>
                <c:pt idx="34">
                  <c:v>38</c:v>
                </c:pt>
                <c:pt idx="35">
                  <c:v>37</c:v>
                </c:pt>
                <c:pt idx="36">
                  <c:v>21</c:v>
                </c:pt>
                <c:pt idx="37">
                  <c:v>12</c:v>
                </c:pt>
                <c:pt idx="38">
                  <c:v>31</c:v>
                </c:pt>
                <c:pt idx="39">
                  <c:v>36</c:v>
                </c:pt>
                <c:pt idx="40">
                  <c:v>10</c:v>
                </c:pt>
                <c:pt idx="41">
                  <c:v>21</c:v>
                </c:pt>
                <c:pt idx="42">
                  <c:v>40</c:v>
                </c:pt>
                <c:pt idx="43">
                  <c:v>22</c:v>
                </c:pt>
                <c:pt idx="44">
                  <c:v>13</c:v>
                </c:pt>
                <c:pt idx="45">
                  <c:v>11</c:v>
                </c:pt>
                <c:pt idx="46">
                  <c:v>24</c:v>
                </c:pt>
                <c:pt idx="47">
                  <c:v>29</c:v>
                </c:pt>
                <c:pt idx="48">
                  <c:v>28</c:v>
                </c:pt>
                <c:pt idx="49">
                  <c:v>40</c:v>
                </c:pt>
              </c:numCache>
            </c:numRef>
          </c:yVal>
          <c:smooth val="0"/>
        </c:ser>
        <c:ser>
          <c:idx val="1"/>
          <c:order val="1"/>
          <c:tx>
            <c:strRef>
              <c:f>Sheet1!$C$1</c:f>
              <c:strCache>
                <c:ptCount val="1"/>
                <c:pt idx="0">
                  <c:v>Regular</c:v>
                </c:pt>
              </c:strCache>
            </c:strRef>
          </c:tx>
          <c:spPr>
            <a:ln>
              <a:noFill/>
            </a:ln>
            <a:effectLst/>
          </c:spPr>
          <c:marker>
            <c:symbol val="circle"/>
            <c:size val="7"/>
            <c:spPr>
              <a:solidFill>
                <a:srgbClr val="4A62A8"/>
              </a:solidFill>
              <a:ln w="9525" cap="flat">
                <a:solidFill>
                  <a:srgbClr val="4A62A8"/>
                </a:solidFill>
                <a:prstDash val="solid"/>
                <a:round/>
              </a:ln>
              <a:effectLst/>
            </c:spPr>
          </c:marker>
          <c:xVal>
            <c:numRef>
              <c:f>Sheet1!$A$2:$A$201</c:f>
              <c:numCache>
                <c:formatCode>General</c:formatCode>
                <c:ptCount val="200"/>
                <c:pt idx="0">
                  <c:v>24943</c:v>
                </c:pt>
                <c:pt idx="1">
                  <c:v>22373</c:v>
                </c:pt>
                <c:pt idx="2">
                  <c:v>39096</c:v>
                </c:pt>
                <c:pt idx="3">
                  <c:v>27035</c:v>
                </c:pt>
                <c:pt idx="4">
                  <c:v>33702</c:v>
                </c:pt>
                <c:pt idx="5">
                  <c:v>38056</c:v>
                </c:pt>
                <c:pt idx="6">
                  <c:v>27315</c:v>
                </c:pt>
                <c:pt idx="7">
                  <c:v>38910</c:v>
                </c:pt>
                <c:pt idx="8">
                  <c:v>27244</c:v>
                </c:pt>
                <c:pt idx="9">
                  <c:v>29489</c:v>
                </c:pt>
                <c:pt idx="10">
                  <c:v>23859</c:v>
                </c:pt>
                <c:pt idx="11">
                  <c:v>46742</c:v>
                </c:pt>
                <c:pt idx="12">
                  <c:v>32202</c:v>
                </c:pt>
                <c:pt idx="13">
                  <c:v>38493</c:v>
                </c:pt>
                <c:pt idx="14">
                  <c:v>36266</c:v>
                </c:pt>
                <c:pt idx="15">
                  <c:v>35256</c:v>
                </c:pt>
                <c:pt idx="16">
                  <c:v>31848</c:v>
                </c:pt>
                <c:pt idx="17">
                  <c:v>42904</c:v>
                </c:pt>
                <c:pt idx="18">
                  <c:v>37209</c:v>
                </c:pt>
                <c:pt idx="19">
                  <c:v>43902</c:v>
                </c:pt>
                <c:pt idx="20">
                  <c:v>23868</c:v>
                </c:pt>
                <c:pt idx="21">
                  <c:v>44809</c:v>
                </c:pt>
                <c:pt idx="22">
                  <c:v>33818</c:v>
                </c:pt>
                <c:pt idx="23">
                  <c:v>45053</c:v>
                </c:pt>
                <c:pt idx="24">
                  <c:v>31145</c:v>
                </c:pt>
                <c:pt idx="25">
                  <c:v>39002</c:v>
                </c:pt>
                <c:pt idx="26">
                  <c:v>28845</c:v>
                </c:pt>
                <c:pt idx="27">
                  <c:v>21988</c:v>
                </c:pt>
                <c:pt idx="28">
                  <c:v>29325</c:v>
                </c:pt>
                <c:pt idx="29">
                  <c:v>20739</c:v>
                </c:pt>
                <c:pt idx="30">
                  <c:v>40018</c:v>
                </c:pt>
                <c:pt idx="31">
                  <c:v>27150</c:v>
                </c:pt>
                <c:pt idx="32">
                  <c:v>33038</c:v>
                </c:pt>
                <c:pt idx="33">
                  <c:v>22640</c:v>
                </c:pt>
                <c:pt idx="34">
                  <c:v>38004</c:v>
                </c:pt>
                <c:pt idx="35">
                  <c:v>46846</c:v>
                </c:pt>
                <c:pt idx="36">
                  <c:v>29123</c:v>
                </c:pt>
                <c:pt idx="37">
                  <c:v>27561</c:v>
                </c:pt>
                <c:pt idx="38">
                  <c:v>24957</c:v>
                </c:pt>
                <c:pt idx="39">
                  <c:v>20395</c:v>
                </c:pt>
                <c:pt idx="40">
                  <c:v>28609</c:v>
                </c:pt>
                <c:pt idx="41">
                  <c:v>33728</c:v>
                </c:pt>
                <c:pt idx="42">
                  <c:v>24112</c:v>
                </c:pt>
                <c:pt idx="43">
                  <c:v>34963</c:v>
                </c:pt>
                <c:pt idx="44">
                  <c:v>33073</c:v>
                </c:pt>
                <c:pt idx="45">
                  <c:v>40784</c:v>
                </c:pt>
                <c:pt idx="46">
                  <c:v>22206</c:v>
                </c:pt>
                <c:pt idx="47">
                  <c:v>23602</c:v>
                </c:pt>
                <c:pt idx="48">
                  <c:v>23354</c:v>
                </c:pt>
                <c:pt idx="49">
                  <c:v>37583</c:v>
                </c:pt>
                <c:pt idx="50">
                  <c:v>41671</c:v>
                </c:pt>
                <c:pt idx="51">
                  <c:v>64656</c:v>
                </c:pt>
                <c:pt idx="52">
                  <c:v>62766</c:v>
                </c:pt>
                <c:pt idx="53">
                  <c:v>48050</c:v>
                </c:pt>
                <c:pt idx="54">
                  <c:v>71483</c:v>
                </c:pt>
                <c:pt idx="55">
                  <c:v>49444</c:v>
                </c:pt>
                <c:pt idx="56">
                  <c:v>57351</c:v>
                </c:pt>
                <c:pt idx="57">
                  <c:v>41513</c:v>
                </c:pt>
                <c:pt idx="58">
                  <c:v>49607</c:v>
                </c:pt>
                <c:pt idx="59">
                  <c:v>74610</c:v>
                </c:pt>
                <c:pt idx="60">
                  <c:v>57112</c:v>
                </c:pt>
                <c:pt idx="61">
                  <c:v>63310</c:v>
                </c:pt>
                <c:pt idx="62">
                  <c:v>75492</c:v>
                </c:pt>
                <c:pt idx="63">
                  <c:v>54617</c:v>
                </c:pt>
                <c:pt idx="64">
                  <c:v>55688</c:v>
                </c:pt>
                <c:pt idx="65">
                  <c:v>73923</c:v>
                </c:pt>
                <c:pt idx="66">
                  <c:v>41899</c:v>
                </c:pt>
                <c:pt idx="67">
                  <c:v>56985</c:v>
                </c:pt>
                <c:pt idx="68">
                  <c:v>69309</c:v>
                </c:pt>
                <c:pt idx="69">
                  <c:v>45278</c:v>
                </c:pt>
                <c:pt idx="70">
                  <c:v>70807</c:v>
                </c:pt>
                <c:pt idx="71">
                  <c:v>71631</c:v>
                </c:pt>
                <c:pt idx="72">
                  <c:v>71422</c:v>
                </c:pt>
                <c:pt idx="73">
                  <c:v>45556</c:v>
                </c:pt>
                <c:pt idx="74">
                  <c:v>53062</c:v>
                </c:pt>
                <c:pt idx="75">
                  <c:v>61791</c:v>
                </c:pt>
                <c:pt idx="76">
                  <c:v>66305</c:v>
                </c:pt>
                <c:pt idx="77">
                  <c:v>50410</c:v>
                </c:pt>
                <c:pt idx="78">
                  <c:v>49905</c:v>
                </c:pt>
                <c:pt idx="79">
                  <c:v>49579</c:v>
                </c:pt>
                <c:pt idx="80">
                  <c:v>62964</c:v>
                </c:pt>
                <c:pt idx="81">
                  <c:v>48584</c:v>
                </c:pt>
                <c:pt idx="82">
                  <c:v>46735</c:v>
                </c:pt>
                <c:pt idx="83">
                  <c:v>52766</c:v>
                </c:pt>
                <c:pt idx="84">
                  <c:v>53944</c:v>
                </c:pt>
                <c:pt idx="85">
                  <c:v>78432</c:v>
                </c:pt>
                <c:pt idx="86">
                  <c:v>67460</c:v>
                </c:pt>
                <c:pt idx="87">
                  <c:v>63185</c:v>
                </c:pt>
                <c:pt idx="88">
                  <c:v>67566</c:v>
                </c:pt>
                <c:pt idx="89">
                  <c:v>49950</c:v>
                </c:pt>
                <c:pt idx="90">
                  <c:v>68844</c:v>
                </c:pt>
                <c:pt idx="91">
                  <c:v>40257</c:v>
                </c:pt>
                <c:pt idx="92">
                  <c:v>49277</c:v>
                </c:pt>
                <c:pt idx="93">
                  <c:v>47886</c:v>
                </c:pt>
                <c:pt idx="94">
                  <c:v>73970</c:v>
                </c:pt>
                <c:pt idx="95">
                  <c:v>46953</c:v>
                </c:pt>
                <c:pt idx="96">
                  <c:v>52537</c:v>
                </c:pt>
                <c:pt idx="97">
                  <c:v>46405</c:v>
                </c:pt>
                <c:pt idx="98">
                  <c:v>41826</c:v>
                </c:pt>
                <c:pt idx="99">
                  <c:v>61339</c:v>
                </c:pt>
                <c:pt idx="100">
                  <c:v>103565</c:v>
                </c:pt>
                <c:pt idx="101">
                  <c:v>103302</c:v>
                </c:pt>
                <c:pt idx="102">
                  <c:v>86230</c:v>
                </c:pt>
                <c:pt idx="103">
                  <c:v>106668</c:v>
                </c:pt>
                <c:pt idx="104">
                  <c:v>97304</c:v>
                </c:pt>
                <c:pt idx="105">
                  <c:v>90708</c:v>
                </c:pt>
                <c:pt idx="106">
                  <c:v>74792</c:v>
                </c:pt>
                <c:pt idx="107">
                  <c:v>78018</c:v>
                </c:pt>
                <c:pt idx="108">
                  <c:v>93998</c:v>
                </c:pt>
                <c:pt idx="109">
                  <c:v>78995</c:v>
                </c:pt>
                <c:pt idx="110">
                  <c:v>76168</c:v>
                </c:pt>
                <c:pt idx="111">
                  <c:v>113767</c:v>
                </c:pt>
                <c:pt idx="112">
                  <c:v>98280</c:v>
                </c:pt>
                <c:pt idx="113">
                  <c:v>97608</c:v>
                </c:pt>
                <c:pt idx="114">
                  <c:v>76042</c:v>
                </c:pt>
                <c:pt idx="115">
                  <c:v>106310</c:v>
                </c:pt>
                <c:pt idx="116">
                  <c:v>71185</c:v>
                </c:pt>
                <c:pt idx="117">
                  <c:v>110889</c:v>
                </c:pt>
                <c:pt idx="118">
                  <c:v>74213</c:v>
                </c:pt>
                <c:pt idx="119">
                  <c:v>76866</c:v>
                </c:pt>
                <c:pt idx="120">
                  <c:v>72594</c:v>
                </c:pt>
                <c:pt idx="121">
                  <c:v>78490</c:v>
                </c:pt>
                <c:pt idx="122">
                  <c:v>79788</c:v>
                </c:pt>
                <c:pt idx="123">
                  <c:v>102414</c:v>
                </c:pt>
                <c:pt idx="124">
                  <c:v>73770</c:v>
                </c:pt>
                <c:pt idx="125">
                  <c:v>74745</c:v>
                </c:pt>
                <c:pt idx="126">
                  <c:v>75804</c:v>
                </c:pt>
                <c:pt idx="127">
                  <c:v>84575</c:v>
                </c:pt>
                <c:pt idx="128">
                  <c:v>77974</c:v>
                </c:pt>
                <c:pt idx="129">
                  <c:v>106245</c:v>
                </c:pt>
                <c:pt idx="130">
                  <c:v>78468</c:v>
                </c:pt>
                <c:pt idx="131">
                  <c:v>85626</c:v>
                </c:pt>
                <c:pt idx="132">
                  <c:v>73301</c:v>
                </c:pt>
                <c:pt idx="133">
                  <c:v>90446</c:v>
                </c:pt>
                <c:pt idx="134">
                  <c:v>119774</c:v>
                </c:pt>
                <c:pt idx="135">
                  <c:v>102773</c:v>
                </c:pt>
                <c:pt idx="136">
                  <c:v>71190</c:v>
                </c:pt>
                <c:pt idx="137">
                  <c:v>71208</c:v>
                </c:pt>
                <c:pt idx="138">
                  <c:v>103700</c:v>
                </c:pt>
                <c:pt idx="139">
                  <c:v>99298</c:v>
                </c:pt>
                <c:pt idx="140">
                  <c:v>113025</c:v>
                </c:pt>
                <c:pt idx="141">
                  <c:v>95761</c:v>
                </c:pt>
                <c:pt idx="142">
                  <c:v>84102</c:v>
                </c:pt>
                <c:pt idx="143">
                  <c:v>116315</c:v>
                </c:pt>
                <c:pt idx="144">
                  <c:v>92777</c:v>
                </c:pt>
                <c:pt idx="145">
                  <c:v>74634</c:v>
                </c:pt>
                <c:pt idx="146">
                  <c:v>80698</c:v>
                </c:pt>
                <c:pt idx="147">
                  <c:v>94961</c:v>
                </c:pt>
                <c:pt idx="148">
                  <c:v>85873</c:v>
                </c:pt>
                <c:pt idx="149">
                  <c:v>82147</c:v>
                </c:pt>
                <c:pt idx="150">
                  <c:v>100474</c:v>
                </c:pt>
                <c:pt idx="151">
                  <c:v>143113</c:v>
                </c:pt>
                <c:pt idx="152">
                  <c:v>104515</c:v>
                </c:pt>
                <c:pt idx="153">
                  <c:v>123980</c:v>
                </c:pt>
                <c:pt idx="154">
                  <c:v>110995</c:v>
                </c:pt>
                <c:pt idx="155">
                  <c:v>126342</c:v>
                </c:pt>
                <c:pt idx="156">
                  <c:v>100648</c:v>
                </c:pt>
                <c:pt idx="157">
                  <c:v>111764</c:v>
                </c:pt>
                <c:pt idx="158">
                  <c:v>105461</c:v>
                </c:pt>
                <c:pt idx="159">
                  <c:v>139877</c:v>
                </c:pt>
                <c:pt idx="160">
                  <c:v>176753</c:v>
                </c:pt>
                <c:pt idx="161">
                  <c:v>178192</c:v>
                </c:pt>
                <c:pt idx="162">
                  <c:v>164774</c:v>
                </c:pt>
                <c:pt idx="163">
                  <c:v>118972</c:v>
                </c:pt>
                <c:pt idx="164">
                  <c:v>156261</c:v>
                </c:pt>
                <c:pt idx="165">
                  <c:v>168649</c:v>
                </c:pt>
                <c:pt idx="166">
                  <c:v>102107</c:v>
                </c:pt>
                <c:pt idx="167">
                  <c:v>111153</c:v>
                </c:pt>
                <c:pt idx="168">
                  <c:v>147278</c:v>
                </c:pt>
                <c:pt idx="169">
                  <c:v>159164</c:v>
                </c:pt>
                <c:pt idx="170">
                  <c:v>102469</c:v>
                </c:pt>
                <c:pt idx="171">
                  <c:v>132054</c:v>
                </c:pt>
                <c:pt idx="172">
                  <c:v>159893</c:v>
                </c:pt>
                <c:pt idx="173">
                  <c:v>170149</c:v>
                </c:pt>
                <c:pt idx="174">
                  <c:v>162109</c:v>
                </c:pt>
                <c:pt idx="175">
                  <c:v>134807</c:v>
                </c:pt>
                <c:pt idx="176">
                  <c:v>160337</c:v>
                </c:pt>
                <c:pt idx="177">
                  <c:v>162784</c:v>
                </c:pt>
                <c:pt idx="178">
                  <c:v>125990</c:v>
                </c:pt>
                <c:pt idx="179">
                  <c:v>143486</c:v>
                </c:pt>
                <c:pt idx="180">
                  <c:v>139900</c:v>
                </c:pt>
                <c:pt idx="181">
                  <c:v>101634</c:v>
                </c:pt>
                <c:pt idx="182">
                  <c:v>135228</c:v>
                </c:pt>
                <c:pt idx="183">
                  <c:v>164174</c:v>
                </c:pt>
                <c:pt idx="184">
                  <c:v>160904</c:v>
                </c:pt>
                <c:pt idx="185">
                  <c:v>115532</c:v>
                </c:pt>
                <c:pt idx="186">
                  <c:v>111253</c:v>
                </c:pt>
                <c:pt idx="187">
                  <c:v>160158</c:v>
                </c:pt>
                <c:pt idx="188">
                  <c:v>158910</c:v>
                </c:pt>
                <c:pt idx="189">
                  <c:v>127618</c:v>
                </c:pt>
                <c:pt idx="190">
                  <c:v>118578</c:v>
                </c:pt>
                <c:pt idx="191">
                  <c:v>147127</c:v>
                </c:pt>
                <c:pt idx="192">
                  <c:v>166682</c:v>
                </c:pt>
                <c:pt idx="193">
                  <c:v>147865</c:v>
                </c:pt>
                <c:pt idx="194">
                  <c:v>163719</c:v>
                </c:pt>
                <c:pt idx="195">
                  <c:v>100470</c:v>
                </c:pt>
                <c:pt idx="196">
                  <c:v>139577</c:v>
                </c:pt>
                <c:pt idx="197">
                  <c:v>149296</c:v>
                </c:pt>
                <c:pt idx="198">
                  <c:v>143427</c:v>
                </c:pt>
                <c:pt idx="199">
                  <c:v>144338</c:v>
                </c:pt>
              </c:numCache>
            </c:numRef>
          </c:xVal>
          <c:yVal>
            <c:numRef>
              <c:f>Sheet1!$C$2:$C$201</c:f>
              <c:numCache>
                <c:formatCode>General</c:formatCode>
                <c:ptCount val="200"/>
                <c:pt idx="50">
                  <c:v>46</c:v>
                </c:pt>
                <c:pt idx="51">
                  <c:v>60</c:v>
                </c:pt>
                <c:pt idx="52">
                  <c:v>51</c:v>
                </c:pt>
                <c:pt idx="53">
                  <c:v>55</c:v>
                </c:pt>
                <c:pt idx="54">
                  <c:v>49</c:v>
                </c:pt>
                <c:pt idx="55">
                  <c:v>50</c:v>
                </c:pt>
                <c:pt idx="56">
                  <c:v>45</c:v>
                </c:pt>
                <c:pt idx="57">
                  <c:v>56</c:v>
                </c:pt>
                <c:pt idx="58">
                  <c:v>57</c:v>
                </c:pt>
                <c:pt idx="59">
                  <c:v>60</c:v>
                </c:pt>
                <c:pt idx="60">
                  <c:v>51</c:v>
                </c:pt>
                <c:pt idx="61">
                  <c:v>47</c:v>
                </c:pt>
                <c:pt idx="62">
                  <c:v>56</c:v>
                </c:pt>
                <c:pt idx="63">
                  <c:v>46</c:v>
                </c:pt>
                <c:pt idx="64">
                  <c:v>47</c:v>
                </c:pt>
                <c:pt idx="65">
                  <c:v>51</c:v>
                </c:pt>
                <c:pt idx="66">
                  <c:v>48</c:v>
                </c:pt>
                <c:pt idx="67">
                  <c:v>59</c:v>
                </c:pt>
                <c:pt idx="68">
                  <c:v>51</c:v>
                </c:pt>
                <c:pt idx="69">
                  <c:v>43</c:v>
                </c:pt>
                <c:pt idx="70">
                  <c:v>50</c:v>
                </c:pt>
                <c:pt idx="71">
                  <c:v>59</c:v>
                </c:pt>
                <c:pt idx="72">
                  <c:v>51</c:v>
                </c:pt>
                <c:pt idx="73">
                  <c:v>43</c:v>
                </c:pt>
                <c:pt idx="74">
                  <c:v>45</c:v>
                </c:pt>
                <c:pt idx="75">
                  <c:v>52</c:v>
                </c:pt>
                <c:pt idx="76">
                  <c:v>42</c:v>
                </c:pt>
                <c:pt idx="77">
                  <c:v>44</c:v>
                </c:pt>
                <c:pt idx="78">
                  <c:v>54</c:v>
                </c:pt>
                <c:pt idx="79">
                  <c:v>59</c:v>
                </c:pt>
                <c:pt idx="80">
                  <c:v>57</c:v>
                </c:pt>
                <c:pt idx="81">
                  <c:v>40</c:v>
                </c:pt>
                <c:pt idx="82">
                  <c:v>44</c:v>
                </c:pt>
                <c:pt idx="83">
                  <c:v>40</c:v>
                </c:pt>
                <c:pt idx="84">
                  <c:v>56</c:v>
                </c:pt>
                <c:pt idx="85">
                  <c:v>48</c:v>
                </c:pt>
                <c:pt idx="86">
                  <c:v>41</c:v>
                </c:pt>
                <c:pt idx="87">
                  <c:v>58</c:v>
                </c:pt>
                <c:pt idx="88">
                  <c:v>44</c:v>
                </c:pt>
                <c:pt idx="89">
                  <c:v>56</c:v>
                </c:pt>
                <c:pt idx="90">
                  <c:v>45</c:v>
                </c:pt>
                <c:pt idx="91">
                  <c:v>44</c:v>
                </c:pt>
                <c:pt idx="92">
                  <c:v>59</c:v>
                </c:pt>
                <c:pt idx="93">
                  <c:v>41</c:v>
                </c:pt>
                <c:pt idx="94">
                  <c:v>57</c:v>
                </c:pt>
                <c:pt idx="95">
                  <c:v>41</c:v>
                </c:pt>
                <c:pt idx="96">
                  <c:v>41</c:v>
                </c:pt>
                <c:pt idx="97">
                  <c:v>54</c:v>
                </c:pt>
                <c:pt idx="98">
                  <c:v>42</c:v>
                </c:pt>
                <c:pt idx="99">
                  <c:v>56</c:v>
                </c:pt>
              </c:numCache>
            </c:numRef>
          </c:yVal>
          <c:smooth val="0"/>
        </c:ser>
        <c:ser>
          <c:idx val="2"/>
          <c:order val="2"/>
          <c:tx>
            <c:strRef>
              <c:f>Sheet1!$D$1</c:f>
              <c:strCache>
                <c:ptCount val="1"/>
                <c:pt idx="0">
                  <c:v>Premium</c:v>
                </c:pt>
              </c:strCache>
            </c:strRef>
          </c:tx>
          <c:spPr>
            <a:ln>
              <a:noFill/>
            </a:ln>
            <a:effectLst/>
          </c:spPr>
          <c:marker>
            <c:symbol val="circle"/>
            <c:size val="7"/>
            <c:spPr>
              <a:solidFill>
                <a:srgbClr val="2A3A82"/>
              </a:solidFill>
              <a:ln w="9525" cap="flat">
                <a:solidFill>
                  <a:srgbClr val="2A3A82"/>
                </a:solidFill>
                <a:prstDash val="solid"/>
                <a:round/>
              </a:ln>
              <a:effectLst/>
            </c:spPr>
          </c:marker>
          <c:xVal>
            <c:numRef>
              <c:f>Sheet1!$A$2:$A$201</c:f>
              <c:numCache>
                <c:formatCode>General</c:formatCode>
                <c:ptCount val="200"/>
                <c:pt idx="0">
                  <c:v>24943</c:v>
                </c:pt>
                <c:pt idx="1">
                  <c:v>22373</c:v>
                </c:pt>
                <c:pt idx="2">
                  <c:v>39096</c:v>
                </c:pt>
                <c:pt idx="3">
                  <c:v>27035</c:v>
                </c:pt>
                <c:pt idx="4">
                  <c:v>33702</c:v>
                </c:pt>
                <c:pt idx="5">
                  <c:v>38056</c:v>
                </c:pt>
                <c:pt idx="6">
                  <c:v>27315</c:v>
                </c:pt>
                <c:pt idx="7">
                  <c:v>38910</c:v>
                </c:pt>
                <c:pt idx="8">
                  <c:v>27244</c:v>
                </c:pt>
                <c:pt idx="9">
                  <c:v>29489</c:v>
                </c:pt>
                <c:pt idx="10">
                  <c:v>23859</c:v>
                </c:pt>
                <c:pt idx="11">
                  <c:v>46742</c:v>
                </c:pt>
                <c:pt idx="12">
                  <c:v>32202</c:v>
                </c:pt>
                <c:pt idx="13">
                  <c:v>38493</c:v>
                </c:pt>
                <c:pt idx="14">
                  <c:v>36266</c:v>
                </c:pt>
                <c:pt idx="15">
                  <c:v>35256</c:v>
                </c:pt>
                <c:pt idx="16">
                  <c:v>31848</c:v>
                </c:pt>
                <c:pt idx="17">
                  <c:v>42904</c:v>
                </c:pt>
                <c:pt idx="18">
                  <c:v>37209</c:v>
                </c:pt>
                <c:pt idx="19">
                  <c:v>43902</c:v>
                </c:pt>
                <c:pt idx="20">
                  <c:v>23868</c:v>
                </c:pt>
                <c:pt idx="21">
                  <c:v>44809</c:v>
                </c:pt>
                <c:pt idx="22">
                  <c:v>33818</c:v>
                </c:pt>
                <c:pt idx="23">
                  <c:v>45053</c:v>
                </c:pt>
                <c:pt idx="24">
                  <c:v>31145</c:v>
                </c:pt>
                <c:pt idx="25">
                  <c:v>39002</c:v>
                </c:pt>
                <c:pt idx="26">
                  <c:v>28845</c:v>
                </c:pt>
                <c:pt idx="27">
                  <c:v>21988</c:v>
                </c:pt>
                <c:pt idx="28">
                  <c:v>29325</c:v>
                </c:pt>
                <c:pt idx="29">
                  <c:v>20739</c:v>
                </c:pt>
                <c:pt idx="30">
                  <c:v>40018</c:v>
                </c:pt>
                <c:pt idx="31">
                  <c:v>27150</c:v>
                </c:pt>
                <c:pt idx="32">
                  <c:v>33038</c:v>
                </c:pt>
                <c:pt idx="33">
                  <c:v>22640</c:v>
                </c:pt>
                <c:pt idx="34">
                  <c:v>38004</c:v>
                </c:pt>
                <c:pt idx="35">
                  <c:v>46846</c:v>
                </c:pt>
                <c:pt idx="36">
                  <c:v>29123</c:v>
                </c:pt>
                <c:pt idx="37">
                  <c:v>27561</c:v>
                </c:pt>
                <c:pt idx="38">
                  <c:v>24957</c:v>
                </c:pt>
                <c:pt idx="39">
                  <c:v>20395</c:v>
                </c:pt>
                <c:pt idx="40">
                  <c:v>28609</c:v>
                </c:pt>
                <c:pt idx="41">
                  <c:v>33728</c:v>
                </c:pt>
                <c:pt idx="42">
                  <c:v>24112</c:v>
                </c:pt>
                <c:pt idx="43">
                  <c:v>34963</c:v>
                </c:pt>
                <c:pt idx="44">
                  <c:v>33073</c:v>
                </c:pt>
                <c:pt idx="45">
                  <c:v>40784</c:v>
                </c:pt>
                <c:pt idx="46">
                  <c:v>22206</c:v>
                </c:pt>
                <c:pt idx="47">
                  <c:v>23602</c:v>
                </c:pt>
                <c:pt idx="48">
                  <c:v>23354</c:v>
                </c:pt>
                <c:pt idx="49">
                  <c:v>37583</c:v>
                </c:pt>
                <c:pt idx="50">
                  <c:v>41671</c:v>
                </c:pt>
                <c:pt idx="51">
                  <c:v>64656</c:v>
                </c:pt>
                <c:pt idx="52">
                  <c:v>62766</c:v>
                </c:pt>
                <c:pt idx="53">
                  <c:v>48050</c:v>
                </c:pt>
                <c:pt idx="54">
                  <c:v>71483</c:v>
                </c:pt>
                <c:pt idx="55">
                  <c:v>49444</c:v>
                </c:pt>
                <c:pt idx="56">
                  <c:v>57351</c:v>
                </c:pt>
                <c:pt idx="57">
                  <c:v>41513</c:v>
                </c:pt>
                <c:pt idx="58">
                  <c:v>49607</c:v>
                </c:pt>
                <c:pt idx="59">
                  <c:v>74610</c:v>
                </c:pt>
                <c:pt idx="60">
                  <c:v>57112</c:v>
                </c:pt>
                <c:pt idx="61">
                  <c:v>63310</c:v>
                </c:pt>
                <c:pt idx="62">
                  <c:v>75492</c:v>
                </c:pt>
                <c:pt idx="63">
                  <c:v>54617</c:v>
                </c:pt>
                <c:pt idx="64">
                  <c:v>55688</c:v>
                </c:pt>
                <c:pt idx="65">
                  <c:v>73923</c:v>
                </c:pt>
                <c:pt idx="66">
                  <c:v>41899</c:v>
                </c:pt>
                <c:pt idx="67">
                  <c:v>56985</c:v>
                </c:pt>
                <c:pt idx="68">
                  <c:v>69309</c:v>
                </c:pt>
                <c:pt idx="69">
                  <c:v>45278</c:v>
                </c:pt>
                <c:pt idx="70">
                  <c:v>70807</c:v>
                </c:pt>
                <c:pt idx="71">
                  <c:v>71631</c:v>
                </c:pt>
                <c:pt idx="72">
                  <c:v>71422</c:v>
                </c:pt>
                <c:pt idx="73">
                  <c:v>45556</c:v>
                </c:pt>
                <c:pt idx="74">
                  <c:v>53062</c:v>
                </c:pt>
                <c:pt idx="75">
                  <c:v>61791</c:v>
                </c:pt>
                <c:pt idx="76">
                  <c:v>66305</c:v>
                </c:pt>
                <c:pt idx="77">
                  <c:v>50410</c:v>
                </c:pt>
                <c:pt idx="78">
                  <c:v>49905</c:v>
                </c:pt>
                <c:pt idx="79">
                  <c:v>49579</c:v>
                </c:pt>
                <c:pt idx="80">
                  <c:v>62964</c:v>
                </c:pt>
                <c:pt idx="81">
                  <c:v>48584</c:v>
                </c:pt>
                <c:pt idx="82">
                  <c:v>46735</c:v>
                </c:pt>
                <c:pt idx="83">
                  <c:v>52766</c:v>
                </c:pt>
                <c:pt idx="84">
                  <c:v>53944</c:v>
                </c:pt>
                <c:pt idx="85">
                  <c:v>78432</c:v>
                </c:pt>
                <c:pt idx="86">
                  <c:v>67460</c:v>
                </c:pt>
                <c:pt idx="87">
                  <c:v>63185</c:v>
                </c:pt>
                <c:pt idx="88">
                  <c:v>67566</c:v>
                </c:pt>
                <c:pt idx="89">
                  <c:v>49950</c:v>
                </c:pt>
                <c:pt idx="90">
                  <c:v>68844</c:v>
                </c:pt>
                <c:pt idx="91">
                  <c:v>40257</c:v>
                </c:pt>
                <c:pt idx="92">
                  <c:v>49277</c:v>
                </c:pt>
                <c:pt idx="93">
                  <c:v>47886</c:v>
                </c:pt>
                <c:pt idx="94">
                  <c:v>73970</c:v>
                </c:pt>
                <c:pt idx="95">
                  <c:v>46953</c:v>
                </c:pt>
                <c:pt idx="96">
                  <c:v>52537</c:v>
                </c:pt>
                <c:pt idx="97">
                  <c:v>46405</c:v>
                </c:pt>
                <c:pt idx="98">
                  <c:v>41826</c:v>
                </c:pt>
                <c:pt idx="99">
                  <c:v>61339</c:v>
                </c:pt>
                <c:pt idx="100">
                  <c:v>103565</c:v>
                </c:pt>
                <c:pt idx="101">
                  <c:v>103302</c:v>
                </c:pt>
                <c:pt idx="102">
                  <c:v>86230</c:v>
                </c:pt>
                <c:pt idx="103">
                  <c:v>106668</c:v>
                </c:pt>
                <c:pt idx="104">
                  <c:v>97304</c:v>
                </c:pt>
                <c:pt idx="105">
                  <c:v>90708</c:v>
                </c:pt>
                <c:pt idx="106">
                  <c:v>74792</c:v>
                </c:pt>
                <c:pt idx="107">
                  <c:v>78018</c:v>
                </c:pt>
                <c:pt idx="108">
                  <c:v>93998</c:v>
                </c:pt>
                <c:pt idx="109">
                  <c:v>78995</c:v>
                </c:pt>
                <c:pt idx="110">
                  <c:v>76168</c:v>
                </c:pt>
                <c:pt idx="111">
                  <c:v>113767</c:v>
                </c:pt>
                <c:pt idx="112">
                  <c:v>98280</c:v>
                </c:pt>
                <c:pt idx="113">
                  <c:v>97608</c:v>
                </c:pt>
                <c:pt idx="114">
                  <c:v>76042</c:v>
                </c:pt>
                <c:pt idx="115">
                  <c:v>106310</c:v>
                </c:pt>
                <c:pt idx="116">
                  <c:v>71185</c:v>
                </c:pt>
                <c:pt idx="117">
                  <c:v>110889</c:v>
                </c:pt>
                <c:pt idx="118">
                  <c:v>74213</c:v>
                </c:pt>
                <c:pt idx="119">
                  <c:v>76866</c:v>
                </c:pt>
                <c:pt idx="120">
                  <c:v>72594</c:v>
                </c:pt>
                <c:pt idx="121">
                  <c:v>78490</c:v>
                </c:pt>
                <c:pt idx="122">
                  <c:v>79788</c:v>
                </c:pt>
                <c:pt idx="123">
                  <c:v>102414</c:v>
                </c:pt>
                <c:pt idx="124">
                  <c:v>73770</c:v>
                </c:pt>
                <c:pt idx="125">
                  <c:v>74745</c:v>
                </c:pt>
                <c:pt idx="126">
                  <c:v>75804</c:v>
                </c:pt>
                <c:pt idx="127">
                  <c:v>84575</c:v>
                </c:pt>
                <c:pt idx="128">
                  <c:v>77974</c:v>
                </c:pt>
                <c:pt idx="129">
                  <c:v>106245</c:v>
                </c:pt>
                <c:pt idx="130">
                  <c:v>78468</c:v>
                </c:pt>
                <c:pt idx="131">
                  <c:v>85626</c:v>
                </c:pt>
                <c:pt idx="132">
                  <c:v>73301</c:v>
                </c:pt>
                <c:pt idx="133">
                  <c:v>90446</c:v>
                </c:pt>
                <c:pt idx="134">
                  <c:v>119774</c:v>
                </c:pt>
                <c:pt idx="135">
                  <c:v>102773</c:v>
                </c:pt>
                <c:pt idx="136">
                  <c:v>71190</c:v>
                </c:pt>
                <c:pt idx="137">
                  <c:v>71208</c:v>
                </c:pt>
                <c:pt idx="138">
                  <c:v>103700</c:v>
                </c:pt>
                <c:pt idx="139">
                  <c:v>99298</c:v>
                </c:pt>
                <c:pt idx="140">
                  <c:v>113025</c:v>
                </c:pt>
                <c:pt idx="141">
                  <c:v>95761</c:v>
                </c:pt>
                <c:pt idx="142">
                  <c:v>84102</c:v>
                </c:pt>
                <c:pt idx="143">
                  <c:v>116315</c:v>
                </c:pt>
                <c:pt idx="144">
                  <c:v>92777</c:v>
                </c:pt>
                <c:pt idx="145">
                  <c:v>74634</c:v>
                </c:pt>
                <c:pt idx="146">
                  <c:v>80698</c:v>
                </c:pt>
                <c:pt idx="147">
                  <c:v>94961</c:v>
                </c:pt>
                <c:pt idx="148">
                  <c:v>85873</c:v>
                </c:pt>
                <c:pt idx="149">
                  <c:v>82147</c:v>
                </c:pt>
                <c:pt idx="150">
                  <c:v>100474</c:v>
                </c:pt>
                <c:pt idx="151">
                  <c:v>143113</c:v>
                </c:pt>
                <c:pt idx="152">
                  <c:v>104515</c:v>
                </c:pt>
                <c:pt idx="153">
                  <c:v>123980</c:v>
                </c:pt>
                <c:pt idx="154">
                  <c:v>110995</c:v>
                </c:pt>
                <c:pt idx="155">
                  <c:v>126342</c:v>
                </c:pt>
                <c:pt idx="156">
                  <c:v>100648</c:v>
                </c:pt>
                <c:pt idx="157">
                  <c:v>111764</c:v>
                </c:pt>
                <c:pt idx="158">
                  <c:v>105461</c:v>
                </c:pt>
                <c:pt idx="159">
                  <c:v>139877</c:v>
                </c:pt>
                <c:pt idx="160">
                  <c:v>176753</c:v>
                </c:pt>
                <c:pt idx="161">
                  <c:v>178192</c:v>
                </c:pt>
                <c:pt idx="162">
                  <c:v>164774</c:v>
                </c:pt>
                <c:pt idx="163">
                  <c:v>118972</c:v>
                </c:pt>
                <c:pt idx="164">
                  <c:v>156261</c:v>
                </c:pt>
                <c:pt idx="165">
                  <c:v>168649</c:v>
                </c:pt>
                <c:pt idx="166">
                  <c:v>102107</c:v>
                </c:pt>
                <c:pt idx="167">
                  <c:v>111153</c:v>
                </c:pt>
                <c:pt idx="168">
                  <c:v>147278</c:v>
                </c:pt>
                <c:pt idx="169">
                  <c:v>159164</c:v>
                </c:pt>
                <c:pt idx="170">
                  <c:v>102469</c:v>
                </c:pt>
                <c:pt idx="171">
                  <c:v>132054</c:v>
                </c:pt>
                <c:pt idx="172">
                  <c:v>159893</c:v>
                </c:pt>
                <c:pt idx="173">
                  <c:v>170149</c:v>
                </c:pt>
                <c:pt idx="174">
                  <c:v>162109</c:v>
                </c:pt>
                <c:pt idx="175">
                  <c:v>134807</c:v>
                </c:pt>
                <c:pt idx="176">
                  <c:v>160337</c:v>
                </c:pt>
                <c:pt idx="177">
                  <c:v>162784</c:v>
                </c:pt>
                <c:pt idx="178">
                  <c:v>125990</c:v>
                </c:pt>
                <c:pt idx="179">
                  <c:v>143486</c:v>
                </c:pt>
                <c:pt idx="180">
                  <c:v>139900</c:v>
                </c:pt>
                <c:pt idx="181">
                  <c:v>101634</c:v>
                </c:pt>
                <c:pt idx="182">
                  <c:v>135228</c:v>
                </c:pt>
                <c:pt idx="183">
                  <c:v>164174</c:v>
                </c:pt>
                <c:pt idx="184">
                  <c:v>160904</c:v>
                </c:pt>
                <c:pt idx="185">
                  <c:v>115532</c:v>
                </c:pt>
                <c:pt idx="186">
                  <c:v>111253</c:v>
                </c:pt>
                <c:pt idx="187">
                  <c:v>160158</c:v>
                </c:pt>
                <c:pt idx="188">
                  <c:v>158910</c:v>
                </c:pt>
                <c:pt idx="189">
                  <c:v>127618</c:v>
                </c:pt>
                <c:pt idx="190">
                  <c:v>118578</c:v>
                </c:pt>
                <c:pt idx="191">
                  <c:v>147127</c:v>
                </c:pt>
                <c:pt idx="192">
                  <c:v>166682</c:v>
                </c:pt>
                <c:pt idx="193">
                  <c:v>147865</c:v>
                </c:pt>
                <c:pt idx="194">
                  <c:v>163719</c:v>
                </c:pt>
                <c:pt idx="195">
                  <c:v>100470</c:v>
                </c:pt>
                <c:pt idx="196">
                  <c:v>139577</c:v>
                </c:pt>
                <c:pt idx="197">
                  <c:v>149296</c:v>
                </c:pt>
                <c:pt idx="198">
                  <c:v>143427</c:v>
                </c:pt>
                <c:pt idx="199">
                  <c:v>144338</c:v>
                </c:pt>
              </c:numCache>
            </c:numRef>
          </c:xVal>
          <c:yVal>
            <c:numRef>
              <c:f>Sheet1!$D$2:$D$201</c:f>
              <c:numCache>
                <c:formatCode>General</c:formatCode>
                <c:ptCount val="200"/>
                <c:pt idx="100">
                  <c:v>68</c:v>
                </c:pt>
                <c:pt idx="101">
                  <c:v>75</c:v>
                </c:pt>
                <c:pt idx="102">
                  <c:v>68</c:v>
                </c:pt>
                <c:pt idx="103">
                  <c:v>74</c:v>
                </c:pt>
                <c:pt idx="104">
                  <c:v>72</c:v>
                </c:pt>
                <c:pt idx="105">
                  <c:v>67</c:v>
                </c:pt>
                <c:pt idx="106">
                  <c:v>69</c:v>
                </c:pt>
                <c:pt idx="107">
                  <c:v>80</c:v>
                </c:pt>
                <c:pt idx="108">
                  <c:v>68</c:v>
                </c:pt>
                <c:pt idx="109">
                  <c:v>67</c:v>
                </c:pt>
                <c:pt idx="110">
                  <c:v>75</c:v>
                </c:pt>
                <c:pt idx="111">
                  <c:v>65</c:v>
                </c:pt>
                <c:pt idx="112">
                  <c:v>72</c:v>
                </c:pt>
                <c:pt idx="113">
                  <c:v>71</c:v>
                </c:pt>
                <c:pt idx="114">
                  <c:v>60</c:v>
                </c:pt>
                <c:pt idx="115">
                  <c:v>74</c:v>
                </c:pt>
                <c:pt idx="116">
                  <c:v>70</c:v>
                </c:pt>
                <c:pt idx="117">
                  <c:v>76</c:v>
                </c:pt>
                <c:pt idx="118">
                  <c:v>67</c:v>
                </c:pt>
                <c:pt idx="119">
                  <c:v>68</c:v>
                </c:pt>
                <c:pt idx="120">
                  <c:v>68</c:v>
                </c:pt>
                <c:pt idx="121">
                  <c:v>68</c:v>
                </c:pt>
                <c:pt idx="122">
                  <c:v>76</c:v>
                </c:pt>
                <c:pt idx="123">
                  <c:v>62</c:v>
                </c:pt>
                <c:pt idx="124">
                  <c:v>73</c:v>
                </c:pt>
                <c:pt idx="125">
                  <c:v>60</c:v>
                </c:pt>
                <c:pt idx="126">
                  <c:v>62</c:v>
                </c:pt>
                <c:pt idx="127">
                  <c:v>68</c:v>
                </c:pt>
                <c:pt idx="128">
                  <c:v>60</c:v>
                </c:pt>
                <c:pt idx="129">
                  <c:v>68</c:v>
                </c:pt>
                <c:pt idx="130">
                  <c:v>76</c:v>
                </c:pt>
                <c:pt idx="131">
                  <c:v>65</c:v>
                </c:pt>
                <c:pt idx="132">
                  <c:v>66</c:v>
                </c:pt>
                <c:pt idx="133">
                  <c:v>69</c:v>
                </c:pt>
                <c:pt idx="134">
                  <c:v>69</c:v>
                </c:pt>
                <c:pt idx="135">
                  <c:v>68</c:v>
                </c:pt>
                <c:pt idx="136">
                  <c:v>61</c:v>
                </c:pt>
                <c:pt idx="137">
                  <c:v>77</c:v>
                </c:pt>
                <c:pt idx="138">
                  <c:v>67</c:v>
                </c:pt>
                <c:pt idx="139">
                  <c:v>80</c:v>
                </c:pt>
                <c:pt idx="140">
                  <c:v>77</c:v>
                </c:pt>
                <c:pt idx="141">
                  <c:v>69</c:v>
                </c:pt>
                <c:pt idx="142">
                  <c:v>70</c:v>
                </c:pt>
                <c:pt idx="143">
                  <c:v>64</c:v>
                </c:pt>
                <c:pt idx="144">
                  <c:v>64</c:v>
                </c:pt>
                <c:pt idx="145">
                  <c:v>68</c:v>
                </c:pt>
                <c:pt idx="146">
                  <c:v>62</c:v>
                </c:pt>
                <c:pt idx="147">
                  <c:v>69</c:v>
                </c:pt>
                <c:pt idx="148">
                  <c:v>61</c:v>
                </c:pt>
                <c:pt idx="149">
                  <c:v>68</c:v>
                </c:pt>
              </c:numCache>
            </c:numRef>
          </c:yVal>
          <c:smooth val="0"/>
        </c:ser>
        <c:ser>
          <c:idx val="3"/>
          <c:order val="3"/>
          <c:tx>
            <c:strRef>
              <c:f>Sheet1!$E$1</c:f>
              <c:strCache>
                <c:ptCount val="1"/>
                <c:pt idx="0">
                  <c:v>VIP</c:v>
                </c:pt>
              </c:strCache>
            </c:strRef>
          </c:tx>
          <c:spPr>
            <a:ln>
              <a:noFill/>
            </a:ln>
            <a:effectLst/>
          </c:spPr>
          <c:marker>
            <c:symbol val="circle"/>
            <c:size val="7"/>
            <c:spPr>
              <a:solidFill>
                <a:srgbClr val="D4A017"/>
              </a:solidFill>
              <a:ln w="9525" cap="flat">
                <a:solidFill>
                  <a:srgbClr val="D4A017"/>
                </a:solidFill>
                <a:prstDash val="solid"/>
                <a:round/>
              </a:ln>
              <a:effectLst/>
            </c:spPr>
          </c:marker>
          <c:xVal>
            <c:numRef>
              <c:f>Sheet1!$A$2:$A$201</c:f>
              <c:numCache>
                <c:formatCode>General</c:formatCode>
                <c:ptCount val="200"/>
                <c:pt idx="0">
                  <c:v>24943</c:v>
                </c:pt>
                <c:pt idx="1">
                  <c:v>22373</c:v>
                </c:pt>
                <c:pt idx="2">
                  <c:v>39096</c:v>
                </c:pt>
                <c:pt idx="3">
                  <c:v>27035</c:v>
                </c:pt>
                <c:pt idx="4">
                  <c:v>33702</c:v>
                </c:pt>
                <c:pt idx="5">
                  <c:v>38056</c:v>
                </c:pt>
                <c:pt idx="6">
                  <c:v>27315</c:v>
                </c:pt>
                <c:pt idx="7">
                  <c:v>38910</c:v>
                </c:pt>
                <c:pt idx="8">
                  <c:v>27244</c:v>
                </c:pt>
                <c:pt idx="9">
                  <c:v>29489</c:v>
                </c:pt>
                <c:pt idx="10">
                  <c:v>23859</c:v>
                </c:pt>
                <c:pt idx="11">
                  <c:v>46742</c:v>
                </c:pt>
                <c:pt idx="12">
                  <c:v>32202</c:v>
                </c:pt>
                <c:pt idx="13">
                  <c:v>38493</c:v>
                </c:pt>
                <c:pt idx="14">
                  <c:v>36266</c:v>
                </c:pt>
                <c:pt idx="15">
                  <c:v>35256</c:v>
                </c:pt>
                <c:pt idx="16">
                  <c:v>31848</c:v>
                </c:pt>
                <c:pt idx="17">
                  <c:v>42904</c:v>
                </c:pt>
                <c:pt idx="18">
                  <c:v>37209</c:v>
                </c:pt>
                <c:pt idx="19">
                  <c:v>43902</c:v>
                </c:pt>
                <c:pt idx="20">
                  <c:v>23868</c:v>
                </c:pt>
                <c:pt idx="21">
                  <c:v>44809</c:v>
                </c:pt>
                <c:pt idx="22">
                  <c:v>33818</c:v>
                </c:pt>
                <c:pt idx="23">
                  <c:v>45053</c:v>
                </c:pt>
                <c:pt idx="24">
                  <c:v>31145</c:v>
                </c:pt>
                <c:pt idx="25">
                  <c:v>39002</c:v>
                </c:pt>
                <c:pt idx="26">
                  <c:v>28845</c:v>
                </c:pt>
                <c:pt idx="27">
                  <c:v>21988</c:v>
                </c:pt>
                <c:pt idx="28">
                  <c:v>29325</c:v>
                </c:pt>
                <c:pt idx="29">
                  <c:v>20739</c:v>
                </c:pt>
                <c:pt idx="30">
                  <c:v>40018</c:v>
                </c:pt>
                <c:pt idx="31">
                  <c:v>27150</c:v>
                </c:pt>
                <c:pt idx="32">
                  <c:v>33038</c:v>
                </c:pt>
                <c:pt idx="33">
                  <c:v>22640</c:v>
                </c:pt>
                <c:pt idx="34">
                  <c:v>38004</c:v>
                </c:pt>
                <c:pt idx="35">
                  <c:v>46846</c:v>
                </c:pt>
                <c:pt idx="36">
                  <c:v>29123</c:v>
                </c:pt>
                <c:pt idx="37">
                  <c:v>27561</c:v>
                </c:pt>
                <c:pt idx="38">
                  <c:v>24957</c:v>
                </c:pt>
                <c:pt idx="39">
                  <c:v>20395</c:v>
                </c:pt>
                <c:pt idx="40">
                  <c:v>28609</c:v>
                </c:pt>
                <c:pt idx="41">
                  <c:v>33728</c:v>
                </c:pt>
                <c:pt idx="42">
                  <c:v>24112</c:v>
                </c:pt>
                <c:pt idx="43">
                  <c:v>34963</c:v>
                </c:pt>
                <c:pt idx="44">
                  <c:v>33073</c:v>
                </c:pt>
                <c:pt idx="45">
                  <c:v>40784</c:v>
                </c:pt>
                <c:pt idx="46">
                  <c:v>22206</c:v>
                </c:pt>
                <c:pt idx="47">
                  <c:v>23602</c:v>
                </c:pt>
                <c:pt idx="48">
                  <c:v>23354</c:v>
                </c:pt>
                <c:pt idx="49">
                  <c:v>37583</c:v>
                </c:pt>
                <c:pt idx="50">
                  <c:v>41671</c:v>
                </c:pt>
                <c:pt idx="51">
                  <c:v>64656</c:v>
                </c:pt>
                <c:pt idx="52">
                  <c:v>62766</c:v>
                </c:pt>
                <c:pt idx="53">
                  <c:v>48050</c:v>
                </c:pt>
                <c:pt idx="54">
                  <c:v>71483</c:v>
                </c:pt>
                <c:pt idx="55">
                  <c:v>49444</c:v>
                </c:pt>
                <c:pt idx="56">
                  <c:v>57351</c:v>
                </c:pt>
                <c:pt idx="57">
                  <c:v>41513</c:v>
                </c:pt>
                <c:pt idx="58">
                  <c:v>49607</c:v>
                </c:pt>
                <c:pt idx="59">
                  <c:v>74610</c:v>
                </c:pt>
                <c:pt idx="60">
                  <c:v>57112</c:v>
                </c:pt>
                <c:pt idx="61">
                  <c:v>63310</c:v>
                </c:pt>
                <c:pt idx="62">
                  <c:v>75492</c:v>
                </c:pt>
                <c:pt idx="63">
                  <c:v>54617</c:v>
                </c:pt>
                <c:pt idx="64">
                  <c:v>55688</c:v>
                </c:pt>
                <c:pt idx="65">
                  <c:v>73923</c:v>
                </c:pt>
                <c:pt idx="66">
                  <c:v>41899</c:v>
                </c:pt>
                <c:pt idx="67">
                  <c:v>56985</c:v>
                </c:pt>
                <c:pt idx="68">
                  <c:v>69309</c:v>
                </c:pt>
                <c:pt idx="69">
                  <c:v>45278</c:v>
                </c:pt>
                <c:pt idx="70">
                  <c:v>70807</c:v>
                </c:pt>
                <c:pt idx="71">
                  <c:v>71631</c:v>
                </c:pt>
                <c:pt idx="72">
                  <c:v>71422</c:v>
                </c:pt>
                <c:pt idx="73">
                  <c:v>45556</c:v>
                </c:pt>
                <c:pt idx="74">
                  <c:v>53062</c:v>
                </c:pt>
                <c:pt idx="75">
                  <c:v>61791</c:v>
                </c:pt>
                <c:pt idx="76">
                  <c:v>66305</c:v>
                </c:pt>
                <c:pt idx="77">
                  <c:v>50410</c:v>
                </c:pt>
                <c:pt idx="78">
                  <c:v>49905</c:v>
                </c:pt>
                <c:pt idx="79">
                  <c:v>49579</c:v>
                </c:pt>
                <c:pt idx="80">
                  <c:v>62964</c:v>
                </c:pt>
                <c:pt idx="81">
                  <c:v>48584</c:v>
                </c:pt>
                <c:pt idx="82">
                  <c:v>46735</c:v>
                </c:pt>
                <c:pt idx="83">
                  <c:v>52766</c:v>
                </c:pt>
                <c:pt idx="84">
                  <c:v>53944</c:v>
                </c:pt>
                <c:pt idx="85">
                  <c:v>78432</c:v>
                </c:pt>
                <c:pt idx="86">
                  <c:v>67460</c:v>
                </c:pt>
                <c:pt idx="87">
                  <c:v>63185</c:v>
                </c:pt>
                <c:pt idx="88">
                  <c:v>67566</c:v>
                </c:pt>
                <c:pt idx="89">
                  <c:v>49950</c:v>
                </c:pt>
                <c:pt idx="90">
                  <c:v>68844</c:v>
                </c:pt>
                <c:pt idx="91">
                  <c:v>40257</c:v>
                </c:pt>
                <c:pt idx="92">
                  <c:v>49277</c:v>
                </c:pt>
                <c:pt idx="93">
                  <c:v>47886</c:v>
                </c:pt>
                <c:pt idx="94">
                  <c:v>73970</c:v>
                </c:pt>
                <c:pt idx="95">
                  <c:v>46953</c:v>
                </c:pt>
                <c:pt idx="96">
                  <c:v>52537</c:v>
                </c:pt>
                <c:pt idx="97">
                  <c:v>46405</c:v>
                </c:pt>
                <c:pt idx="98">
                  <c:v>41826</c:v>
                </c:pt>
                <c:pt idx="99">
                  <c:v>61339</c:v>
                </c:pt>
                <c:pt idx="100">
                  <c:v>103565</c:v>
                </c:pt>
                <c:pt idx="101">
                  <c:v>103302</c:v>
                </c:pt>
                <c:pt idx="102">
                  <c:v>86230</c:v>
                </c:pt>
                <c:pt idx="103">
                  <c:v>106668</c:v>
                </c:pt>
                <c:pt idx="104">
                  <c:v>97304</c:v>
                </c:pt>
                <c:pt idx="105">
                  <c:v>90708</c:v>
                </c:pt>
                <c:pt idx="106">
                  <c:v>74792</c:v>
                </c:pt>
                <c:pt idx="107">
                  <c:v>78018</c:v>
                </c:pt>
                <c:pt idx="108">
                  <c:v>93998</c:v>
                </c:pt>
                <c:pt idx="109">
                  <c:v>78995</c:v>
                </c:pt>
                <c:pt idx="110">
                  <c:v>76168</c:v>
                </c:pt>
                <c:pt idx="111">
                  <c:v>113767</c:v>
                </c:pt>
                <c:pt idx="112">
                  <c:v>98280</c:v>
                </c:pt>
                <c:pt idx="113">
                  <c:v>97608</c:v>
                </c:pt>
                <c:pt idx="114">
                  <c:v>76042</c:v>
                </c:pt>
                <c:pt idx="115">
                  <c:v>106310</c:v>
                </c:pt>
                <c:pt idx="116">
                  <c:v>71185</c:v>
                </c:pt>
                <c:pt idx="117">
                  <c:v>110889</c:v>
                </c:pt>
                <c:pt idx="118">
                  <c:v>74213</c:v>
                </c:pt>
                <c:pt idx="119">
                  <c:v>76866</c:v>
                </c:pt>
                <c:pt idx="120">
                  <c:v>72594</c:v>
                </c:pt>
                <c:pt idx="121">
                  <c:v>78490</c:v>
                </c:pt>
                <c:pt idx="122">
                  <c:v>79788</c:v>
                </c:pt>
                <c:pt idx="123">
                  <c:v>102414</c:v>
                </c:pt>
                <c:pt idx="124">
                  <c:v>73770</c:v>
                </c:pt>
                <c:pt idx="125">
                  <c:v>74745</c:v>
                </c:pt>
                <c:pt idx="126">
                  <c:v>75804</c:v>
                </c:pt>
                <c:pt idx="127">
                  <c:v>84575</c:v>
                </c:pt>
                <c:pt idx="128">
                  <c:v>77974</c:v>
                </c:pt>
                <c:pt idx="129">
                  <c:v>106245</c:v>
                </c:pt>
                <c:pt idx="130">
                  <c:v>78468</c:v>
                </c:pt>
                <c:pt idx="131">
                  <c:v>85626</c:v>
                </c:pt>
                <c:pt idx="132">
                  <c:v>73301</c:v>
                </c:pt>
                <c:pt idx="133">
                  <c:v>90446</c:v>
                </c:pt>
                <c:pt idx="134">
                  <c:v>119774</c:v>
                </c:pt>
                <c:pt idx="135">
                  <c:v>102773</c:v>
                </c:pt>
                <c:pt idx="136">
                  <c:v>71190</c:v>
                </c:pt>
                <c:pt idx="137">
                  <c:v>71208</c:v>
                </c:pt>
                <c:pt idx="138">
                  <c:v>103700</c:v>
                </c:pt>
                <c:pt idx="139">
                  <c:v>99298</c:v>
                </c:pt>
                <c:pt idx="140">
                  <c:v>113025</c:v>
                </c:pt>
                <c:pt idx="141">
                  <c:v>95761</c:v>
                </c:pt>
                <c:pt idx="142">
                  <c:v>84102</c:v>
                </c:pt>
                <c:pt idx="143">
                  <c:v>116315</c:v>
                </c:pt>
                <c:pt idx="144">
                  <c:v>92777</c:v>
                </c:pt>
                <c:pt idx="145">
                  <c:v>74634</c:v>
                </c:pt>
                <c:pt idx="146">
                  <c:v>80698</c:v>
                </c:pt>
                <c:pt idx="147">
                  <c:v>94961</c:v>
                </c:pt>
                <c:pt idx="148">
                  <c:v>85873</c:v>
                </c:pt>
                <c:pt idx="149">
                  <c:v>82147</c:v>
                </c:pt>
                <c:pt idx="150">
                  <c:v>100474</c:v>
                </c:pt>
                <c:pt idx="151">
                  <c:v>143113</c:v>
                </c:pt>
                <c:pt idx="152">
                  <c:v>104515</c:v>
                </c:pt>
                <c:pt idx="153">
                  <c:v>123980</c:v>
                </c:pt>
                <c:pt idx="154">
                  <c:v>110995</c:v>
                </c:pt>
                <c:pt idx="155">
                  <c:v>126342</c:v>
                </c:pt>
                <c:pt idx="156">
                  <c:v>100648</c:v>
                </c:pt>
                <c:pt idx="157">
                  <c:v>111764</c:v>
                </c:pt>
                <c:pt idx="158">
                  <c:v>105461</c:v>
                </c:pt>
                <c:pt idx="159">
                  <c:v>139877</c:v>
                </c:pt>
                <c:pt idx="160">
                  <c:v>176753</c:v>
                </c:pt>
                <c:pt idx="161">
                  <c:v>178192</c:v>
                </c:pt>
                <c:pt idx="162">
                  <c:v>164774</c:v>
                </c:pt>
                <c:pt idx="163">
                  <c:v>118972</c:v>
                </c:pt>
                <c:pt idx="164">
                  <c:v>156261</c:v>
                </c:pt>
                <c:pt idx="165">
                  <c:v>168649</c:v>
                </c:pt>
                <c:pt idx="166">
                  <c:v>102107</c:v>
                </c:pt>
                <c:pt idx="167">
                  <c:v>111153</c:v>
                </c:pt>
                <c:pt idx="168">
                  <c:v>147278</c:v>
                </c:pt>
                <c:pt idx="169">
                  <c:v>159164</c:v>
                </c:pt>
                <c:pt idx="170">
                  <c:v>102469</c:v>
                </c:pt>
                <c:pt idx="171">
                  <c:v>132054</c:v>
                </c:pt>
                <c:pt idx="172">
                  <c:v>159893</c:v>
                </c:pt>
                <c:pt idx="173">
                  <c:v>170149</c:v>
                </c:pt>
                <c:pt idx="174">
                  <c:v>162109</c:v>
                </c:pt>
                <c:pt idx="175">
                  <c:v>134807</c:v>
                </c:pt>
                <c:pt idx="176">
                  <c:v>160337</c:v>
                </c:pt>
                <c:pt idx="177">
                  <c:v>162784</c:v>
                </c:pt>
                <c:pt idx="178">
                  <c:v>125990</c:v>
                </c:pt>
                <c:pt idx="179">
                  <c:v>143486</c:v>
                </c:pt>
                <c:pt idx="180">
                  <c:v>139900</c:v>
                </c:pt>
                <c:pt idx="181">
                  <c:v>101634</c:v>
                </c:pt>
                <c:pt idx="182">
                  <c:v>135228</c:v>
                </c:pt>
                <c:pt idx="183">
                  <c:v>164174</c:v>
                </c:pt>
                <c:pt idx="184">
                  <c:v>160904</c:v>
                </c:pt>
                <c:pt idx="185">
                  <c:v>115532</c:v>
                </c:pt>
                <c:pt idx="186">
                  <c:v>111253</c:v>
                </c:pt>
                <c:pt idx="187">
                  <c:v>160158</c:v>
                </c:pt>
                <c:pt idx="188">
                  <c:v>158910</c:v>
                </c:pt>
                <c:pt idx="189">
                  <c:v>127618</c:v>
                </c:pt>
                <c:pt idx="190">
                  <c:v>118578</c:v>
                </c:pt>
                <c:pt idx="191">
                  <c:v>147127</c:v>
                </c:pt>
                <c:pt idx="192">
                  <c:v>166682</c:v>
                </c:pt>
                <c:pt idx="193">
                  <c:v>147865</c:v>
                </c:pt>
                <c:pt idx="194">
                  <c:v>163719</c:v>
                </c:pt>
                <c:pt idx="195">
                  <c:v>100470</c:v>
                </c:pt>
                <c:pt idx="196">
                  <c:v>139577</c:v>
                </c:pt>
                <c:pt idx="197">
                  <c:v>149296</c:v>
                </c:pt>
                <c:pt idx="198">
                  <c:v>143427</c:v>
                </c:pt>
                <c:pt idx="199">
                  <c:v>144338</c:v>
                </c:pt>
              </c:numCache>
            </c:numRef>
          </c:xVal>
          <c:yVal>
            <c:numRef>
              <c:f>Sheet1!$E$2:$E$201</c:f>
              <c:numCache>
                <c:formatCode>General</c:formatCode>
                <c:ptCount val="200"/>
                <c:pt idx="150">
                  <c:v>91</c:v>
                </c:pt>
                <c:pt idx="151">
                  <c:v>90</c:v>
                </c:pt>
                <c:pt idx="152">
                  <c:v>86</c:v>
                </c:pt>
                <c:pt idx="153">
                  <c:v>90</c:v>
                </c:pt>
                <c:pt idx="154">
                  <c:v>88</c:v>
                </c:pt>
                <c:pt idx="155">
                  <c:v>96</c:v>
                </c:pt>
                <c:pt idx="156">
                  <c:v>88</c:v>
                </c:pt>
                <c:pt idx="157">
                  <c:v>92</c:v>
                </c:pt>
                <c:pt idx="158">
                  <c:v>80</c:v>
                </c:pt>
                <c:pt idx="159">
                  <c:v>87</c:v>
                </c:pt>
                <c:pt idx="160">
                  <c:v>84</c:v>
                </c:pt>
                <c:pt idx="161">
                  <c:v>90</c:v>
                </c:pt>
                <c:pt idx="162">
                  <c:v>89</c:v>
                </c:pt>
                <c:pt idx="163">
                  <c:v>96</c:v>
                </c:pt>
                <c:pt idx="164">
                  <c:v>84</c:v>
                </c:pt>
                <c:pt idx="165">
                  <c:v>98</c:v>
                </c:pt>
                <c:pt idx="166">
                  <c:v>100</c:v>
                </c:pt>
                <c:pt idx="167">
                  <c:v>81</c:v>
                </c:pt>
                <c:pt idx="168">
                  <c:v>92</c:v>
                </c:pt>
                <c:pt idx="169">
                  <c:v>81</c:v>
                </c:pt>
                <c:pt idx="170">
                  <c:v>97</c:v>
                </c:pt>
                <c:pt idx="171">
                  <c:v>88</c:v>
                </c:pt>
                <c:pt idx="172">
                  <c:v>96</c:v>
                </c:pt>
                <c:pt idx="173">
                  <c:v>96</c:v>
                </c:pt>
                <c:pt idx="174">
                  <c:v>82</c:v>
                </c:pt>
                <c:pt idx="175">
                  <c:v>86</c:v>
                </c:pt>
                <c:pt idx="176">
                  <c:v>92</c:v>
                </c:pt>
                <c:pt idx="177">
                  <c:v>81</c:v>
                </c:pt>
                <c:pt idx="178">
                  <c:v>99</c:v>
                </c:pt>
                <c:pt idx="179">
                  <c:v>100</c:v>
                </c:pt>
                <c:pt idx="180">
                  <c:v>98</c:v>
                </c:pt>
                <c:pt idx="181">
                  <c:v>81</c:v>
                </c:pt>
                <c:pt idx="182">
                  <c:v>86</c:v>
                </c:pt>
                <c:pt idx="183">
                  <c:v>96</c:v>
                </c:pt>
                <c:pt idx="184">
                  <c:v>94</c:v>
                </c:pt>
                <c:pt idx="185">
                  <c:v>86</c:v>
                </c:pt>
                <c:pt idx="186">
                  <c:v>80</c:v>
                </c:pt>
                <c:pt idx="187">
                  <c:v>96</c:v>
                </c:pt>
                <c:pt idx="188">
                  <c:v>92</c:v>
                </c:pt>
                <c:pt idx="189">
                  <c:v>98</c:v>
                </c:pt>
                <c:pt idx="190">
                  <c:v>88</c:v>
                </c:pt>
                <c:pt idx="191">
                  <c:v>99</c:v>
                </c:pt>
                <c:pt idx="192">
                  <c:v>83</c:v>
                </c:pt>
                <c:pt idx="193">
                  <c:v>95</c:v>
                </c:pt>
                <c:pt idx="194">
                  <c:v>80</c:v>
                </c:pt>
                <c:pt idx="195">
                  <c:v>94</c:v>
                </c:pt>
                <c:pt idx="196">
                  <c:v>93</c:v>
                </c:pt>
                <c:pt idx="197">
                  <c:v>83</c:v>
                </c:pt>
                <c:pt idx="198">
                  <c:v>90</c:v>
                </c:pt>
                <c:pt idx="199">
                  <c:v>83</c:v>
                </c:pt>
              </c:numCache>
            </c:numRef>
          </c:yVal>
          <c:smooth val="0"/>
        </c:ser>
        <c:dLbls>
          <c:showLegendKey val="0"/>
          <c:showVal val="0"/>
          <c:showCatName val="0"/>
          <c:showSerName val="0"/>
          <c:showPercent val="0"/>
          <c:showBubbleSize val="0"/>
        </c:dLbls>
        <c:axId val="169491456"/>
        <c:axId val="169494016"/>
      </c:scatterChart>
      <c:valAx>
        <c:axId val="169491456"/>
        <c:scaling>
          <c:orientation val="minMax"/>
        </c:scaling>
        <c:delete val="0"/>
        <c:axPos val="b"/>
        <c:majorGridlines>
          <c:spPr>
            <a:ln w="12700" cap="flat">
              <a:solidFill>
                <a:srgbClr val="E5E9F5"/>
              </a:solidFill>
              <a:prstDash val="solid"/>
              <a:round/>
            </a:ln>
          </c:spPr>
        </c:majorGridlines>
        <c:title>
          <c:tx>
            <c:rich>
              <a:bodyPr/>
              <a:lstStyle/>
              <a:p>
                <a:pPr>
                  <a:defRPr sz="1100" b="0" i="0" u="none" strike="noStrike">
                    <a:solidFill>
                      <a:srgbClr val="6B7280"/>
                    </a:solidFill>
                    <a:latin typeface="Calibri"/>
                  </a:defRPr>
                </a:pPr>
                <a:r>
                  <a:rPr lang="en-GB" sz="1100" b="0" i="0" u="none" strike="noStrike">
                    <a:solidFill>
                      <a:srgbClr val="6B7280"/>
                    </a:solidFill>
                    <a:latin typeface="Calibri"/>
                  </a:rPr>
                  <a:t>Annual Income ($)</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169494016"/>
        <c:crosses val="autoZero"/>
        <c:crossBetween val="midCat"/>
      </c:valAx>
      <c:valAx>
        <c:axId val="169494016"/>
        <c:scaling>
          <c:orientation val="minMax"/>
        </c:scaling>
        <c:delete val="0"/>
        <c:axPos val="l"/>
        <c:majorGridlines>
          <c:spPr>
            <a:ln w="12700" cap="flat">
              <a:solidFill>
                <a:srgbClr val="E5E9F5"/>
              </a:solidFill>
              <a:prstDash val="solid"/>
              <a:round/>
            </a:ln>
          </c:spPr>
        </c:majorGridlines>
        <c:title>
          <c:tx>
            <c:rich>
              <a:bodyPr/>
              <a:lstStyle/>
              <a:p>
                <a:pPr>
                  <a:defRPr sz="1100" b="0" i="0" u="none" strike="noStrike">
                    <a:solidFill>
                      <a:srgbClr val="6B7280"/>
                    </a:solidFill>
                    <a:latin typeface="Calibri"/>
                  </a:defRPr>
                </a:pPr>
                <a:r>
                  <a:rPr lang="en-GB" sz="1100" b="0" i="0" u="none" strike="noStrike">
                    <a:solidFill>
                      <a:srgbClr val="6B7280"/>
                    </a:solidFill>
                    <a:latin typeface="Calibri"/>
                  </a:rPr>
                  <a:t>Spending Score</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169491456"/>
        <c:crosses val="autoZero"/>
        <c:crossBetween val="midCat"/>
      </c:valAx>
      <c:spPr>
        <a:noFill/>
        <a:ln>
          <a:noFill/>
        </a:ln>
        <a:effectLst/>
      </c:spPr>
    </c:plotArea>
    <c:legend>
      <c:legendPos val="b"/>
      <c:layout/>
      <c:overlay val="0"/>
      <c:txPr>
        <a:bodyPr/>
        <a:lstStyle/>
        <a:p>
          <a:pPr>
            <a:defRPr sz="1200">
              <a:solidFill>
                <a:srgbClr val="161C4D"/>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barChart>
        <c:barDir val="col"/>
        <c:grouping val="clustered"/>
        <c:varyColors val="0"/>
        <c:ser>
          <c:idx val="0"/>
          <c:order val="0"/>
          <c:tx>
            <c:strRef>
              <c:f>Sheet1!$B$1</c:f>
              <c:strCache>
                <c:ptCount val="1"/>
                <c:pt idx="0">
                  <c:v>Estimated Spending Power</c:v>
                </c:pt>
              </c:strCache>
            </c:strRef>
          </c:tx>
          <c:spPr>
            <a:solidFill>
              <a:srgbClr val="8FA6D6"/>
            </a:solidFill>
            <a:effectLst/>
          </c:spPr>
          <c:invertIfNegative val="0"/>
          <c:dPt>
            <c:idx val="0"/>
            <c:invertIfNegative val="0"/>
            <c:bubble3D val="0"/>
          </c:dPt>
          <c:dPt>
            <c:idx val="1"/>
            <c:invertIfNegative val="0"/>
            <c:bubble3D val="0"/>
            <c:spPr>
              <a:solidFill>
                <a:srgbClr val="4A62A8"/>
              </a:solidFill>
              <a:effectLst/>
            </c:spPr>
          </c:dPt>
          <c:dPt>
            <c:idx val="2"/>
            <c:invertIfNegative val="0"/>
            <c:bubble3D val="0"/>
            <c:spPr>
              <a:solidFill>
                <a:srgbClr val="2A3A82"/>
              </a:solidFill>
              <a:effectLst/>
            </c:spPr>
          </c:dPt>
          <c:dPt>
            <c:idx val="3"/>
            <c:invertIfNegative val="0"/>
            <c:bubble3D val="0"/>
            <c:spPr>
              <a:solidFill>
                <a:srgbClr val="D4A017"/>
              </a:solidFill>
              <a:effectLst/>
            </c:spPr>
          </c:dPt>
          <c:dLbls>
            <c:numFmt formatCode="\$#,##0,&quot;K&quot;" sourceLinked="0"/>
            <c:txPr>
              <a:bodyPr/>
              <a:lstStyle/>
              <a:p>
                <a:pPr>
                  <a:defRPr sz="1100" b="0" i="0" u="none" strike="noStrike">
                    <a:solidFill>
                      <a:srgbClr val="161C4D"/>
                    </a:solidFill>
                    <a:latin typeface="Calibri"/>
                  </a:defRPr>
                </a:pPr>
                <a:endParaRPr lang="en-US"/>
              </a:p>
            </c:txPr>
            <c:showLegendKey val="0"/>
            <c:showVal val="1"/>
            <c:showCatName val="0"/>
            <c:showSerName val="0"/>
            <c:showPercent val="0"/>
            <c:showBubbleSize val="0"/>
            <c:showLeaderLines val="0"/>
          </c:dLbls>
          <c:cat>
            <c:strRef>
              <c:f>Sheet1!$A$2:$A$5</c:f>
              <c:strCache>
                <c:ptCount val="4"/>
                <c:pt idx="0">
                  <c:v>Budget</c:v>
                </c:pt>
                <c:pt idx="1">
                  <c:v>Regular</c:v>
                </c:pt>
                <c:pt idx="2">
                  <c:v>Premium</c:v>
                </c:pt>
                <c:pt idx="3">
                  <c:v>VIP</c:v>
                </c:pt>
              </c:strCache>
            </c:strRef>
          </c:cat>
          <c:val>
            <c:numRef>
              <c:f>Sheet1!$B$2:$B$5</c:f>
              <c:numCache>
                <c:formatCode>General</c:formatCode>
                <c:ptCount val="4"/>
                <c:pt idx="0">
                  <c:v>396526</c:v>
                </c:pt>
                <c:pt idx="1">
                  <c:v>1437055</c:v>
                </c:pt>
                <c:pt idx="2">
                  <c:v>3073938</c:v>
                </c:pt>
                <c:pt idx="3">
                  <c:v>6204605</c:v>
                </c:pt>
              </c:numCache>
            </c:numRef>
          </c:val>
        </c:ser>
        <c:dLbls>
          <c:showLegendKey val="0"/>
          <c:showVal val="1"/>
          <c:showCatName val="0"/>
          <c:showSerName val="0"/>
          <c:showPercent val="0"/>
          <c:showBubbleSize val="0"/>
        </c:dLbls>
        <c:gapWidth val="150"/>
        <c:axId val="175992192"/>
        <c:axId val="175993984"/>
      </c:barChart>
      <c:catAx>
        <c:axId val="175992192"/>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1C4D"/>
                </a:solidFill>
                <a:latin typeface="Calibri"/>
              </a:defRPr>
            </a:pPr>
            <a:endParaRPr lang="en-US"/>
          </a:p>
        </c:txPr>
        <c:crossAx val="175993984"/>
        <c:crosses val="autoZero"/>
        <c:auto val="1"/>
        <c:lblAlgn val="ctr"/>
        <c:lblOffset val="100"/>
        <c:noMultiLvlLbl val="1"/>
      </c:catAx>
      <c:valAx>
        <c:axId val="175993984"/>
        <c:scaling>
          <c:orientation val="minMax"/>
        </c:scaling>
        <c:delete val="1"/>
        <c:axPos val="l"/>
        <c:numFmt formatCode="General" sourceLinked="0"/>
        <c:majorTickMark val="out"/>
        <c:minorTickMark val="none"/>
        <c:tickLblPos val="nextTo"/>
        <c:crossAx val="175992192"/>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4A017"/>
              </a:solidFill>
              <a:ln w="9525" cap="flat">
                <a:solidFill>
                  <a:srgbClr val="FFFFFF"/>
                </a:solidFill>
                <a:prstDash val="solid"/>
                <a:round/>
              </a:ln>
              <a:effectLst/>
            </c:spPr>
          </c:dPt>
          <c:dPt>
            <c:idx val="1"/>
            <c:bubble3D val="0"/>
            <c:spPr>
              <a:solidFill>
                <a:srgbClr val="E5E9F5"/>
              </a:solidFill>
              <a:ln w="9525" cap="flat">
                <a:solidFill>
                  <a:srgbClr val="FFFFFF"/>
                </a:solidFill>
                <a:prstDash val="solid"/>
                <a:round/>
              </a:ln>
              <a:effectLst/>
            </c:spPr>
          </c:dPt>
          <c:cat>
            <c:strRef>
              <c:f>Sheet1!$A$2:$A$3</c:f>
              <c:strCache>
                <c:ptCount val="2"/>
                <c:pt idx="0">
                  <c:v>Score</c:v>
                </c:pt>
                <c:pt idx="1">
                  <c:v>Remaining</c:v>
                </c:pt>
              </c:strCache>
            </c:strRef>
          </c:cat>
          <c:val>
            <c:numRef>
              <c:f>Sheet1!$B$2:$B$3</c:f>
              <c:numCache>
                <c:formatCode>General</c:formatCode>
                <c:ptCount val="2"/>
                <c:pt idx="0">
                  <c:v>58.4</c:v>
                </c:pt>
                <c:pt idx="1">
                  <c:v>41.6</c:v>
                </c:pt>
              </c:numCache>
            </c:numRef>
          </c:val>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8FA6D6"/>
              </a:solidFill>
              <a:effectLst/>
            </c:spPr>
          </c:dPt>
          <c:dPt>
            <c:idx val="1"/>
            <c:bubble3D val="0"/>
            <c:spPr>
              <a:solidFill>
                <a:srgbClr val="4A62A8"/>
              </a:solidFill>
              <a:effectLst/>
            </c:spPr>
          </c:dPt>
          <c:dPt>
            <c:idx val="2"/>
            <c:bubble3D val="0"/>
            <c:spPr>
              <a:solidFill>
                <a:srgbClr val="2A3A82"/>
              </a:solidFill>
              <a:effectLst/>
            </c:spPr>
          </c:dPt>
          <c:dPt>
            <c:idx val="3"/>
            <c:bubble3D val="0"/>
            <c:spPr>
              <a:solidFill>
                <a:srgbClr val="D4A017"/>
              </a:solidFill>
              <a:effectLst/>
            </c:spPr>
          </c:dPt>
          <c:cat>
            <c:strRef>
              <c:f>Sheet1!$A$2:$A$5</c:f>
              <c:strCache>
                <c:ptCount val="4"/>
                <c:pt idx="0">
                  <c:v>Budget</c:v>
                </c:pt>
                <c:pt idx="1">
                  <c:v>Regular</c:v>
                </c:pt>
                <c:pt idx="2">
                  <c:v>Premium</c:v>
                </c:pt>
                <c:pt idx="3">
                  <c:v>VIP</c:v>
                </c:pt>
              </c:strCache>
            </c:strRef>
          </c:cat>
          <c:val>
            <c:numRef>
              <c:f>Sheet1!$B$2:$B$5</c:f>
              <c:numCache>
                <c:formatCode>General</c:formatCode>
                <c:ptCount val="4"/>
                <c:pt idx="0">
                  <c:v>50</c:v>
                </c:pt>
                <c:pt idx="1">
                  <c:v>50</c:v>
                </c:pt>
                <c:pt idx="2">
                  <c:v>50</c:v>
                </c:pt>
                <c:pt idx="3">
                  <c:v>50</c:v>
                </c:pt>
              </c:numCache>
            </c:numRef>
          </c:val>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GB"/>
  <c:roundedCorners val="1"/>
  <c:style val="2"/>
  <c:chart>
    <c:autoTitleDeleted val="1"/>
    <c:plotArea>
      <c:layout/>
      <c:barChart>
        <c:barDir val="col"/>
        <c:grouping val="clustered"/>
        <c:varyColors val="0"/>
        <c:ser>
          <c:idx val="0"/>
          <c:order val="0"/>
          <c:tx>
            <c:strRef>
              <c:f>Sheet1!$B$1</c:f>
              <c:strCache>
                <c:ptCount val="1"/>
                <c:pt idx="0">
                  <c:v>Avg Income</c:v>
                </c:pt>
              </c:strCache>
            </c:strRef>
          </c:tx>
          <c:spPr>
            <a:solidFill>
              <a:srgbClr val="8FA6D6"/>
            </a:solidFill>
            <a:effectLst/>
          </c:spPr>
          <c:invertIfNegative val="0"/>
          <c:dPt>
            <c:idx val="0"/>
            <c:invertIfNegative val="0"/>
            <c:bubble3D val="0"/>
          </c:dPt>
          <c:dPt>
            <c:idx val="1"/>
            <c:invertIfNegative val="0"/>
            <c:bubble3D val="0"/>
            <c:spPr>
              <a:solidFill>
                <a:srgbClr val="4A62A8"/>
              </a:solidFill>
              <a:effectLst/>
            </c:spPr>
          </c:dPt>
          <c:dPt>
            <c:idx val="2"/>
            <c:invertIfNegative val="0"/>
            <c:bubble3D val="0"/>
            <c:spPr>
              <a:solidFill>
                <a:srgbClr val="2A3A82"/>
              </a:solidFill>
              <a:effectLst/>
            </c:spPr>
          </c:dPt>
          <c:dPt>
            <c:idx val="3"/>
            <c:invertIfNegative val="0"/>
            <c:bubble3D val="0"/>
            <c:spPr>
              <a:solidFill>
                <a:srgbClr val="D4A017"/>
              </a:solidFill>
              <a:effectLst/>
            </c:spPr>
          </c:dPt>
          <c:cat>
            <c:strRef>
              <c:f>Sheet1!$A$2:$A$5</c:f>
              <c:strCache>
                <c:ptCount val="4"/>
                <c:pt idx="0">
                  <c:v>Budget</c:v>
                </c:pt>
                <c:pt idx="1">
                  <c:v>Regular</c:v>
                </c:pt>
                <c:pt idx="2">
                  <c:v>Premium</c:v>
                </c:pt>
                <c:pt idx="3">
                  <c:v>VIP</c:v>
                </c:pt>
              </c:strCache>
            </c:strRef>
          </c:cat>
          <c:val>
            <c:numRef>
              <c:f>Sheet1!$B$2:$B$5</c:f>
              <c:numCache>
                <c:formatCode>General</c:formatCode>
                <c:ptCount val="4"/>
                <c:pt idx="0">
                  <c:v>32143.599999999999</c:v>
                </c:pt>
                <c:pt idx="1">
                  <c:v>57322.2</c:v>
                </c:pt>
                <c:pt idx="2">
                  <c:v>89147.7</c:v>
                </c:pt>
                <c:pt idx="3">
                  <c:v>138018.79999999999</c:v>
                </c:pt>
              </c:numCache>
            </c:numRef>
          </c:val>
        </c:ser>
        <c:dLbls>
          <c:showLegendKey val="0"/>
          <c:showVal val="0"/>
          <c:showCatName val="0"/>
          <c:showSerName val="0"/>
          <c:showPercent val="0"/>
          <c:showBubbleSize val="0"/>
        </c:dLbls>
        <c:gapWidth val="150"/>
        <c:axId val="212311424"/>
        <c:axId val="212325504"/>
      </c:barChart>
      <c:catAx>
        <c:axId val="21231142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Calibri"/>
              </a:defRPr>
            </a:pPr>
            <a:endParaRPr lang="en-US"/>
          </a:p>
        </c:txPr>
        <c:crossAx val="212325504"/>
        <c:crosses val="autoZero"/>
        <c:auto val="1"/>
        <c:lblAlgn val="ctr"/>
        <c:lblOffset val="100"/>
        <c:noMultiLvlLbl val="1"/>
      </c:catAx>
      <c:valAx>
        <c:axId val="212325504"/>
        <c:scaling>
          <c:orientation val="minMax"/>
        </c:scaling>
        <c:delete val="1"/>
        <c:axPos val="l"/>
        <c:numFmt formatCode="General" sourceLinked="0"/>
        <c:majorTickMark val="out"/>
        <c:minorTickMark val="none"/>
        <c:tickLblPos val="nextTo"/>
        <c:crossAx val="212311424"/>
        <c:crosses val="autoZero"/>
        <c:crossBetween val="between"/>
      </c:valAx>
      <c:spPr>
        <a:solidFill>
          <a:srgbClr val="F7F8FC"/>
        </a:solidFill>
        <a:ln>
          <a:noFill/>
        </a:ln>
        <a:effectLst/>
      </c:spPr>
    </c:plotArea>
    <c:plotVisOnly val="1"/>
    <c:dispBlanksAs val="span"/>
    <c:showDLblsOverMax val="1"/>
  </c:chart>
  <c:spPr>
    <a:solidFill>
      <a:srgbClr val="F7F8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A3D4D744-D324-4473-82BB-5E47EAFAB7D6}" type="datetimeFigureOut">
              <a:rPr lang="en-GB" smtClean="0"/>
              <a:t>17/09/2026</a:t>
            </a:fld>
            <a:endParaRPr lang="en-GB"/>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660F7992-D00A-4AB2-9723-6DBEF39EDC23}" type="slidenum">
              <a:rPr lang="en-GB" smtClean="0"/>
              <a:t>‹#›</a:t>
            </a:fld>
            <a:endParaRPr lang="en-GB"/>
          </a:p>
        </p:txBody>
      </p:sp>
    </p:spTree>
    <p:extLst>
      <p:ext uri="{BB962C8B-B14F-4D97-AF65-F5344CB8AC3E}">
        <p14:creationId xmlns:p14="http://schemas.microsoft.com/office/powerpoint/2010/main" val="3386269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7.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8.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2.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chart" Target="../charts/chart8.xml"/><Relationship Id="rId5" Type="http://schemas.openxmlformats.org/officeDocument/2006/relationships/chart" Target="../charts/chart7.xml"/><Relationship Id="rId10" Type="http://schemas.openxmlformats.org/officeDocument/2006/relationships/image" Target="../media/image31.png"/><Relationship Id="rId4" Type="http://schemas.openxmlformats.org/officeDocument/2006/relationships/chart" Target="../charts/chart6.xml"/><Relationship Id="rId9"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12.png"/></Relationships>
</file>

<file path=ppt/slides/_rels/slide2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3.png"/><Relationship Id="rId7"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7.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41.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1C4D"/>
          </a:solidFill>
          <a:ln/>
        </p:spPr>
      </p:sp>
      <p:sp>
        <p:nvSpPr>
          <p:cNvPr id="3" name="Shape 1"/>
          <p:cNvSpPr/>
          <p:nvPr/>
        </p:nvSpPr>
        <p:spPr>
          <a:xfrm>
            <a:off x="10607040" y="4297680"/>
            <a:ext cx="2926080" cy="2926080"/>
          </a:xfrm>
          <a:prstGeom prst="ellipse">
            <a:avLst/>
          </a:prstGeom>
          <a:solidFill>
            <a:srgbClr val="161C4D"/>
          </a:solidFill>
          <a:ln/>
        </p:spPr>
      </p:sp>
      <p:sp>
        <p:nvSpPr>
          <p:cNvPr id="4" name="Shape 2"/>
          <p:cNvSpPr/>
          <p:nvPr/>
        </p:nvSpPr>
        <p:spPr>
          <a:xfrm>
            <a:off x="-1280160" y="4846320"/>
            <a:ext cx="3291840" cy="3291840"/>
          </a:xfrm>
          <a:prstGeom prst="ellipse">
            <a:avLst/>
          </a:prstGeom>
          <a:solidFill>
            <a:srgbClr val="161C4D"/>
          </a:solidFill>
          <a:ln/>
        </p:spPr>
      </p:sp>
      <p:sp>
        <p:nvSpPr>
          <p:cNvPr id="5" name="Shape 3"/>
          <p:cNvSpPr/>
          <p:nvPr/>
        </p:nvSpPr>
        <p:spPr>
          <a:xfrm>
            <a:off x="640080" y="594360"/>
            <a:ext cx="822960" cy="822960"/>
          </a:xfrm>
          <a:prstGeom prst="ellipse">
            <a:avLst/>
          </a:prstGeom>
          <a:solidFill>
            <a:srgbClr val="2A3A82"/>
          </a:solidFill>
          <a:ln/>
        </p:spPr>
      </p:sp>
      <p:pic>
        <p:nvPicPr>
          <p:cNvPr id="6" name="Image 0" descr="/home/claude/icons/pie_gold.png"/>
          <p:cNvPicPr>
            <a:picLocks noChangeAspect="1"/>
          </p:cNvPicPr>
          <p:nvPr/>
        </p:nvPicPr>
        <p:blipFill>
          <a:blip r:embed="rId3"/>
          <a:stretch>
            <a:fillRect/>
          </a:stretch>
        </p:blipFill>
        <p:spPr>
          <a:xfrm>
            <a:off x="854050" y="808330"/>
            <a:ext cx="395021" cy="395021"/>
          </a:xfrm>
          <a:prstGeom prst="rect">
            <a:avLst/>
          </a:prstGeom>
        </p:spPr>
      </p:pic>
      <p:sp>
        <p:nvSpPr>
          <p:cNvPr id="7" name="Text 4"/>
          <p:cNvSpPr/>
          <p:nvPr/>
        </p:nvSpPr>
        <p:spPr>
          <a:xfrm>
            <a:off x="640080" y="2331720"/>
            <a:ext cx="10881360" cy="146304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Customer Segmentation and</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Personalized Marketing</a:t>
            </a:r>
            <a:endParaRPr lang="en-US" sz="4000" dirty="0"/>
          </a:p>
        </p:txBody>
      </p:sp>
      <p:sp>
        <p:nvSpPr>
          <p:cNvPr id="8" name="Shape 5"/>
          <p:cNvSpPr/>
          <p:nvPr/>
        </p:nvSpPr>
        <p:spPr>
          <a:xfrm>
            <a:off x="658368" y="3977640"/>
            <a:ext cx="2011680" cy="0"/>
          </a:xfrm>
          <a:prstGeom prst="line">
            <a:avLst/>
          </a:prstGeom>
          <a:noFill/>
          <a:ln w="31750">
            <a:solidFill>
              <a:srgbClr val="D4A017"/>
            </a:solidFill>
            <a:prstDash val="solid"/>
          </a:ln>
        </p:spPr>
      </p:sp>
      <p:sp>
        <p:nvSpPr>
          <p:cNvPr id="9" name="Text 6"/>
          <p:cNvSpPr/>
          <p:nvPr/>
        </p:nvSpPr>
        <p:spPr>
          <a:xfrm>
            <a:off x="658368" y="4160520"/>
            <a:ext cx="10515600" cy="45720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Data-Driven Customer Insights and Personalized Marketing</a:t>
            </a:r>
            <a:endParaRPr lang="en-US" sz="1700" dirty="0"/>
          </a:p>
        </p:txBody>
      </p:sp>
      <p:sp>
        <p:nvSpPr>
          <p:cNvPr id="10" name="Text 7"/>
          <p:cNvSpPr/>
          <p:nvPr/>
        </p:nvSpPr>
        <p:spPr>
          <a:xfrm>
            <a:off x="658368" y="6263640"/>
            <a:ext cx="5486400" cy="274320"/>
          </a:xfrm>
          <a:prstGeom prst="rect">
            <a:avLst/>
          </a:prstGeom>
          <a:noFill/>
          <a:ln/>
        </p:spPr>
        <p:txBody>
          <a:bodyPr wrap="square" lIns="0" tIns="0" rIns="0" bIns="0" rtlCol="0" anchor="ctr"/>
          <a:lstStyle/>
          <a:p>
            <a:pPr marL="0" indent="0">
              <a:buNone/>
            </a:pPr>
            <a:r>
              <a:rPr lang="en-US" sz="1000" dirty="0">
                <a:solidFill>
                  <a:srgbClr val="6C77B0"/>
                </a:solidFill>
                <a:latin typeface="Calibri" pitchFamily="34" charset="0"/>
                <a:ea typeface="Calibri" pitchFamily="34" charset="-122"/>
                <a:cs typeface="Calibri" pitchFamily="34" charset="-120"/>
              </a:rPr>
              <a:t>Prepared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Team Members &amp; Responsibilities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Roles and ownership across the project</a:t>
            </a:r>
            <a:endParaRPr lang="en-US" sz="1300" dirty="0"/>
          </a:p>
        </p:txBody>
      </p:sp>
      <p:sp>
        <p:nvSpPr>
          <p:cNvPr id="4" name="Shape 2"/>
          <p:cNvSpPr/>
          <p:nvPr/>
        </p:nvSpPr>
        <p:spPr>
          <a:xfrm>
            <a:off x="10607040" y="457200"/>
            <a:ext cx="685800" cy="685800"/>
          </a:xfrm>
          <a:prstGeom prst="ellipse">
            <a:avLst/>
          </a:prstGeom>
          <a:solidFill>
            <a:srgbClr val="1E2761"/>
          </a:solidFill>
          <a:ln/>
        </p:spPr>
      </p:sp>
      <p:pic>
        <p:nvPicPr>
          <p:cNvPr id="5" name="Image 0" descr="/home/claude/icons/users_white.png"/>
          <p:cNvPicPr>
            <a:picLocks noChangeAspect="1"/>
          </p:cNvPicPr>
          <p:nvPr/>
        </p:nvPicPr>
        <p:blipFill>
          <a:blip r:embed="rId3"/>
          <a:stretch>
            <a:fillRect/>
          </a:stretch>
        </p:blipFill>
        <p:spPr>
          <a:xfrm>
            <a:off x="10785348" y="635508"/>
            <a:ext cx="329184" cy="329184"/>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2907842089"/>
              </p:ext>
            </p:extLst>
          </p:nvPr>
        </p:nvGraphicFramePr>
        <p:xfrm>
          <a:off x="548640" y="1874520"/>
          <a:ext cx="11091672" cy="4663440"/>
        </p:xfrm>
        <a:graphic>
          <a:graphicData uri="http://schemas.openxmlformats.org/drawingml/2006/table">
            <a:tbl>
              <a:tblPr/>
              <a:tblGrid>
                <a:gridCol w="4114800"/>
                <a:gridCol w="6976872"/>
              </a:tblGrid>
              <a:tr h="77724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Responsibility</a:t>
                      </a:r>
                      <a:endParaRPr lang="en-US" sz="14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r>
              <a:tr h="777240">
                <a:tc>
                  <a:txBody>
                    <a:bodyPr/>
                    <a:lstStyle/>
                    <a:p>
                      <a:pPr marL="0" indent="0" algn="l">
                        <a:buNone/>
                      </a:pPr>
                      <a:r>
                        <a:rPr lang="en-US" sz="1300" dirty="0" smtClean="0">
                          <a:latin typeface="Calibri" charset="0"/>
                          <a:ea typeface="Calibri" charset="0"/>
                          <a:cs typeface="Calibri" charset="0"/>
                        </a:rPr>
                        <a:t>A</a:t>
                      </a:r>
                      <a:r>
                        <a:rPr lang="en-US" sz="1300" baseline="0" dirty="0" smtClean="0">
                          <a:latin typeface="Calibri" charset="0"/>
                          <a:ea typeface="Calibri" charset="0"/>
                          <a:cs typeface="Calibri" charset="0"/>
                        </a:rPr>
                        <a:t> MOUNIKA</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Data Collection &amp; Database</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r h="777240">
                <a:tc>
                  <a:txBody>
                    <a:bodyPr/>
                    <a:lstStyle/>
                    <a:p>
                      <a:pPr marL="0" indent="0" algn="l">
                        <a:buNone/>
                      </a:pPr>
                      <a:r>
                        <a:rPr lang="en-US" sz="1300" dirty="0" smtClean="0">
                          <a:latin typeface="Calibri" charset="0"/>
                          <a:ea typeface="Calibri" charset="0"/>
                          <a:cs typeface="Calibri" charset="0"/>
                        </a:rPr>
                        <a:t>G</a:t>
                      </a:r>
                      <a:r>
                        <a:rPr lang="en-US" sz="1300" baseline="0" dirty="0" smtClean="0">
                          <a:latin typeface="Calibri" charset="0"/>
                          <a:ea typeface="Calibri" charset="0"/>
                          <a:cs typeface="Calibri" charset="0"/>
                        </a:rPr>
                        <a:t> SRUJANA</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Data Preprocessing &amp; EDA</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r>
              <a:tr h="777240">
                <a:tc>
                  <a:txBody>
                    <a:bodyPr/>
                    <a:lstStyle/>
                    <a:p>
                      <a:pPr marL="0" indent="0" algn="l">
                        <a:buNone/>
                      </a:pPr>
                      <a:r>
                        <a:rPr lang="en-US" sz="1300" dirty="0" smtClean="0">
                          <a:latin typeface="Calibri" charset="0"/>
                          <a:ea typeface="Calibri" charset="0"/>
                          <a:cs typeface="Calibri" charset="0"/>
                        </a:rPr>
                        <a:t>R</a:t>
                      </a:r>
                      <a:r>
                        <a:rPr lang="en-US" sz="1300" baseline="0" dirty="0" smtClean="0">
                          <a:latin typeface="Calibri" charset="0"/>
                          <a:ea typeface="Calibri" charset="0"/>
                          <a:cs typeface="Calibri" charset="0"/>
                        </a:rPr>
                        <a:t> VARSHINI</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Machine Learning</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r h="777240">
                <a:tc>
                  <a:txBody>
                    <a:bodyPr/>
                    <a:lstStyle/>
                    <a:p>
                      <a:pPr marL="0" indent="0" algn="l">
                        <a:buNone/>
                      </a:pPr>
                      <a:r>
                        <a:rPr lang="en-US" sz="1300" dirty="0" smtClean="0">
                          <a:latin typeface="Calibri" charset="0"/>
                          <a:ea typeface="Calibri" charset="0"/>
                          <a:cs typeface="Calibri" charset="0"/>
                        </a:rPr>
                        <a:t>G</a:t>
                      </a:r>
                      <a:r>
                        <a:rPr lang="en-US" sz="1300" baseline="0" dirty="0" smtClean="0">
                          <a:latin typeface="Calibri" charset="0"/>
                          <a:ea typeface="Calibri" charset="0"/>
                          <a:cs typeface="Calibri" charset="0"/>
                        </a:rPr>
                        <a:t> SUPRIYA</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Marketing &amp; Profit Analysis</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r>
              <a:tr h="777240">
                <a:tc>
                  <a:txBody>
                    <a:bodyPr/>
                    <a:lstStyle/>
                    <a:p>
                      <a:pPr marL="0" indent="0" algn="l">
                        <a:buNone/>
                      </a:pPr>
                      <a:r>
                        <a:rPr lang="en-US" sz="1300" dirty="0" smtClean="0">
                          <a:latin typeface="Calibri" charset="0"/>
                          <a:ea typeface="Calibri" charset="0"/>
                          <a:cs typeface="Calibri" charset="0"/>
                        </a:rPr>
                        <a:t>P</a:t>
                      </a:r>
                      <a:r>
                        <a:rPr lang="en-US" sz="1300" baseline="0" dirty="0" smtClean="0">
                          <a:latin typeface="Calibri" charset="0"/>
                          <a:ea typeface="Calibri" charset="0"/>
                          <a:cs typeface="Calibri" charset="0"/>
                        </a:rPr>
                        <a:t> JIGISHA</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Frontend &amp; Integration</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bl>
          </a:graphicData>
        </a:graphic>
      </p:graphicFrame>
      <p:sp>
        <p:nvSpPr>
          <p:cNvPr id="7" name="Text 3"/>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8" name="Text 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Dataset Overview</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200 customer records used throughout this analysis</a:t>
            </a:r>
            <a:endParaRPr lang="en-US" sz="1300" dirty="0"/>
          </a:p>
        </p:txBody>
      </p:sp>
      <p:sp>
        <p:nvSpPr>
          <p:cNvPr id="4" name="Shape 2"/>
          <p:cNvSpPr/>
          <p:nvPr/>
        </p:nvSpPr>
        <p:spPr>
          <a:xfrm>
            <a:off x="548640" y="1600200"/>
            <a:ext cx="4160520" cy="1005840"/>
          </a:xfrm>
          <a:prstGeom prst="roundRect">
            <a:avLst>
              <a:gd name="adj" fmla="val 7273"/>
            </a:avLst>
          </a:prstGeom>
          <a:solidFill>
            <a:srgbClr val="1E2761"/>
          </a:solidFill>
          <a:ln/>
        </p:spPr>
      </p:sp>
      <p:sp>
        <p:nvSpPr>
          <p:cNvPr id="5" name="Text 3"/>
          <p:cNvSpPr/>
          <p:nvPr/>
        </p:nvSpPr>
        <p:spPr>
          <a:xfrm>
            <a:off x="731520" y="1645920"/>
            <a:ext cx="1463040" cy="914400"/>
          </a:xfrm>
          <a:prstGeom prst="rect">
            <a:avLst/>
          </a:prstGeom>
          <a:noFill/>
          <a:ln/>
        </p:spPr>
        <p:txBody>
          <a:bodyPr wrap="square" lIns="0" tIns="0" rIns="0" bIns="0" rtlCol="0" anchor="ctr"/>
          <a:lstStyle/>
          <a:p>
            <a:pPr marL="0" indent="0" algn="l">
              <a:buNone/>
            </a:pPr>
            <a:r>
              <a:rPr lang="en-US" sz="3400" b="1" dirty="0">
                <a:solidFill>
                  <a:srgbClr val="D4A017"/>
                </a:solidFill>
                <a:latin typeface="Cambria" pitchFamily="34" charset="0"/>
                <a:ea typeface="Cambria" pitchFamily="34" charset="-122"/>
                <a:cs typeface="Cambria" pitchFamily="34" charset="-120"/>
              </a:rPr>
              <a:t>200</a:t>
            </a:r>
            <a:endParaRPr lang="en-US" sz="3400" dirty="0"/>
          </a:p>
        </p:txBody>
      </p:sp>
      <p:sp>
        <p:nvSpPr>
          <p:cNvPr id="6" name="Text 4"/>
          <p:cNvSpPr/>
          <p:nvPr/>
        </p:nvSpPr>
        <p:spPr>
          <a:xfrm>
            <a:off x="2194560" y="1645920"/>
            <a:ext cx="2377440" cy="914400"/>
          </a:xfrm>
          <a:prstGeom prst="rect">
            <a:avLst/>
          </a:prstGeom>
          <a:noFill/>
          <a:ln/>
        </p:spPr>
        <p:txBody>
          <a:bodyPr wrap="square" lIns="0" tIns="0" rIns="0" bIns="0"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Customer Records</a:t>
            </a:r>
            <a:endParaRPr lang="en-US" sz="1350" dirty="0"/>
          </a:p>
        </p:txBody>
      </p:sp>
      <p:sp>
        <p:nvSpPr>
          <p:cNvPr id="7" name="Shape 5"/>
          <p:cNvSpPr/>
          <p:nvPr/>
        </p:nvSpPr>
        <p:spPr>
          <a:xfrm>
            <a:off x="548640" y="2880360"/>
            <a:ext cx="457200" cy="457200"/>
          </a:xfrm>
          <a:prstGeom prst="ellipse">
            <a:avLst/>
          </a:prstGeom>
          <a:solidFill>
            <a:srgbClr val="1E2761"/>
          </a:solidFill>
          <a:ln/>
        </p:spPr>
      </p:sp>
      <p:pic>
        <p:nvPicPr>
          <p:cNvPr id="8" name="Image 0" descr="/home/claude/icons/user_white.png"/>
          <p:cNvPicPr>
            <a:picLocks noChangeAspect="1"/>
          </p:cNvPicPr>
          <p:nvPr/>
        </p:nvPicPr>
        <p:blipFill>
          <a:blip r:embed="rId3"/>
          <a:stretch>
            <a:fillRect/>
          </a:stretch>
        </p:blipFill>
        <p:spPr>
          <a:xfrm>
            <a:off x="667512" y="2999232"/>
            <a:ext cx="219456" cy="219456"/>
          </a:xfrm>
          <a:prstGeom prst="rect">
            <a:avLst/>
          </a:prstGeom>
        </p:spPr>
      </p:pic>
      <p:sp>
        <p:nvSpPr>
          <p:cNvPr id="9" name="Text 6"/>
          <p:cNvSpPr/>
          <p:nvPr/>
        </p:nvSpPr>
        <p:spPr>
          <a:xfrm>
            <a:off x="1143000" y="2852928"/>
            <a:ext cx="15544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Customer ID</a:t>
            </a:r>
            <a:endParaRPr lang="en-US" sz="1250" dirty="0"/>
          </a:p>
        </p:txBody>
      </p:sp>
      <p:sp>
        <p:nvSpPr>
          <p:cNvPr id="10" name="Text 7"/>
          <p:cNvSpPr/>
          <p:nvPr/>
        </p:nvSpPr>
        <p:spPr>
          <a:xfrm>
            <a:off x="1143000" y="3108960"/>
            <a:ext cx="2743200" cy="29260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Unique identifier per record</a:t>
            </a:r>
            <a:endParaRPr lang="en-US" sz="1000" dirty="0"/>
          </a:p>
        </p:txBody>
      </p:sp>
      <p:sp>
        <p:nvSpPr>
          <p:cNvPr id="11" name="Shape 8"/>
          <p:cNvSpPr/>
          <p:nvPr/>
        </p:nvSpPr>
        <p:spPr>
          <a:xfrm>
            <a:off x="548640" y="3447288"/>
            <a:ext cx="457200" cy="457200"/>
          </a:xfrm>
          <a:prstGeom prst="ellipse">
            <a:avLst/>
          </a:prstGeom>
          <a:solidFill>
            <a:srgbClr val="1E2761"/>
          </a:solidFill>
          <a:ln/>
        </p:spPr>
      </p:sp>
      <p:pic>
        <p:nvPicPr>
          <p:cNvPr id="12" name="Image 1" descr="/home/claude/icons/calendar_white.png"/>
          <p:cNvPicPr>
            <a:picLocks noChangeAspect="1"/>
          </p:cNvPicPr>
          <p:nvPr/>
        </p:nvPicPr>
        <p:blipFill>
          <a:blip r:embed="rId4"/>
          <a:stretch>
            <a:fillRect/>
          </a:stretch>
        </p:blipFill>
        <p:spPr>
          <a:xfrm>
            <a:off x="667512" y="3566160"/>
            <a:ext cx="219456" cy="219456"/>
          </a:xfrm>
          <a:prstGeom prst="rect">
            <a:avLst/>
          </a:prstGeom>
        </p:spPr>
      </p:pic>
      <p:sp>
        <p:nvSpPr>
          <p:cNvPr id="13" name="Text 9"/>
          <p:cNvSpPr/>
          <p:nvPr/>
        </p:nvSpPr>
        <p:spPr>
          <a:xfrm>
            <a:off x="1143000" y="3419856"/>
            <a:ext cx="15544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Age</a:t>
            </a:r>
            <a:endParaRPr lang="en-US" sz="1250" dirty="0"/>
          </a:p>
        </p:txBody>
      </p:sp>
      <p:sp>
        <p:nvSpPr>
          <p:cNvPr id="14" name="Text 10"/>
          <p:cNvSpPr/>
          <p:nvPr/>
        </p:nvSpPr>
        <p:spPr>
          <a:xfrm>
            <a:off x="1143000" y="3675888"/>
            <a:ext cx="2743200" cy="29260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Customer age, 19 to 60 years</a:t>
            </a:r>
            <a:endParaRPr lang="en-US" sz="1000" dirty="0"/>
          </a:p>
        </p:txBody>
      </p:sp>
      <p:sp>
        <p:nvSpPr>
          <p:cNvPr id="15" name="Shape 11"/>
          <p:cNvSpPr/>
          <p:nvPr/>
        </p:nvSpPr>
        <p:spPr>
          <a:xfrm>
            <a:off x="548640" y="4014216"/>
            <a:ext cx="457200" cy="457200"/>
          </a:xfrm>
          <a:prstGeom prst="ellipse">
            <a:avLst/>
          </a:prstGeom>
          <a:solidFill>
            <a:srgbClr val="1E2761"/>
          </a:solidFill>
          <a:ln/>
        </p:spPr>
      </p:sp>
      <p:pic>
        <p:nvPicPr>
          <p:cNvPr id="16" name="Image 2" descr="/home/claude/icons/dollar_white.png"/>
          <p:cNvPicPr>
            <a:picLocks noChangeAspect="1"/>
          </p:cNvPicPr>
          <p:nvPr/>
        </p:nvPicPr>
        <p:blipFill>
          <a:blip r:embed="rId5"/>
          <a:stretch>
            <a:fillRect/>
          </a:stretch>
        </p:blipFill>
        <p:spPr>
          <a:xfrm>
            <a:off x="667512" y="4133088"/>
            <a:ext cx="219456" cy="219456"/>
          </a:xfrm>
          <a:prstGeom prst="rect">
            <a:avLst/>
          </a:prstGeom>
        </p:spPr>
      </p:pic>
      <p:sp>
        <p:nvSpPr>
          <p:cNvPr id="17" name="Text 12"/>
          <p:cNvSpPr/>
          <p:nvPr/>
        </p:nvSpPr>
        <p:spPr>
          <a:xfrm>
            <a:off x="1143000" y="3986784"/>
            <a:ext cx="15544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Annual Income</a:t>
            </a:r>
            <a:endParaRPr lang="en-US" sz="1250" dirty="0"/>
          </a:p>
        </p:txBody>
      </p:sp>
      <p:sp>
        <p:nvSpPr>
          <p:cNvPr id="18" name="Text 13"/>
          <p:cNvSpPr/>
          <p:nvPr/>
        </p:nvSpPr>
        <p:spPr>
          <a:xfrm>
            <a:off x="1143000" y="4242816"/>
            <a:ext cx="2743200" cy="29260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Yearly income, $20.4K to $178.2K</a:t>
            </a:r>
            <a:endParaRPr lang="en-US" sz="1000" dirty="0"/>
          </a:p>
        </p:txBody>
      </p:sp>
      <p:sp>
        <p:nvSpPr>
          <p:cNvPr id="19" name="Shape 14"/>
          <p:cNvSpPr/>
          <p:nvPr/>
        </p:nvSpPr>
        <p:spPr>
          <a:xfrm>
            <a:off x="548640" y="4581144"/>
            <a:ext cx="457200" cy="457200"/>
          </a:xfrm>
          <a:prstGeom prst="ellipse">
            <a:avLst/>
          </a:prstGeom>
          <a:solidFill>
            <a:srgbClr val="1E2761"/>
          </a:solidFill>
          <a:ln/>
        </p:spPr>
      </p:sp>
      <p:pic>
        <p:nvPicPr>
          <p:cNvPr id="20" name="Image 3" descr="/home/claude/icons/bag_white.png"/>
          <p:cNvPicPr>
            <a:picLocks noChangeAspect="1"/>
          </p:cNvPicPr>
          <p:nvPr/>
        </p:nvPicPr>
        <p:blipFill>
          <a:blip r:embed="rId6"/>
          <a:stretch>
            <a:fillRect/>
          </a:stretch>
        </p:blipFill>
        <p:spPr>
          <a:xfrm>
            <a:off x="667512" y="4700016"/>
            <a:ext cx="219456" cy="219456"/>
          </a:xfrm>
          <a:prstGeom prst="rect">
            <a:avLst/>
          </a:prstGeom>
        </p:spPr>
      </p:pic>
      <p:sp>
        <p:nvSpPr>
          <p:cNvPr id="21" name="Text 15"/>
          <p:cNvSpPr/>
          <p:nvPr/>
        </p:nvSpPr>
        <p:spPr>
          <a:xfrm>
            <a:off x="1143000" y="4553712"/>
            <a:ext cx="15544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Purchase History</a:t>
            </a:r>
            <a:endParaRPr lang="en-US" sz="1250" dirty="0"/>
          </a:p>
        </p:txBody>
      </p:sp>
      <p:sp>
        <p:nvSpPr>
          <p:cNvPr id="22" name="Text 16"/>
          <p:cNvSpPr/>
          <p:nvPr/>
        </p:nvSpPr>
        <p:spPr>
          <a:xfrm>
            <a:off x="1143000" y="4809744"/>
            <a:ext cx="2743200" cy="29260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Number of past purchases, 1 to 50</a:t>
            </a:r>
            <a:endParaRPr lang="en-US" sz="1000" dirty="0"/>
          </a:p>
        </p:txBody>
      </p:sp>
      <p:sp>
        <p:nvSpPr>
          <p:cNvPr id="23" name="Shape 17"/>
          <p:cNvSpPr/>
          <p:nvPr/>
        </p:nvSpPr>
        <p:spPr>
          <a:xfrm>
            <a:off x="548640" y="5148072"/>
            <a:ext cx="457200" cy="457200"/>
          </a:xfrm>
          <a:prstGeom prst="ellipse">
            <a:avLst/>
          </a:prstGeom>
          <a:solidFill>
            <a:srgbClr val="1E2761"/>
          </a:solidFill>
          <a:ln/>
        </p:spPr>
      </p:sp>
      <p:pic>
        <p:nvPicPr>
          <p:cNvPr id="24" name="Image 4" descr="/home/claude/icons/target_white.png"/>
          <p:cNvPicPr>
            <a:picLocks noChangeAspect="1"/>
          </p:cNvPicPr>
          <p:nvPr/>
        </p:nvPicPr>
        <p:blipFill>
          <a:blip r:embed="rId7"/>
          <a:stretch>
            <a:fillRect/>
          </a:stretch>
        </p:blipFill>
        <p:spPr>
          <a:xfrm>
            <a:off x="667512" y="5266944"/>
            <a:ext cx="219456" cy="219456"/>
          </a:xfrm>
          <a:prstGeom prst="rect">
            <a:avLst/>
          </a:prstGeom>
        </p:spPr>
      </p:pic>
      <p:sp>
        <p:nvSpPr>
          <p:cNvPr id="25" name="Text 18"/>
          <p:cNvSpPr/>
          <p:nvPr/>
        </p:nvSpPr>
        <p:spPr>
          <a:xfrm>
            <a:off x="1143000" y="5120640"/>
            <a:ext cx="155448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Spending Score</a:t>
            </a:r>
            <a:endParaRPr lang="en-US" sz="1250" dirty="0"/>
          </a:p>
        </p:txBody>
      </p:sp>
      <p:sp>
        <p:nvSpPr>
          <p:cNvPr id="26" name="Text 19"/>
          <p:cNvSpPr/>
          <p:nvPr/>
        </p:nvSpPr>
        <p:spPr>
          <a:xfrm>
            <a:off x="1143000" y="5376672"/>
            <a:ext cx="2743200" cy="292608"/>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0-100 engagement score</a:t>
            </a:r>
            <a:endParaRPr lang="en-US" sz="1000" dirty="0"/>
          </a:p>
        </p:txBody>
      </p:sp>
      <p:sp>
        <p:nvSpPr>
          <p:cNvPr id="27" name="Text 20"/>
          <p:cNvSpPr/>
          <p:nvPr/>
        </p:nvSpPr>
        <p:spPr>
          <a:xfrm>
            <a:off x="5074920" y="1600200"/>
            <a:ext cx="6583680" cy="320040"/>
          </a:xfrm>
          <a:prstGeom prst="rect">
            <a:avLst/>
          </a:prstGeom>
          <a:noFill/>
          <a:ln/>
        </p:spPr>
        <p:txBody>
          <a:bodyPr wrap="square" lIns="0" tIns="0" rIns="0" bIns="0" rtlCol="0" anchor="ctr"/>
          <a:lstStyle/>
          <a:p>
            <a:pPr marL="0" indent="0">
              <a:buNone/>
            </a:pPr>
            <a:r>
              <a:rPr lang="en-US" sz="1350" b="1" dirty="0">
                <a:solidFill>
                  <a:srgbClr val="161C4D"/>
                </a:solidFill>
                <a:latin typeface="Calibri" pitchFamily="34" charset="0"/>
                <a:ea typeface="Calibri" pitchFamily="34" charset="-122"/>
                <a:cs typeface="Calibri" pitchFamily="34" charset="-120"/>
              </a:rPr>
              <a:t>Sample Records</a:t>
            </a:r>
            <a:endParaRPr lang="en-US" sz="13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74920" y="1965960"/>
          <a:ext cx="6565392" cy="2743200"/>
        </p:xfrm>
        <a:graphic>
          <a:graphicData uri="http://schemas.openxmlformats.org/drawingml/2006/table">
            <a:tbl>
              <a:tblPr/>
              <a:tblGrid>
                <a:gridCol w="1371600"/>
                <a:gridCol w="1005840"/>
                <a:gridCol w="1554480"/>
                <a:gridCol w="1371600"/>
                <a:gridCol w="1261872"/>
              </a:tblGrid>
              <a:tr h="45720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Customer ID</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Annual Income</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Purchase Hist.</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Spending Score</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r>
              <a:tr h="457200">
                <a:tc>
                  <a:txBody>
                    <a:bodyPr/>
                    <a:lstStyle/>
                    <a:p>
                      <a:pPr marL="0" indent="0" algn="ctr">
                        <a:buNone/>
                      </a:pPr>
                      <a:r>
                        <a:rPr lang="en-US" sz="1100" b="1" dirty="0">
                          <a:solidFill>
                            <a:srgbClr val="161C4D"/>
                          </a:solidFill>
                          <a:latin typeface="Calibri" pitchFamily="34" charset="0"/>
                          <a:ea typeface="Calibri" pitchFamily="34" charset="-122"/>
                          <a:cs typeface="Calibri" pitchFamily="34" charset="-120"/>
                        </a:rPr>
                        <a:t>CUST001</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$24,943</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r h="457200">
                <a:tc>
                  <a:txBody>
                    <a:bodyPr/>
                    <a:lstStyle/>
                    <a:p>
                      <a:pPr marL="0" indent="0" algn="ctr">
                        <a:buNone/>
                      </a:pPr>
                      <a:r>
                        <a:rPr lang="en-US" sz="1100" b="1" dirty="0">
                          <a:solidFill>
                            <a:srgbClr val="161C4D"/>
                          </a:solidFill>
                          <a:latin typeface="Calibri" pitchFamily="34" charset="0"/>
                          <a:ea typeface="Calibri" pitchFamily="34" charset="-122"/>
                          <a:cs typeface="Calibri" pitchFamily="34" charset="-120"/>
                        </a:rPr>
                        <a:t>CUST002</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$22,373</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r>
              <a:tr h="457200">
                <a:tc>
                  <a:txBody>
                    <a:bodyPr/>
                    <a:lstStyle/>
                    <a:p>
                      <a:pPr marL="0" indent="0" algn="ctr">
                        <a:buNone/>
                      </a:pPr>
                      <a:r>
                        <a:rPr lang="en-US" sz="1100" b="1" dirty="0">
                          <a:solidFill>
                            <a:srgbClr val="161C4D"/>
                          </a:solidFill>
                          <a:latin typeface="Calibri" pitchFamily="34" charset="0"/>
                          <a:ea typeface="Calibri" pitchFamily="34" charset="-122"/>
                          <a:cs typeface="Calibri" pitchFamily="34" charset="-120"/>
                        </a:rPr>
                        <a:t>CUST003</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$39,096</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r h="457200">
                <a:tc>
                  <a:txBody>
                    <a:bodyPr/>
                    <a:lstStyle/>
                    <a:p>
                      <a:pPr marL="0" indent="0" algn="ctr">
                        <a:buNone/>
                      </a:pPr>
                      <a:r>
                        <a:rPr lang="en-US" sz="1100" b="1" dirty="0">
                          <a:solidFill>
                            <a:srgbClr val="161C4D"/>
                          </a:solidFill>
                          <a:latin typeface="Calibri" pitchFamily="34" charset="0"/>
                          <a:ea typeface="Calibri" pitchFamily="34" charset="-122"/>
                          <a:cs typeface="Calibri" pitchFamily="34" charset="-120"/>
                        </a:rPr>
                        <a:t>CUST004</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$27,035</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r>
              <a:tr h="457200">
                <a:tc>
                  <a:txBody>
                    <a:bodyPr/>
                    <a:lstStyle/>
                    <a:p>
                      <a:pPr marL="0" indent="0" algn="ctr">
                        <a:buNone/>
                      </a:pPr>
                      <a:r>
                        <a:rPr lang="en-US" sz="1100" b="1" dirty="0">
                          <a:solidFill>
                            <a:srgbClr val="161C4D"/>
                          </a:solidFill>
                          <a:latin typeface="Calibri" pitchFamily="34" charset="0"/>
                          <a:ea typeface="Calibri" pitchFamily="34" charset="-122"/>
                          <a:cs typeface="Calibri" pitchFamily="34" charset="-120"/>
                        </a:rPr>
                        <a:t>CUST005</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$33,702</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ctr">
                        <a:buNone/>
                      </a:pPr>
                      <a:r>
                        <a:rPr lang="en-US" sz="1100" dirty="0">
                          <a:solidFill>
                            <a:srgbClr val="333333"/>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bl>
          </a:graphicData>
        </a:graphic>
      </p:graphicFrame>
      <p:sp>
        <p:nvSpPr>
          <p:cNvPr id="29" name="Shape 21"/>
          <p:cNvSpPr/>
          <p:nvPr/>
        </p:nvSpPr>
        <p:spPr>
          <a:xfrm>
            <a:off x="5074920" y="4892040"/>
            <a:ext cx="6565392" cy="1234440"/>
          </a:xfrm>
          <a:prstGeom prst="roundRect">
            <a:avLst>
              <a:gd name="adj" fmla="val 5926"/>
            </a:avLst>
          </a:prstGeom>
          <a:solidFill>
            <a:srgbClr val="EDF1FB"/>
          </a:solidFill>
          <a:ln/>
        </p:spPr>
      </p:sp>
      <p:sp>
        <p:nvSpPr>
          <p:cNvPr id="30" name="Shape 22"/>
          <p:cNvSpPr/>
          <p:nvPr/>
        </p:nvSpPr>
        <p:spPr>
          <a:xfrm>
            <a:off x="5303520" y="5138928"/>
            <a:ext cx="594360" cy="594360"/>
          </a:xfrm>
          <a:prstGeom prst="ellipse">
            <a:avLst/>
          </a:prstGeom>
          <a:solidFill>
            <a:srgbClr val="1E2761"/>
          </a:solidFill>
          <a:ln/>
        </p:spPr>
      </p:sp>
      <p:pic>
        <p:nvPicPr>
          <p:cNvPr id="31" name="Image 5" descr="/home/claude/icons/zap_white.png"/>
          <p:cNvPicPr>
            <a:picLocks noChangeAspect="1"/>
          </p:cNvPicPr>
          <p:nvPr/>
        </p:nvPicPr>
        <p:blipFill>
          <a:blip r:embed="rId8"/>
          <a:stretch>
            <a:fillRect/>
          </a:stretch>
        </p:blipFill>
        <p:spPr>
          <a:xfrm>
            <a:off x="5458054" y="5293462"/>
            <a:ext cx="285293" cy="285293"/>
          </a:xfrm>
          <a:prstGeom prst="rect">
            <a:avLst/>
          </a:prstGeom>
        </p:spPr>
      </p:pic>
      <p:sp>
        <p:nvSpPr>
          <p:cNvPr id="32" name="Text 23"/>
          <p:cNvSpPr/>
          <p:nvPr/>
        </p:nvSpPr>
        <p:spPr>
          <a:xfrm>
            <a:off x="6035040" y="5074920"/>
            <a:ext cx="539496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Insight</a:t>
            </a:r>
            <a:endParaRPr lang="en-US" sz="1250" dirty="0"/>
          </a:p>
        </p:txBody>
      </p:sp>
      <p:sp>
        <p:nvSpPr>
          <p:cNvPr id="33" name="Text 24"/>
          <p:cNvSpPr/>
          <p:nvPr/>
        </p:nvSpPr>
        <p:spPr>
          <a:xfrm>
            <a:off x="6035040" y="5349240"/>
            <a:ext cx="5440680" cy="731520"/>
          </a:xfrm>
          <a:prstGeom prst="rect">
            <a:avLst/>
          </a:prstGeom>
          <a:noFill/>
          <a:ln/>
        </p:spPr>
        <p:txBody>
          <a:bodyPr wrap="square" lIns="0" tIns="0" rIns="0" bIns="0" rtlCol="0" anchor="t"/>
          <a:lstStyle/>
          <a:p>
            <a:pPr marL="0" indent="0">
              <a:buNone/>
            </a:pPr>
            <a:r>
              <a:rPr lang="en-US" sz="1050" dirty="0">
                <a:solidFill>
                  <a:srgbClr val="161C4D"/>
                </a:solidFill>
                <a:latin typeface="Calibri" pitchFamily="34" charset="0"/>
                <a:ea typeface="Calibri" pitchFamily="34" charset="-122"/>
                <a:cs typeface="Calibri" pitchFamily="34" charset="-120"/>
              </a:rPr>
              <a:t>The dataset is complete with no missing values, giving a reliable foundation for segmentation across income, purchase frequency, and spending behavior.</a:t>
            </a:r>
            <a:endParaRPr lang="en-US" sz="1050" dirty="0"/>
          </a:p>
        </p:txBody>
      </p:sp>
      <p:sp>
        <p:nvSpPr>
          <p:cNvPr id="34" name="Text 25"/>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5" name="Text 2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Member 1 – Data Collection &amp; Database</a:t>
            </a:r>
            <a:endParaRPr lang="en-US" sz="28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Building and maintaining the foundation the entire project relies on</a:t>
            </a:r>
            <a:endParaRPr lang="en-US" sz="1300" dirty="0"/>
          </a:p>
        </p:txBody>
      </p:sp>
      <p:sp>
        <p:nvSpPr>
          <p:cNvPr id="4" name="Shape 2"/>
          <p:cNvSpPr/>
          <p:nvPr/>
        </p:nvSpPr>
        <p:spPr>
          <a:xfrm>
            <a:off x="548640" y="1691640"/>
            <a:ext cx="3749040" cy="4617720"/>
          </a:xfrm>
          <a:prstGeom prst="roundRect">
            <a:avLst>
              <a:gd name="adj" fmla="val 2439"/>
            </a:avLst>
          </a:prstGeom>
          <a:solidFill>
            <a:srgbClr val="1E2761"/>
          </a:solidFill>
          <a:ln/>
          <a:effectLst>
            <a:outerShdw blurRad="127000" dist="38100" dir="5400000" algn="bl" rotWithShape="0">
              <a:srgbClr val="1E2761">
                <a:alpha val="18000"/>
              </a:srgbClr>
            </a:outerShdw>
          </a:effectLst>
        </p:spPr>
      </p:sp>
      <p:sp>
        <p:nvSpPr>
          <p:cNvPr id="5" name="Shape 3"/>
          <p:cNvSpPr/>
          <p:nvPr/>
        </p:nvSpPr>
        <p:spPr>
          <a:xfrm>
            <a:off x="1737360" y="2194560"/>
            <a:ext cx="1371600" cy="1371600"/>
          </a:xfrm>
          <a:prstGeom prst="ellipse">
            <a:avLst/>
          </a:prstGeom>
          <a:solidFill>
            <a:srgbClr val="2A3A82"/>
          </a:solidFill>
          <a:ln w="25400">
            <a:solidFill>
              <a:srgbClr val="D4A017"/>
            </a:solidFill>
            <a:prstDash val="solid"/>
          </a:ln>
        </p:spPr>
      </p:sp>
      <p:pic>
        <p:nvPicPr>
          <p:cNvPr id="6" name="Image 0" descr="/home/claude/icons/user_gold.png"/>
          <p:cNvPicPr>
            <a:picLocks noChangeAspect="1"/>
          </p:cNvPicPr>
          <p:nvPr/>
        </p:nvPicPr>
        <p:blipFill>
          <a:blip r:embed="rId3"/>
          <a:stretch>
            <a:fillRect/>
          </a:stretch>
        </p:blipFill>
        <p:spPr>
          <a:xfrm>
            <a:off x="2034540" y="2491740"/>
            <a:ext cx="777240" cy="777240"/>
          </a:xfrm>
          <a:prstGeom prst="rect">
            <a:avLst/>
          </a:prstGeom>
        </p:spPr>
      </p:pic>
      <p:sp>
        <p:nvSpPr>
          <p:cNvPr id="7" name="Text 4"/>
          <p:cNvSpPr/>
          <p:nvPr/>
        </p:nvSpPr>
        <p:spPr>
          <a:xfrm>
            <a:off x="731520" y="3794760"/>
            <a:ext cx="33832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Member 1 Name</a:t>
            </a:r>
            <a:endParaRPr lang="en-US" sz="1800" dirty="0"/>
          </a:p>
        </p:txBody>
      </p:sp>
      <p:sp>
        <p:nvSpPr>
          <p:cNvPr id="8" name="Text 5"/>
          <p:cNvSpPr/>
          <p:nvPr/>
        </p:nvSpPr>
        <p:spPr>
          <a:xfrm>
            <a:off x="731520" y="4178808"/>
            <a:ext cx="3383280" cy="320040"/>
          </a:xfrm>
          <a:prstGeom prst="rect">
            <a:avLst/>
          </a:prstGeom>
          <a:noFill/>
          <a:ln/>
        </p:spPr>
        <p:txBody>
          <a:bodyPr wrap="square" lIns="0" tIns="0" rIns="0" bIns="0" rtlCol="0" anchor="ctr"/>
          <a:lstStyle/>
          <a:p>
            <a:pPr marL="0" indent="0" algn="ctr">
              <a:buNone/>
            </a:pPr>
            <a:r>
              <a:rPr lang="en-US" sz="1250" i="1" dirty="0">
                <a:solidFill>
                  <a:srgbClr val="D4A017"/>
                </a:solidFill>
                <a:latin typeface="Calibri" pitchFamily="34" charset="0"/>
                <a:ea typeface="Calibri" pitchFamily="34" charset="-122"/>
                <a:cs typeface="Calibri" pitchFamily="34" charset="-120"/>
              </a:rPr>
              <a:t>Data Collection &amp; Database</a:t>
            </a:r>
            <a:endParaRPr lang="en-US" sz="1250" dirty="0"/>
          </a:p>
        </p:txBody>
      </p:sp>
      <p:sp>
        <p:nvSpPr>
          <p:cNvPr id="9" name="Shape 6"/>
          <p:cNvSpPr/>
          <p:nvPr/>
        </p:nvSpPr>
        <p:spPr>
          <a:xfrm>
            <a:off x="1371600" y="4663440"/>
            <a:ext cx="2103120" cy="0"/>
          </a:xfrm>
          <a:prstGeom prst="line">
            <a:avLst/>
          </a:prstGeom>
          <a:noFill/>
          <a:ln w="12700">
            <a:solidFill>
              <a:srgbClr val="3A4A9E"/>
            </a:solidFill>
            <a:prstDash val="solid"/>
          </a:ln>
        </p:spPr>
      </p:sp>
      <p:sp>
        <p:nvSpPr>
          <p:cNvPr id="10" name="Shape 7"/>
          <p:cNvSpPr/>
          <p:nvPr/>
        </p:nvSpPr>
        <p:spPr>
          <a:xfrm>
            <a:off x="868680" y="4892040"/>
            <a:ext cx="329184" cy="329184"/>
          </a:xfrm>
          <a:prstGeom prst="ellipse">
            <a:avLst/>
          </a:prstGeom>
          <a:solidFill>
            <a:srgbClr val="2A3A82"/>
          </a:solidFill>
          <a:ln/>
        </p:spPr>
      </p:sp>
      <p:pic>
        <p:nvPicPr>
          <p:cNvPr id="11" name="Image 1" descr="/home/claude/icons/check_gold.png"/>
          <p:cNvPicPr>
            <a:picLocks noChangeAspect="1"/>
          </p:cNvPicPr>
          <p:nvPr/>
        </p:nvPicPr>
        <p:blipFill>
          <a:blip r:embed="rId4"/>
          <a:stretch>
            <a:fillRect/>
          </a:stretch>
        </p:blipFill>
        <p:spPr>
          <a:xfrm>
            <a:off x="954268" y="4977628"/>
            <a:ext cx="158008" cy="158008"/>
          </a:xfrm>
          <a:prstGeom prst="rect">
            <a:avLst/>
          </a:prstGeom>
        </p:spPr>
      </p:pic>
      <p:sp>
        <p:nvSpPr>
          <p:cNvPr id="12" name="Text 8"/>
          <p:cNvSpPr/>
          <p:nvPr/>
        </p:nvSpPr>
        <p:spPr>
          <a:xfrm>
            <a:off x="1325880" y="48737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Data Sourcing</a:t>
            </a:r>
            <a:endParaRPr lang="en-US" sz="1150" dirty="0"/>
          </a:p>
        </p:txBody>
      </p:sp>
      <p:sp>
        <p:nvSpPr>
          <p:cNvPr id="13" name="Shape 9"/>
          <p:cNvSpPr/>
          <p:nvPr/>
        </p:nvSpPr>
        <p:spPr>
          <a:xfrm>
            <a:off x="868680" y="5349240"/>
            <a:ext cx="329184" cy="329184"/>
          </a:xfrm>
          <a:prstGeom prst="ellipse">
            <a:avLst/>
          </a:prstGeom>
          <a:solidFill>
            <a:srgbClr val="2A3A82"/>
          </a:solidFill>
          <a:ln/>
        </p:spPr>
      </p:sp>
      <p:pic>
        <p:nvPicPr>
          <p:cNvPr id="14" name="Image 2" descr="/home/claude/icons/check_gold.png"/>
          <p:cNvPicPr>
            <a:picLocks noChangeAspect="1"/>
          </p:cNvPicPr>
          <p:nvPr/>
        </p:nvPicPr>
        <p:blipFill>
          <a:blip r:embed="rId4"/>
          <a:stretch>
            <a:fillRect/>
          </a:stretch>
        </p:blipFill>
        <p:spPr>
          <a:xfrm>
            <a:off x="954268" y="5434828"/>
            <a:ext cx="158008" cy="158008"/>
          </a:xfrm>
          <a:prstGeom prst="rect">
            <a:avLst/>
          </a:prstGeom>
        </p:spPr>
      </p:pic>
      <p:sp>
        <p:nvSpPr>
          <p:cNvPr id="15" name="Text 10"/>
          <p:cNvSpPr/>
          <p:nvPr/>
        </p:nvSpPr>
        <p:spPr>
          <a:xfrm>
            <a:off x="1325880" y="53309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Database Design</a:t>
            </a:r>
            <a:endParaRPr lang="en-US" sz="1150" dirty="0"/>
          </a:p>
        </p:txBody>
      </p:sp>
      <p:sp>
        <p:nvSpPr>
          <p:cNvPr id="16" name="Shape 11"/>
          <p:cNvSpPr/>
          <p:nvPr/>
        </p:nvSpPr>
        <p:spPr>
          <a:xfrm>
            <a:off x="868680" y="5806440"/>
            <a:ext cx="329184" cy="329184"/>
          </a:xfrm>
          <a:prstGeom prst="ellipse">
            <a:avLst/>
          </a:prstGeom>
          <a:solidFill>
            <a:srgbClr val="2A3A82"/>
          </a:solidFill>
          <a:ln/>
        </p:spPr>
      </p:sp>
      <p:pic>
        <p:nvPicPr>
          <p:cNvPr id="17" name="Image 3" descr="/home/claude/icons/check_gold.png"/>
          <p:cNvPicPr>
            <a:picLocks noChangeAspect="1"/>
          </p:cNvPicPr>
          <p:nvPr/>
        </p:nvPicPr>
        <p:blipFill>
          <a:blip r:embed="rId4"/>
          <a:stretch>
            <a:fillRect/>
          </a:stretch>
        </p:blipFill>
        <p:spPr>
          <a:xfrm>
            <a:off x="954268" y="5892028"/>
            <a:ext cx="158008" cy="158008"/>
          </a:xfrm>
          <a:prstGeom prst="rect">
            <a:avLst/>
          </a:prstGeom>
        </p:spPr>
      </p:pic>
      <p:sp>
        <p:nvSpPr>
          <p:cNvPr id="18" name="Text 12"/>
          <p:cNvSpPr/>
          <p:nvPr/>
        </p:nvSpPr>
        <p:spPr>
          <a:xfrm>
            <a:off x="1325880" y="57881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Data Integrity</a:t>
            </a:r>
            <a:endParaRPr lang="en-US" sz="1150" dirty="0"/>
          </a:p>
        </p:txBody>
      </p:sp>
      <p:sp>
        <p:nvSpPr>
          <p:cNvPr id="19" name="Text 13"/>
          <p:cNvSpPr/>
          <p:nvPr/>
        </p:nvSpPr>
        <p:spPr>
          <a:xfrm>
            <a:off x="4709160" y="1691640"/>
            <a:ext cx="6931152"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Role Summary</a:t>
            </a:r>
            <a:endParaRPr lang="en-US" sz="1400" dirty="0"/>
          </a:p>
        </p:txBody>
      </p:sp>
      <p:sp>
        <p:nvSpPr>
          <p:cNvPr id="20" name="Text 14"/>
          <p:cNvSpPr/>
          <p:nvPr/>
        </p:nvSpPr>
        <p:spPr>
          <a:xfrm>
            <a:off x="4709160" y="2029968"/>
            <a:ext cx="6931152" cy="68580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Owns the full data pipeline that this analysis is built on — sourcing, structuring, and safeguarding the 200-record customer dataset used across every later stage of the project.</a:t>
            </a:r>
            <a:endParaRPr lang="en-US" sz="1200" dirty="0"/>
          </a:p>
        </p:txBody>
      </p:sp>
      <p:sp>
        <p:nvSpPr>
          <p:cNvPr id="21" name="Shape 15"/>
          <p:cNvSpPr/>
          <p:nvPr/>
        </p:nvSpPr>
        <p:spPr>
          <a:xfrm>
            <a:off x="4709160" y="2880360"/>
            <a:ext cx="6931152" cy="960120"/>
          </a:xfrm>
          <a:prstGeom prst="roundRect">
            <a:avLst>
              <a:gd name="adj" fmla="val 7619"/>
            </a:avLst>
          </a:prstGeom>
          <a:solidFill>
            <a:srgbClr val="F7F8FC"/>
          </a:solidFill>
          <a:ln/>
        </p:spPr>
      </p:sp>
      <p:sp>
        <p:nvSpPr>
          <p:cNvPr id="22" name="Shape 16"/>
          <p:cNvSpPr/>
          <p:nvPr/>
        </p:nvSpPr>
        <p:spPr>
          <a:xfrm>
            <a:off x="4910328" y="3081528"/>
            <a:ext cx="548640" cy="548640"/>
          </a:xfrm>
          <a:prstGeom prst="ellipse">
            <a:avLst/>
          </a:prstGeom>
          <a:solidFill>
            <a:srgbClr val="1E2761"/>
          </a:solidFill>
          <a:ln/>
        </p:spPr>
      </p:sp>
      <p:pic>
        <p:nvPicPr>
          <p:cNvPr id="23" name="Image 4" descr="/home/claude/icons/database_white.png"/>
          <p:cNvPicPr>
            <a:picLocks noChangeAspect="1"/>
          </p:cNvPicPr>
          <p:nvPr/>
        </p:nvPicPr>
        <p:blipFill>
          <a:blip r:embed="rId5"/>
          <a:stretch>
            <a:fillRect/>
          </a:stretch>
        </p:blipFill>
        <p:spPr>
          <a:xfrm>
            <a:off x="5052974" y="3224174"/>
            <a:ext cx="263347" cy="263347"/>
          </a:xfrm>
          <a:prstGeom prst="rect">
            <a:avLst/>
          </a:prstGeom>
        </p:spPr>
      </p:pic>
      <p:sp>
        <p:nvSpPr>
          <p:cNvPr id="24" name="Text 17"/>
          <p:cNvSpPr/>
          <p:nvPr/>
        </p:nvSpPr>
        <p:spPr>
          <a:xfrm>
            <a:off x="5669280" y="299923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 Collection</a:t>
            </a:r>
            <a:endParaRPr lang="en-US" sz="1300" dirty="0"/>
          </a:p>
        </p:txBody>
      </p:sp>
      <p:sp>
        <p:nvSpPr>
          <p:cNvPr id="25" name="Text 18"/>
          <p:cNvSpPr/>
          <p:nvPr/>
        </p:nvSpPr>
        <p:spPr>
          <a:xfrm>
            <a:off x="5669280" y="331012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Gathered raw customer data (age, income, purchase history, spending score) into a single, consistent dataset.</a:t>
            </a:r>
            <a:endParaRPr lang="en-US" sz="1050" dirty="0"/>
          </a:p>
        </p:txBody>
      </p:sp>
      <p:sp>
        <p:nvSpPr>
          <p:cNvPr id="26" name="Shape 19"/>
          <p:cNvSpPr/>
          <p:nvPr/>
        </p:nvSpPr>
        <p:spPr>
          <a:xfrm>
            <a:off x="4709160" y="3977640"/>
            <a:ext cx="6931152" cy="960120"/>
          </a:xfrm>
          <a:prstGeom prst="roundRect">
            <a:avLst>
              <a:gd name="adj" fmla="val 7619"/>
            </a:avLst>
          </a:prstGeom>
          <a:solidFill>
            <a:srgbClr val="F7F8FC"/>
          </a:solidFill>
          <a:ln/>
        </p:spPr>
      </p:sp>
      <p:sp>
        <p:nvSpPr>
          <p:cNvPr id="27" name="Shape 20"/>
          <p:cNvSpPr/>
          <p:nvPr/>
        </p:nvSpPr>
        <p:spPr>
          <a:xfrm>
            <a:off x="4910328" y="4178808"/>
            <a:ext cx="548640" cy="548640"/>
          </a:xfrm>
          <a:prstGeom prst="ellipse">
            <a:avLst/>
          </a:prstGeom>
          <a:solidFill>
            <a:srgbClr val="1E2761"/>
          </a:solidFill>
          <a:ln/>
        </p:spPr>
      </p:sp>
      <p:pic>
        <p:nvPicPr>
          <p:cNvPr id="28" name="Image 5" descr="/home/claude/icons/grid_white.png"/>
          <p:cNvPicPr>
            <a:picLocks noChangeAspect="1"/>
          </p:cNvPicPr>
          <p:nvPr/>
        </p:nvPicPr>
        <p:blipFill>
          <a:blip r:embed="rId6"/>
          <a:stretch>
            <a:fillRect/>
          </a:stretch>
        </p:blipFill>
        <p:spPr>
          <a:xfrm>
            <a:off x="5052974" y="4321454"/>
            <a:ext cx="263347" cy="263347"/>
          </a:xfrm>
          <a:prstGeom prst="rect">
            <a:avLst/>
          </a:prstGeom>
        </p:spPr>
      </p:pic>
      <p:sp>
        <p:nvSpPr>
          <p:cNvPr id="29" name="Text 21"/>
          <p:cNvSpPr/>
          <p:nvPr/>
        </p:nvSpPr>
        <p:spPr>
          <a:xfrm>
            <a:off x="5669280" y="409651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Database Design</a:t>
            </a:r>
            <a:endParaRPr lang="en-US" sz="1300" dirty="0"/>
          </a:p>
        </p:txBody>
      </p:sp>
      <p:sp>
        <p:nvSpPr>
          <p:cNvPr id="30" name="Text 22"/>
          <p:cNvSpPr/>
          <p:nvPr/>
        </p:nvSpPr>
        <p:spPr>
          <a:xfrm>
            <a:off x="5669280" y="440740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Structured the data into a clean, queryable format with well-defined fields and record IDs.</a:t>
            </a:r>
            <a:endParaRPr lang="en-US" sz="1050" dirty="0"/>
          </a:p>
        </p:txBody>
      </p:sp>
      <p:sp>
        <p:nvSpPr>
          <p:cNvPr id="31" name="Shape 23"/>
          <p:cNvSpPr/>
          <p:nvPr/>
        </p:nvSpPr>
        <p:spPr>
          <a:xfrm>
            <a:off x="4709160" y="5074920"/>
            <a:ext cx="6931152" cy="960120"/>
          </a:xfrm>
          <a:prstGeom prst="roundRect">
            <a:avLst>
              <a:gd name="adj" fmla="val 7619"/>
            </a:avLst>
          </a:prstGeom>
          <a:solidFill>
            <a:srgbClr val="F7F8FC"/>
          </a:solidFill>
          <a:ln/>
        </p:spPr>
      </p:sp>
      <p:sp>
        <p:nvSpPr>
          <p:cNvPr id="32" name="Shape 24"/>
          <p:cNvSpPr/>
          <p:nvPr/>
        </p:nvSpPr>
        <p:spPr>
          <a:xfrm>
            <a:off x="4910328" y="5276088"/>
            <a:ext cx="548640" cy="548640"/>
          </a:xfrm>
          <a:prstGeom prst="ellipse">
            <a:avLst/>
          </a:prstGeom>
          <a:solidFill>
            <a:srgbClr val="1E2761"/>
          </a:solidFill>
          <a:ln/>
        </p:spPr>
      </p:sp>
      <p:pic>
        <p:nvPicPr>
          <p:cNvPr id="33" name="Image 6" descr="/home/claude/icons/check_white.png"/>
          <p:cNvPicPr>
            <a:picLocks noChangeAspect="1"/>
          </p:cNvPicPr>
          <p:nvPr/>
        </p:nvPicPr>
        <p:blipFill>
          <a:blip r:embed="rId7"/>
          <a:stretch>
            <a:fillRect/>
          </a:stretch>
        </p:blipFill>
        <p:spPr>
          <a:xfrm>
            <a:off x="5052974" y="5418734"/>
            <a:ext cx="263347" cy="263347"/>
          </a:xfrm>
          <a:prstGeom prst="rect">
            <a:avLst/>
          </a:prstGeom>
        </p:spPr>
      </p:pic>
      <p:sp>
        <p:nvSpPr>
          <p:cNvPr id="34" name="Text 25"/>
          <p:cNvSpPr/>
          <p:nvPr/>
        </p:nvSpPr>
        <p:spPr>
          <a:xfrm>
            <a:off x="5669280" y="519379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 Integrity</a:t>
            </a:r>
            <a:endParaRPr lang="en-US" sz="1300" dirty="0"/>
          </a:p>
        </p:txBody>
      </p:sp>
      <p:sp>
        <p:nvSpPr>
          <p:cNvPr id="35" name="Text 26"/>
          <p:cNvSpPr/>
          <p:nvPr/>
        </p:nvSpPr>
        <p:spPr>
          <a:xfrm>
            <a:off x="5669280" y="550468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Validated records for completeness and consistency, ensuring a reliable base for later analysis.</a:t>
            </a:r>
            <a:endParaRPr lang="en-US" sz="1050" dirty="0"/>
          </a:p>
        </p:txBody>
      </p:sp>
      <p:sp>
        <p:nvSpPr>
          <p:cNvPr id="36" name="Text 2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7" name="Text 2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Customer Data Collection</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The five core fields captured for each of the 200 customers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389120"/>
        </p:xfrm>
        <a:graphic>
          <a:graphicData uri="http://schemas.openxmlformats.org/drawingml/2006/table">
            <a:tbl>
              <a:tblPr/>
              <a:tblGrid>
                <a:gridCol w="914400"/>
                <a:gridCol w="1965960"/>
                <a:gridCol w="5742432"/>
                <a:gridCol w="2468880"/>
              </a:tblGrid>
              <a:tr h="502920">
                <a:tc>
                  <a:txBody>
                    <a:bodyPr/>
                    <a:lstStyle/>
                    <a:p>
                      <a:pPr marL="0" indent="0">
                        <a:buNone/>
                      </a:pPr>
                      <a:endParaRPr lang="en-US" sz="1200" dirty="0"/>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Field</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It Captures</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Range / Example</a:t>
                      </a:r>
                      <a:endParaRPr lang="en-US" sz="13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1E2761"/>
                    </a:solidFill>
                  </a:tcPr>
                </a:tc>
              </a:tr>
              <a:tr h="777240">
                <a:tc>
                  <a:txBody>
                    <a:bodyPr/>
                    <a:lstStyle/>
                    <a:p>
                      <a:pPr marL="0" indent="0">
                        <a:buNone/>
                      </a:pPr>
                      <a:endParaRPr lang="en-US" sz="1200" dirty="0"/>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250" b="1" dirty="0">
                          <a:solidFill>
                            <a:srgbClr val="161C4D"/>
                          </a:solidFill>
                          <a:latin typeface="Calibri" pitchFamily="34" charset="0"/>
                          <a:ea typeface="Calibri" pitchFamily="34" charset="-122"/>
                          <a:cs typeface="Calibri" pitchFamily="34" charset="-120"/>
                        </a:rPr>
                        <a:t>Customer ID</a:t>
                      </a:r>
                      <a:endParaRPr lang="en-US" sz="125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A unique identifier assigned to each customer record in the dataset.</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100" dirty="0">
                          <a:solidFill>
                            <a:srgbClr val="6B7280"/>
                          </a:solidFill>
                          <a:latin typeface="Calibri" pitchFamily="34" charset="0"/>
                          <a:ea typeface="Calibri" pitchFamily="34" charset="-122"/>
                          <a:cs typeface="Calibri" pitchFamily="34" charset="-120"/>
                        </a:rPr>
                        <a:t>e.g. CUST001</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r h="777240">
                <a:tc>
                  <a:txBody>
                    <a:bodyPr/>
                    <a:lstStyle/>
                    <a:p>
                      <a:pPr marL="0" indent="0">
                        <a:buNone/>
                      </a:pPr>
                      <a:endParaRPr lang="en-US" sz="1200" dirty="0"/>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61C4D"/>
                          </a:solidFill>
                          <a:latin typeface="Calibri" pitchFamily="34" charset="0"/>
                          <a:ea typeface="Calibri" pitchFamily="34" charset="-122"/>
                          <a:cs typeface="Calibri" pitchFamily="34" charset="-120"/>
                        </a:rPr>
                        <a:t>Age</a:t>
                      </a:r>
                      <a:endParaRPr lang="en-US" sz="125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The customer's age in years, used to profile generational spending patterns.</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6B7280"/>
                          </a:solidFill>
                          <a:latin typeface="Calibri" pitchFamily="34" charset="0"/>
                          <a:ea typeface="Calibri" pitchFamily="34" charset="-122"/>
                          <a:cs typeface="Calibri" pitchFamily="34" charset="-120"/>
                        </a:rPr>
                        <a:t>19 – 60 years</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r>
              <a:tr h="777240">
                <a:tc>
                  <a:txBody>
                    <a:bodyPr/>
                    <a:lstStyle/>
                    <a:p>
                      <a:pPr marL="0" indent="0">
                        <a:buNone/>
                      </a:pPr>
                      <a:endParaRPr lang="en-US" sz="1200" dirty="0"/>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250" b="1" dirty="0">
                          <a:solidFill>
                            <a:srgbClr val="161C4D"/>
                          </a:solidFill>
                          <a:latin typeface="Calibri" pitchFamily="34" charset="0"/>
                          <a:ea typeface="Calibri" pitchFamily="34" charset="-122"/>
                          <a:cs typeface="Calibri" pitchFamily="34" charset="-120"/>
                        </a:rPr>
                        <a:t>Annual Income</a:t>
                      </a:r>
                      <a:endParaRPr lang="en-US" sz="125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The customer's reported yearly income in US dollars.</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100" dirty="0">
                          <a:solidFill>
                            <a:srgbClr val="6B7280"/>
                          </a:solidFill>
                          <a:latin typeface="Calibri" pitchFamily="34" charset="0"/>
                          <a:ea typeface="Calibri" pitchFamily="34" charset="-122"/>
                          <a:cs typeface="Calibri" pitchFamily="34" charset="-120"/>
                        </a:rPr>
                        <a:t>$20.4K – $178.2K</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r h="777240">
                <a:tc>
                  <a:txBody>
                    <a:bodyPr/>
                    <a:lstStyle/>
                    <a:p>
                      <a:pPr marL="0" indent="0">
                        <a:buNone/>
                      </a:pPr>
                      <a:endParaRPr lang="en-US" sz="1200" dirty="0"/>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250" b="1" dirty="0">
                          <a:solidFill>
                            <a:srgbClr val="161C4D"/>
                          </a:solidFill>
                          <a:latin typeface="Calibri" pitchFamily="34" charset="0"/>
                          <a:ea typeface="Calibri" pitchFamily="34" charset="-122"/>
                          <a:cs typeface="Calibri" pitchFamily="34" charset="-120"/>
                        </a:rPr>
                        <a:t>Purchase History</a:t>
                      </a:r>
                      <a:endParaRPr lang="en-US" sz="125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The total number of past purchases made by the customer.</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c>
                  <a:txBody>
                    <a:bodyPr/>
                    <a:lstStyle/>
                    <a:p>
                      <a:pPr marL="0" indent="0" algn="l">
                        <a:buNone/>
                      </a:pPr>
                      <a:r>
                        <a:rPr lang="en-US" sz="1100" dirty="0">
                          <a:solidFill>
                            <a:srgbClr val="6B7280"/>
                          </a:solidFill>
                          <a:latin typeface="Calibri" pitchFamily="34" charset="0"/>
                          <a:ea typeface="Calibri" pitchFamily="34" charset="-122"/>
                          <a:cs typeface="Calibri" pitchFamily="34" charset="-120"/>
                        </a:rPr>
                        <a:t>1 – 50 purchases</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FFFFF"/>
                    </a:solidFill>
                  </a:tcPr>
                </a:tc>
              </a:tr>
              <a:tr h="777240">
                <a:tc>
                  <a:txBody>
                    <a:bodyPr/>
                    <a:lstStyle/>
                    <a:p>
                      <a:pPr marL="0" indent="0">
                        <a:buNone/>
                      </a:pPr>
                      <a:endParaRPr lang="en-US" sz="1200" dirty="0"/>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250" b="1" dirty="0">
                          <a:solidFill>
                            <a:srgbClr val="161C4D"/>
                          </a:solidFill>
                          <a:latin typeface="Calibri" pitchFamily="34" charset="0"/>
                          <a:ea typeface="Calibri" pitchFamily="34" charset="-122"/>
                          <a:cs typeface="Calibri" pitchFamily="34" charset="-120"/>
                        </a:rPr>
                        <a:t>Spending Score</a:t>
                      </a:r>
                      <a:endParaRPr lang="en-US" sz="125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100" dirty="0">
                          <a:solidFill>
                            <a:srgbClr val="333333"/>
                          </a:solidFill>
                          <a:latin typeface="Calibri" pitchFamily="34" charset="0"/>
                          <a:ea typeface="Calibri" pitchFamily="34" charset="-122"/>
                          <a:cs typeface="Calibri" pitchFamily="34" charset="-120"/>
                        </a:rPr>
                        <a:t>A 0–100 score reflecting how actively a customer spends and engages.</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c>
                  <a:txBody>
                    <a:bodyPr/>
                    <a:lstStyle/>
                    <a:p>
                      <a:pPr marL="0" indent="0" algn="l">
                        <a:buNone/>
                      </a:pPr>
                      <a:r>
                        <a:rPr lang="en-US" sz="1100" dirty="0">
                          <a:solidFill>
                            <a:srgbClr val="6B7280"/>
                          </a:solidFill>
                          <a:latin typeface="Calibri" pitchFamily="34" charset="0"/>
                          <a:ea typeface="Calibri" pitchFamily="34" charset="-122"/>
                          <a:cs typeface="Calibri" pitchFamily="34" charset="-120"/>
                        </a:rPr>
                        <a:t>10 – 100</a:t>
                      </a:r>
                      <a:endParaRPr lang="en-US" sz="1100" dirty="0">
                        <a:latin typeface="Calibri" charset="0"/>
                        <a:ea typeface="Calibri" charset="0"/>
                        <a:cs typeface="Calibri" charset="0"/>
                      </a:endParaRPr>
                    </a:p>
                  </a:txBody>
                  <a:tcPr anchor="ctr">
                    <a:lnL w="12700" cap="flat" cmpd="sng" algn="ctr">
                      <a:solidFill>
                        <a:srgbClr val="E2E6F2"/>
                      </a:solidFill>
                      <a:prstDash val="solid"/>
                      <a:round/>
                      <a:headEnd type="none" w="med" len="med"/>
                      <a:tailEnd type="none" w="med" len="med"/>
                    </a:lnL>
                    <a:lnR w="12700" cap="flat" cmpd="sng" algn="ctr">
                      <a:solidFill>
                        <a:srgbClr val="E2E6F2"/>
                      </a:solidFill>
                      <a:prstDash val="solid"/>
                      <a:round/>
                      <a:headEnd type="none" w="med" len="med"/>
                      <a:tailEnd type="none" w="med" len="med"/>
                    </a:lnR>
                    <a:lnT w="12700" cap="flat" cmpd="sng" algn="ctr">
                      <a:solidFill>
                        <a:srgbClr val="E2E6F2"/>
                      </a:solidFill>
                      <a:prstDash val="solid"/>
                      <a:round/>
                      <a:headEnd type="none" w="med" len="med"/>
                      <a:tailEnd type="none" w="med" len="med"/>
                    </a:lnT>
                    <a:lnB w="12700" cap="flat" cmpd="sng" algn="ctr">
                      <a:solidFill>
                        <a:srgbClr val="E2E6F2"/>
                      </a:solidFill>
                      <a:prstDash val="solid"/>
                      <a:round/>
                      <a:headEnd type="none" w="med" len="med"/>
                      <a:tailEnd type="none" w="med" len="med"/>
                    </a:lnB>
                    <a:solidFill>
                      <a:srgbClr val="F7F8FC"/>
                    </a:solidFill>
                  </a:tcPr>
                </a:tc>
              </a:tr>
            </a:tbl>
          </a:graphicData>
        </a:graphic>
      </p:graphicFrame>
      <p:sp>
        <p:nvSpPr>
          <p:cNvPr id="5" name="Shape 2"/>
          <p:cNvSpPr/>
          <p:nvPr/>
        </p:nvSpPr>
        <p:spPr>
          <a:xfrm>
            <a:off x="777240" y="2446020"/>
            <a:ext cx="457200" cy="457200"/>
          </a:xfrm>
          <a:prstGeom prst="ellipse">
            <a:avLst/>
          </a:prstGeom>
          <a:solidFill>
            <a:srgbClr val="1E2761"/>
          </a:solidFill>
          <a:ln/>
        </p:spPr>
      </p:sp>
      <p:pic>
        <p:nvPicPr>
          <p:cNvPr id="4" name="Image 0" descr="/home/claude/icons/user_white.png"/>
          <p:cNvPicPr>
            <a:picLocks noChangeAspect="1"/>
          </p:cNvPicPr>
          <p:nvPr/>
        </p:nvPicPr>
        <p:blipFill>
          <a:blip r:embed="rId3"/>
          <a:stretch>
            <a:fillRect/>
          </a:stretch>
        </p:blipFill>
        <p:spPr>
          <a:xfrm>
            <a:off x="896112" y="2564892"/>
            <a:ext cx="219456" cy="219456"/>
          </a:xfrm>
          <a:prstGeom prst="rect">
            <a:avLst/>
          </a:prstGeom>
        </p:spPr>
      </p:pic>
      <p:sp>
        <p:nvSpPr>
          <p:cNvPr id="7" name="Shape 3"/>
          <p:cNvSpPr/>
          <p:nvPr/>
        </p:nvSpPr>
        <p:spPr>
          <a:xfrm>
            <a:off x="777240" y="3223260"/>
            <a:ext cx="457200" cy="457200"/>
          </a:xfrm>
          <a:prstGeom prst="ellipse">
            <a:avLst/>
          </a:prstGeom>
          <a:solidFill>
            <a:srgbClr val="1E2761"/>
          </a:solidFill>
          <a:ln/>
        </p:spPr>
      </p:sp>
      <p:pic>
        <p:nvPicPr>
          <p:cNvPr id="8" name="Image 1" descr="/home/claude/icons/calendar_white.png"/>
          <p:cNvPicPr>
            <a:picLocks noChangeAspect="1"/>
          </p:cNvPicPr>
          <p:nvPr/>
        </p:nvPicPr>
        <p:blipFill>
          <a:blip r:embed="rId4"/>
          <a:stretch>
            <a:fillRect/>
          </a:stretch>
        </p:blipFill>
        <p:spPr>
          <a:xfrm>
            <a:off x="896112" y="3342132"/>
            <a:ext cx="219456" cy="219456"/>
          </a:xfrm>
          <a:prstGeom prst="rect">
            <a:avLst/>
          </a:prstGeom>
        </p:spPr>
      </p:pic>
      <p:sp>
        <p:nvSpPr>
          <p:cNvPr id="9" name="Shape 4"/>
          <p:cNvSpPr/>
          <p:nvPr/>
        </p:nvSpPr>
        <p:spPr>
          <a:xfrm>
            <a:off x="777240" y="4000500"/>
            <a:ext cx="457200" cy="457200"/>
          </a:xfrm>
          <a:prstGeom prst="ellipse">
            <a:avLst/>
          </a:prstGeom>
          <a:solidFill>
            <a:srgbClr val="1E2761"/>
          </a:solidFill>
          <a:ln/>
        </p:spPr>
      </p:sp>
      <p:pic>
        <p:nvPicPr>
          <p:cNvPr id="10" name="Image 2" descr="/home/claude/icons/dollar_white.png"/>
          <p:cNvPicPr>
            <a:picLocks noChangeAspect="1"/>
          </p:cNvPicPr>
          <p:nvPr/>
        </p:nvPicPr>
        <p:blipFill>
          <a:blip r:embed="rId5"/>
          <a:stretch>
            <a:fillRect/>
          </a:stretch>
        </p:blipFill>
        <p:spPr>
          <a:xfrm>
            <a:off x="896112" y="4119372"/>
            <a:ext cx="219456" cy="219456"/>
          </a:xfrm>
          <a:prstGeom prst="rect">
            <a:avLst/>
          </a:prstGeom>
        </p:spPr>
      </p:pic>
      <p:sp>
        <p:nvSpPr>
          <p:cNvPr id="11" name="Shape 5"/>
          <p:cNvSpPr/>
          <p:nvPr/>
        </p:nvSpPr>
        <p:spPr>
          <a:xfrm>
            <a:off x="777240" y="4777740"/>
            <a:ext cx="457200" cy="457200"/>
          </a:xfrm>
          <a:prstGeom prst="ellipse">
            <a:avLst/>
          </a:prstGeom>
          <a:solidFill>
            <a:srgbClr val="1E2761"/>
          </a:solidFill>
          <a:ln/>
        </p:spPr>
      </p:sp>
      <p:pic>
        <p:nvPicPr>
          <p:cNvPr id="12" name="Image 3" descr="/home/claude/icons/bag_white.png"/>
          <p:cNvPicPr>
            <a:picLocks noChangeAspect="1"/>
          </p:cNvPicPr>
          <p:nvPr/>
        </p:nvPicPr>
        <p:blipFill>
          <a:blip r:embed="rId6"/>
          <a:stretch>
            <a:fillRect/>
          </a:stretch>
        </p:blipFill>
        <p:spPr>
          <a:xfrm>
            <a:off x="896112" y="4896612"/>
            <a:ext cx="219456" cy="219456"/>
          </a:xfrm>
          <a:prstGeom prst="rect">
            <a:avLst/>
          </a:prstGeom>
        </p:spPr>
      </p:pic>
      <p:sp>
        <p:nvSpPr>
          <p:cNvPr id="13" name="Shape 6"/>
          <p:cNvSpPr/>
          <p:nvPr/>
        </p:nvSpPr>
        <p:spPr>
          <a:xfrm>
            <a:off x="777240" y="5554980"/>
            <a:ext cx="457200" cy="457200"/>
          </a:xfrm>
          <a:prstGeom prst="ellipse">
            <a:avLst/>
          </a:prstGeom>
          <a:solidFill>
            <a:srgbClr val="1E2761"/>
          </a:solidFill>
          <a:ln/>
        </p:spPr>
      </p:sp>
      <p:pic>
        <p:nvPicPr>
          <p:cNvPr id="14" name="Image 4" descr="/home/claude/icons/target_white.png"/>
          <p:cNvPicPr>
            <a:picLocks noChangeAspect="1"/>
          </p:cNvPicPr>
          <p:nvPr/>
        </p:nvPicPr>
        <p:blipFill>
          <a:blip r:embed="rId7"/>
          <a:stretch>
            <a:fillRect/>
          </a:stretch>
        </p:blipFill>
        <p:spPr>
          <a:xfrm>
            <a:off x="896112" y="5673852"/>
            <a:ext cx="219456" cy="219456"/>
          </a:xfrm>
          <a:prstGeom prst="rect">
            <a:avLst/>
          </a:prstGeom>
        </p:spPr>
      </p:pic>
      <p:sp>
        <p:nvSpPr>
          <p:cNvPr id="15" name="Text 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16" name="Text 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Database Management</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How raw customer data becomes analysis-ready</a:t>
            </a:r>
            <a:endParaRPr lang="en-US" sz="1300" dirty="0"/>
          </a:p>
        </p:txBody>
      </p:sp>
      <p:sp>
        <p:nvSpPr>
          <p:cNvPr id="4" name="Shape 2"/>
          <p:cNvSpPr/>
          <p:nvPr/>
        </p:nvSpPr>
        <p:spPr>
          <a:xfrm>
            <a:off x="452628" y="2331720"/>
            <a:ext cx="2395728" cy="3017520"/>
          </a:xfrm>
          <a:prstGeom prst="roundRect">
            <a:avLst>
              <a:gd name="adj" fmla="val 3817"/>
            </a:avLst>
          </a:prstGeom>
          <a:solidFill>
            <a:srgbClr val="F7F8FC"/>
          </a:solidFill>
          <a:ln/>
          <a:effectLst>
            <a:outerShdw blurRad="76200" dist="25400" dir="5400000" algn="bl" rotWithShape="0">
              <a:srgbClr val="1E2761">
                <a:alpha val="12000"/>
              </a:srgbClr>
            </a:outerShdw>
          </a:effectLst>
        </p:spPr>
      </p:sp>
      <p:sp>
        <p:nvSpPr>
          <p:cNvPr id="5" name="Shape 3"/>
          <p:cNvSpPr/>
          <p:nvPr/>
        </p:nvSpPr>
        <p:spPr>
          <a:xfrm>
            <a:off x="1449324" y="2532888"/>
            <a:ext cx="402336" cy="402336"/>
          </a:xfrm>
          <a:prstGeom prst="ellipse">
            <a:avLst/>
          </a:prstGeom>
          <a:solidFill>
            <a:srgbClr val="1E2761"/>
          </a:solidFill>
          <a:ln/>
        </p:spPr>
      </p:sp>
      <p:sp>
        <p:nvSpPr>
          <p:cNvPr id="6" name="Text 4"/>
          <p:cNvSpPr/>
          <p:nvPr/>
        </p:nvSpPr>
        <p:spPr>
          <a:xfrm>
            <a:off x="1449324" y="25328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Shape 5"/>
          <p:cNvSpPr/>
          <p:nvPr/>
        </p:nvSpPr>
        <p:spPr>
          <a:xfrm>
            <a:off x="1261872" y="3108960"/>
            <a:ext cx="777240" cy="777240"/>
          </a:xfrm>
          <a:prstGeom prst="ellipse">
            <a:avLst/>
          </a:prstGeom>
          <a:solidFill>
            <a:srgbClr val="1E2761"/>
          </a:solidFill>
          <a:ln/>
        </p:spPr>
      </p:sp>
      <p:pic>
        <p:nvPicPr>
          <p:cNvPr id="8" name="Image 0" descr="/home/claude/icons/database_white.png"/>
          <p:cNvPicPr>
            <a:picLocks noChangeAspect="1"/>
          </p:cNvPicPr>
          <p:nvPr/>
        </p:nvPicPr>
        <p:blipFill>
          <a:blip r:embed="rId3"/>
          <a:stretch>
            <a:fillRect/>
          </a:stretch>
        </p:blipFill>
        <p:spPr>
          <a:xfrm>
            <a:off x="1463954" y="3311042"/>
            <a:ext cx="373075" cy="373075"/>
          </a:xfrm>
          <a:prstGeom prst="rect">
            <a:avLst/>
          </a:prstGeom>
        </p:spPr>
      </p:pic>
      <p:sp>
        <p:nvSpPr>
          <p:cNvPr id="9" name="Text 6"/>
          <p:cNvSpPr/>
          <p:nvPr/>
        </p:nvSpPr>
        <p:spPr>
          <a:xfrm>
            <a:off x="562356" y="4069080"/>
            <a:ext cx="2176272"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Collect</a:t>
            </a:r>
            <a:endParaRPr lang="en-US" sz="1400" dirty="0"/>
          </a:p>
        </p:txBody>
      </p:sp>
      <p:sp>
        <p:nvSpPr>
          <p:cNvPr id="10" name="Text 7"/>
          <p:cNvSpPr/>
          <p:nvPr/>
        </p:nvSpPr>
        <p:spPr>
          <a:xfrm>
            <a:off x="617220" y="4453128"/>
            <a:ext cx="2066544" cy="822960"/>
          </a:xfrm>
          <a:prstGeom prst="rect">
            <a:avLst/>
          </a:prstGeom>
          <a:noFill/>
          <a:ln/>
        </p:spPr>
        <p:txBody>
          <a:bodyPr wrap="square" lIns="0" tIns="0" rIns="0" bIns="0"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Gather raw customer records from source files into one place.</a:t>
            </a:r>
            <a:endParaRPr lang="en-US" sz="1000" dirty="0"/>
          </a:p>
        </p:txBody>
      </p:sp>
      <p:sp>
        <p:nvSpPr>
          <p:cNvPr id="11" name="Shape 8"/>
          <p:cNvSpPr/>
          <p:nvPr/>
        </p:nvSpPr>
        <p:spPr>
          <a:xfrm>
            <a:off x="2921508" y="3040380"/>
            <a:ext cx="420624" cy="0"/>
          </a:xfrm>
          <a:prstGeom prst="line">
            <a:avLst/>
          </a:prstGeom>
          <a:noFill/>
          <a:ln w="28575">
            <a:solidFill>
              <a:srgbClr val="C7CFE8"/>
            </a:solidFill>
            <a:prstDash val="solid"/>
            <a:tailEnd type="triangle"/>
          </a:ln>
        </p:spPr>
      </p:sp>
      <p:sp>
        <p:nvSpPr>
          <p:cNvPr id="12" name="Shape 9"/>
          <p:cNvSpPr/>
          <p:nvPr/>
        </p:nvSpPr>
        <p:spPr>
          <a:xfrm>
            <a:off x="3415284" y="2331720"/>
            <a:ext cx="2395728" cy="3017520"/>
          </a:xfrm>
          <a:prstGeom prst="roundRect">
            <a:avLst>
              <a:gd name="adj" fmla="val 3817"/>
            </a:avLst>
          </a:prstGeom>
          <a:solidFill>
            <a:srgbClr val="F7F8FC"/>
          </a:solidFill>
          <a:ln/>
          <a:effectLst>
            <a:outerShdw blurRad="76200" dist="25400" dir="5400000" algn="bl" rotWithShape="0">
              <a:srgbClr val="1E2761">
                <a:alpha val="12000"/>
              </a:srgbClr>
            </a:outerShdw>
          </a:effectLst>
        </p:spPr>
      </p:sp>
      <p:sp>
        <p:nvSpPr>
          <p:cNvPr id="13" name="Shape 10"/>
          <p:cNvSpPr/>
          <p:nvPr/>
        </p:nvSpPr>
        <p:spPr>
          <a:xfrm>
            <a:off x="4411980" y="2532888"/>
            <a:ext cx="402336" cy="402336"/>
          </a:xfrm>
          <a:prstGeom prst="ellipse">
            <a:avLst/>
          </a:prstGeom>
          <a:solidFill>
            <a:srgbClr val="1E2761"/>
          </a:solidFill>
          <a:ln/>
        </p:spPr>
      </p:sp>
      <p:sp>
        <p:nvSpPr>
          <p:cNvPr id="14" name="Text 11"/>
          <p:cNvSpPr/>
          <p:nvPr/>
        </p:nvSpPr>
        <p:spPr>
          <a:xfrm>
            <a:off x="4411980" y="25328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Shape 12"/>
          <p:cNvSpPr/>
          <p:nvPr/>
        </p:nvSpPr>
        <p:spPr>
          <a:xfrm>
            <a:off x="4224528" y="3108960"/>
            <a:ext cx="777240" cy="777240"/>
          </a:xfrm>
          <a:prstGeom prst="ellipse">
            <a:avLst/>
          </a:prstGeom>
          <a:solidFill>
            <a:srgbClr val="1E2761"/>
          </a:solidFill>
          <a:ln/>
        </p:spPr>
      </p:sp>
      <p:pic>
        <p:nvPicPr>
          <p:cNvPr id="16" name="Image 1" descr="/home/claude/icons/grid_white.png"/>
          <p:cNvPicPr>
            <a:picLocks noChangeAspect="1"/>
          </p:cNvPicPr>
          <p:nvPr/>
        </p:nvPicPr>
        <p:blipFill>
          <a:blip r:embed="rId4"/>
          <a:stretch>
            <a:fillRect/>
          </a:stretch>
        </p:blipFill>
        <p:spPr>
          <a:xfrm>
            <a:off x="4426610" y="3311042"/>
            <a:ext cx="373075" cy="373075"/>
          </a:xfrm>
          <a:prstGeom prst="rect">
            <a:avLst/>
          </a:prstGeom>
        </p:spPr>
      </p:pic>
      <p:sp>
        <p:nvSpPr>
          <p:cNvPr id="17" name="Text 13"/>
          <p:cNvSpPr/>
          <p:nvPr/>
        </p:nvSpPr>
        <p:spPr>
          <a:xfrm>
            <a:off x="3525012" y="4069080"/>
            <a:ext cx="2176272"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Store</a:t>
            </a:r>
            <a:endParaRPr lang="en-US" sz="1400" dirty="0"/>
          </a:p>
        </p:txBody>
      </p:sp>
      <p:sp>
        <p:nvSpPr>
          <p:cNvPr id="18" name="Text 14"/>
          <p:cNvSpPr/>
          <p:nvPr/>
        </p:nvSpPr>
        <p:spPr>
          <a:xfrm>
            <a:off x="3579876" y="4453128"/>
            <a:ext cx="2066544" cy="822960"/>
          </a:xfrm>
          <a:prstGeom prst="rect">
            <a:avLst/>
          </a:prstGeom>
          <a:noFill/>
          <a:ln/>
        </p:spPr>
        <p:txBody>
          <a:bodyPr wrap="square" lIns="0" tIns="0" rIns="0" bIns="0"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Load the data into a structured, queryable database.</a:t>
            </a:r>
            <a:endParaRPr lang="en-US" sz="1000" dirty="0"/>
          </a:p>
        </p:txBody>
      </p:sp>
      <p:sp>
        <p:nvSpPr>
          <p:cNvPr id="19" name="Shape 15"/>
          <p:cNvSpPr/>
          <p:nvPr/>
        </p:nvSpPr>
        <p:spPr>
          <a:xfrm>
            <a:off x="5884164" y="3040380"/>
            <a:ext cx="420624" cy="0"/>
          </a:xfrm>
          <a:prstGeom prst="line">
            <a:avLst/>
          </a:prstGeom>
          <a:noFill/>
          <a:ln w="28575">
            <a:solidFill>
              <a:srgbClr val="C7CFE8"/>
            </a:solidFill>
            <a:prstDash val="solid"/>
            <a:tailEnd type="triangle"/>
          </a:ln>
        </p:spPr>
      </p:sp>
      <p:sp>
        <p:nvSpPr>
          <p:cNvPr id="20" name="Shape 16"/>
          <p:cNvSpPr/>
          <p:nvPr/>
        </p:nvSpPr>
        <p:spPr>
          <a:xfrm>
            <a:off x="6377940" y="2331720"/>
            <a:ext cx="2395728" cy="3017520"/>
          </a:xfrm>
          <a:prstGeom prst="roundRect">
            <a:avLst>
              <a:gd name="adj" fmla="val 3817"/>
            </a:avLst>
          </a:prstGeom>
          <a:solidFill>
            <a:srgbClr val="F7F8FC"/>
          </a:solidFill>
          <a:ln/>
          <a:effectLst>
            <a:outerShdw blurRad="76200" dist="25400" dir="5400000" algn="bl" rotWithShape="0">
              <a:srgbClr val="1E2761">
                <a:alpha val="12000"/>
              </a:srgbClr>
            </a:outerShdw>
          </a:effectLst>
        </p:spPr>
      </p:sp>
      <p:sp>
        <p:nvSpPr>
          <p:cNvPr id="21" name="Shape 17"/>
          <p:cNvSpPr/>
          <p:nvPr/>
        </p:nvSpPr>
        <p:spPr>
          <a:xfrm>
            <a:off x="7374636" y="2532888"/>
            <a:ext cx="402336" cy="402336"/>
          </a:xfrm>
          <a:prstGeom prst="ellipse">
            <a:avLst/>
          </a:prstGeom>
          <a:solidFill>
            <a:srgbClr val="1E2761"/>
          </a:solidFill>
          <a:ln/>
        </p:spPr>
      </p:sp>
      <p:sp>
        <p:nvSpPr>
          <p:cNvPr id="22" name="Text 18"/>
          <p:cNvSpPr/>
          <p:nvPr/>
        </p:nvSpPr>
        <p:spPr>
          <a:xfrm>
            <a:off x="7374636" y="253288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19"/>
          <p:cNvSpPr/>
          <p:nvPr/>
        </p:nvSpPr>
        <p:spPr>
          <a:xfrm>
            <a:off x="7187184" y="3108960"/>
            <a:ext cx="777240" cy="777240"/>
          </a:xfrm>
          <a:prstGeom prst="ellipse">
            <a:avLst/>
          </a:prstGeom>
          <a:solidFill>
            <a:srgbClr val="1E2761"/>
          </a:solidFill>
          <a:ln/>
        </p:spPr>
      </p:sp>
      <p:pic>
        <p:nvPicPr>
          <p:cNvPr id="24" name="Image 2" descr="/home/claude/icons/check_white.png"/>
          <p:cNvPicPr>
            <a:picLocks noChangeAspect="1"/>
          </p:cNvPicPr>
          <p:nvPr/>
        </p:nvPicPr>
        <p:blipFill>
          <a:blip r:embed="rId5"/>
          <a:stretch>
            <a:fillRect/>
          </a:stretch>
        </p:blipFill>
        <p:spPr>
          <a:xfrm>
            <a:off x="7389266" y="3311042"/>
            <a:ext cx="373075" cy="373075"/>
          </a:xfrm>
          <a:prstGeom prst="rect">
            <a:avLst/>
          </a:prstGeom>
        </p:spPr>
      </p:pic>
      <p:sp>
        <p:nvSpPr>
          <p:cNvPr id="25" name="Text 20"/>
          <p:cNvSpPr/>
          <p:nvPr/>
        </p:nvSpPr>
        <p:spPr>
          <a:xfrm>
            <a:off x="6487668" y="4069080"/>
            <a:ext cx="2176272"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Verify</a:t>
            </a:r>
            <a:endParaRPr lang="en-US" sz="1400" dirty="0"/>
          </a:p>
        </p:txBody>
      </p:sp>
      <p:sp>
        <p:nvSpPr>
          <p:cNvPr id="26" name="Text 21"/>
          <p:cNvSpPr/>
          <p:nvPr/>
        </p:nvSpPr>
        <p:spPr>
          <a:xfrm>
            <a:off x="6542532" y="4453128"/>
            <a:ext cx="2066544" cy="822960"/>
          </a:xfrm>
          <a:prstGeom prst="rect">
            <a:avLst/>
          </a:prstGeom>
          <a:noFill/>
          <a:ln/>
        </p:spPr>
        <p:txBody>
          <a:bodyPr wrap="square" lIns="0" tIns="0" rIns="0" bIns="0" rtlCol="0" anchor="t"/>
          <a:lstStyle/>
          <a:p>
            <a:pPr marL="0" indent="0" algn="ctr">
              <a:buNone/>
            </a:pPr>
            <a:r>
              <a:rPr lang="en-US" sz="1000" dirty="0">
                <a:solidFill>
                  <a:srgbClr val="6B7280"/>
                </a:solidFill>
                <a:latin typeface="Calibri" pitchFamily="34" charset="0"/>
                <a:ea typeface="Calibri" pitchFamily="34" charset="-122"/>
                <a:cs typeface="Calibri" pitchFamily="34" charset="-120"/>
              </a:rPr>
              <a:t>Check records for completeness, accuracy, and consistency.</a:t>
            </a:r>
            <a:endParaRPr lang="en-US" sz="1000" dirty="0"/>
          </a:p>
        </p:txBody>
      </p:sp>
      <p:sp>
        <p:nvSpPr>
          <p:cNvPr id="27" name="Shape 22"/>
          <p:cNvSpPr/>
          <p:nvPr/>
        </p:nvSpPr>
        <p:spPr>
          <a:xfrm>
            <a:off x="8846820" y="3040380"/>
            <a:ext cx="420624" cy="0"/>
          </a:xfrm>
          <a:prstGeom prst="line">
            <a:avLst/>
          </a:prstGeom>
          <a:noFill/>
          <a:ln w="28575">
            <a:solidFill>
              <a:srgbClr val="C7CFE8"/>
            </a:solidFill>
            <a:prstDash val="solid"/>
            <a:tailEnd type="triangle"/>
          </a:ln>
        </p:spPr>
      </p:sp>
      <p:sp>
        <p:nvSpPr>
          <p:cNvPr id="28" name="Shape 23"/>
          <p:cNvSpPr/>
          <p:nvPr/>
        </p:nvSpPr>
        <p:spPr>
          <a:xfrm>
            <a:off x="9340596" y="2331720"/>
            <a:ext cx="2395728" cy="3017520"/>
          </a:xfrm>
          <a:prstGeom prst="roundRect">
            <a:avLst>
              <a:gd name="adj" fmla="val 3817"/>
            </a:avLst>
          </a:prstGeom>
          <a:solidFill>
            <a:srgbClr val="1E2761"/>
          </a:solidFill>
          <a:ln/>
          <a:effectLst>
            <a:outerShdw blurRad="76200" dist="25400" dir="5400000" algn="bl" rotWithShape="0">
              <a:srgbClr val="1E2761">
                <a:alpha val="12000"/>
              </a:srgbClr>
            </a:outerShdw>
          </a:effectLst>
        </p:spPr>
      </p:sp>
      <p:sp>
        <p:nvSpPr>
          <p:cNvPr id="29" name="Shape 24"/>
          <p:cNvSpPr/>
          <p:nvPr/>
        </p:nvSpPr>
        <p:spPr>
          <a:xfrm>
            <a:off x="10337292" y="2532888"/>
            <a:ext cx="402336" cy="402336"/>
          </a:xfrm>
          <a:prstGeom prst="ellipse">
            <a:avLst/>
          </a:prstGeom>
          <a:solidFill>
            <a:srgbClr val="D4A017"/>
          </a:solidFill>
          <a:ln/>
        </p:spPr>
      </p:sp>
      <p:sp>
        <p:nvSpPr>
          <p:cNvPr id="30" name="Text 25"/>
          <p:cNvSpPr/>
          <p:nvPr/>
        </p:nvSpPr>
        <p:spPr>
          <a:xfrm>
            <a:off x="10337292" y="2532888"/>
            <a:ext cx="402336" cy="40233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31" name="Shape 26"/>
          <p:cNvSpPr/>
          <p:nvPr/>
        </p:nvSpPr>
        <p:spPr>
          <a:xfrm>
            <a:off x="10149840" y="3108960"/>
            <a:ext cx="777240" cy="777240"/>
          </a:xfrm>
          <a:prstGeom prst="ellipse">
            <a:avLst/>
          </a:prstGeom>
          <a:solidFill>
            <a:srgbClr val="2A3A82"/>
          </a:solidFill>
          <a:ln/>
        </p:spPr>
      </p:sp>
      <p:pic>
        <p:nvPicPr>
          <p:cNvPr id="32" name="Image 3" descr="/home/claude/icons/trending_gold.png"/>
          <p:cNvPicPr>
            <a:picLocks noChangeAspect="1"/>
          </p:cNvPicPr>
          <p:nvPr/>
        </p:nvPicPr>
        <p:blipFill>
          <a:blip r:embed="rId6"/>
          <a:stretch>
            <a:fillRect/>
          </a:stretch>
        </p:blipFill>
        <p:spPr>
          <a:xfrm>
            <a:off x="10351922" y="3311042"/>
            <a:ext cx="373075" cy="373075"/>
          </a:xfrm>
          <a:prstGeom prst="rect">
            <a:avLst/>
          </a:prstGeom>
        </p:spPr>
      </p:pic>
      <p:sp>
        <p:nvSpPr>
          <p:cNvPr id="33" name="Text 27"/>
          <p:cNvSpPr/>
          <p:nvPr/>
        </p:nvSpPr>
        <p:spPr>
          <a:xfrm>
            <a:off x="9450324" y="4069080"/>
            <a:ext cx="2176272"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Ready for Analysis</a:t>
            </a:r>
            <a:endParaRPr lang="en-US" sz="1400" dirty="0"/>
          </a:p>
        </p:txBody>
      </p:sp>
      <p:sp>
        <p:nvSpPr>
          <p:cNvPr id="34" name="Text 28"/>
          <p:cNvSpPr/>
          <p:nvPr/>
        </p:nvSpPr>
        <p:spPr>
          <a:xfrm>
            <a:off x="9505188" y="4453128"/>
            <a:ext cx="2066544" cy="822960"/>
          </a:xfrm>
          <a:prstGeom prst="rect">
            <a:avLst/>
          </a:prstGeom>
          <a:noFill/>
          <a:ln/>
        </p:spPr>
        <p:txBody>
          <a:bodyPr wrap="square" lIns="0" tIns="0" rIns="0" bIns="0" rtlCol="0" anchor="t"/>
          <a:lstStyle/>
          <a:p>
            <a:pPr marL="0" indent="0" algn="ctr">
              <a:buNone/>
            </a:pPr>
            <a:r>
              <a:rPr lang="en-US" sz="1000" dirty="0">
                <a:solidFill>
                  <a:srgbClr val="D7DEF5"/>
                </a:solidFill>
                <a:latin typeface="Calibri" pitchFamily="34" charset="0"/>
                <a:ea typeface="Calibri" pitchFamily="34" charset="-122"/>
                <a:cs typeface="Calibri" pitchFamily="34" charset="-120"/>
              </a:rPr>
              <a:t>Clean, validated data is handed off for exploration and modeling.</a:t>
            </a:r>
            <a:endParaRPr lang="en-US" sz="1000" dirty="0"/>
          </a:p>
        </p:txBody>
      </p:sp>
      <p:sp>
        <p:nvSpPr>
          <p:cNvPr id="35" name="Text 29"/>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6" name="Text 3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Member 2 – Data Preprocessing &amp; EDA</a:t>
            </a:r>
            <a:endParaRPr lang="en-US" sz="28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Turning raw data into a clean, analysis-ready dataset</a:t>
            </a:r>
            <a:endParaRPr lang="en-US" sz="1300" dirty="0"/>
          </a:p>
        </p:txBody>
      </p:sp>
      <p:sp>
        <p:nvSpPr>
          <p:cNvPr id="4" name="Shape 2"/>
          <p:cNvSpPr/>
          <p:nvPr/>
        </p:nvSpPr>
        <p:spPr>
          <a:xfrm>
            <a:off x="548640" y="1691640"/>
            <a:ext cx="3749040" cy="4617720"/>
          </a:xfrm>
          <a:prstGeom prst="roundRect">
            <a:avLst>
              <a:gd name="adj" fmla="val 2439"/>
            </a:avLst>
          </a:prstGeom>
          <a:solidFill>
            <a:srgbClr val="1E2761"/>
          </a:solidFill>
          <a:ln/>
          <a:effectLst>
            <a:outerShdw blurRad="127000" dist="38100" dir="5400000" algn="bl" rotWithShape="0">
              <a:srgbClr val="1E2761">
                <a:alpha val="18000"/>
              </a:srgbClr>
            </a:outerShdw>
          </a:effectLst>
        </p:spPr>
      </p:sp>
      <p:sp>
        <p:nvSpPr>
          <p:cNvPr id="5" name="Shape 3"/>
          <p:cNvSpPr/>
          <p:nvPr/>
        </p:nvSpPr>
        <p:spPr>
          <a:xfrm>
            <a:off x="1737360" y="2194560"/>
            <a:ext cx="1371600" cy="1371600"/>
          </a:xfrm>
          <a:prstGeom prst="ellipse">
            <a:avLst/>
          </a:prstGeom>
          <a:solidFill>
            <a:srgbClr val="2A3A82"/>
          </a:solidFill>
          <a:ln w="25400">
            <a:solidFill>
              <a:srgbClr val="D4A017"/>
            </a:solidFill>
            <a:prstDash val="solid"/>
          </a:ln>
        </p:spPr>
      </p:sp>
      <p:pic>
        <p:nvPicPr>
          <p:cNvPr id="6" name="Image 0" descr="/home/claude/icons/user_gold.png"/>
          <p:cNvPicPr>
            <a:picLocks noChangeAspect="1"/>
          </p:cNvPicPr>
          <p:nvPr/>
        </p:nvPicPr>
        <p:blipFill>
          <a:blip r:embed="rId3"/>
          <a:stretch>
            <a:fillRect/>
          </a:stretch>
        </p:blipFill>
        <p:spPr>
          <a:xfrm>
            <a:off x="2034540" y="2491740"/>
            <a:ext cx="777240" cy="777240"/>
          </a:xfrm>
          <a:prstGeom prst="rect">
            <a:avLst/>
          </a:prstGeom>
        </p:spPr>
      </p:pic>
      <p:sp>
        <p:nvSpPr>
          <p:cNvPr id="7" name="Text 4"/>
          <p:cNvSpPr/>
          <p:nvPr/>
        </p:nvSpPr>
        <p:spPr>
          <a:xfrm>
            <a:off x="731520" y="3794760"/>
            <a:ext cx="33832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Member 2 Name</a:t>
            </a:r>
            <a:endParaRPr lang="en-US" sz="1800" dirty="0"/>
          </a:p>
        </p:txBody>
      </p:sp>
      <p:sp>
        <p:nvSpPr>
          <p:cNvPr id="8" name="Text 5"/>
          <p:cNvSpPr/>
          <p:nvPr/>
        </p:nvSpPr>
        <p:spPr>
          <a:xfrm>
            <a:off x="731520" y="4178808"/>
            <a:ext cx="3383280" cy="320040"/>
          </a:xfrm>
          <a:prstGeom prst="rect">
            <a:avLst/>
          </a:prstGeom>
          <a:noFill/>
          <a:ln/>
        </p:spPr>
        <p:txBody>
          <a:bodyPr wrap="square" lIns="0" tIns="0" rIns="0" bIns="0" rtlCol="0" anchor="ctr"/>
          <a:lstStyle/>
          <a:p>
            <a:pPr marL="0" indent="0" algn="ctr">
              <a:buNone/>
            </a:pPr>
            <a:r>
              <a:rPr lang="en-US" sz="1250" i="1" dirty="0">
                <a:solidFill>
                  <a:srgbClr val="D4A017"/>
                </a:solidFill>
                <a:latin typeface="Calibri" pitchFamily="34" charset="0"/>
                <a:ea typeface="Calibri" pitchFamily="34" charset="-122"/>
                <a:cs typeface="Calibri" pitchFamily="34" charset="-120"/>
              </a:rPr>
              <a:t>Data Preprocessing &amp; EDA</a:t>
            </a:r>
            <a:endParaRPr lang="en-US" sz="1250" dirty="0"/>
          </a:p>
        </p:txBody>
      </p:sp>
      <p:sp>
        <p:nvSpPr>
          <p:cNvPr id="9" name="Shape 6"/>
          <p:cNvSpPr/>
          <p:nvPr/>
        </p:nvSpPr>
        <p:spPr>
          <a:xfrm>
            <a:off x="1371600" y="4663440"/>
            <a:ext cx="2103120" cy="0"/>
          </a:xfrm>
          <a:prstGeom prst="line">
            <a:avLst/>
          </a:prstGeom>
          <a:noFill/>
          <a:ln w="12700">
            <a:solidFill>
              <a:srgbClr val="3A4A9E"/>
            </a:solidFill>
            <a:prstDash val="solid"/>
          </a:ln>
        </p:spPr>
      </p:sp>
      <p:sp>
        <p:nvSpPr>
          <p:cNvPr id="10" name="Shape 7"/>
          <p:cNvSpPr/>
          <p:nvPr/>
        </p:nvSpPr>
        <p:spPr>
          <a:xfrm>
            <a:off x="868680" y="4892040"/>
            <a:ext cx="329184" cy="329184"/>
          </a:xfrm>
          <a:prstGeom prst="ellipse">
            <a:avLst/>
          </a:prstGeom>
          <a:solidFill>
            <a:srgbClr val="2A3A82"/>
          </a:solidFill>
          <a:ln/>
        </p:spPr>
      </p:sp>
      <p:pic>
        <p:nvPicPr>
          <p:cNvPr id="11" name="Image 1" descr="/home/claude/icons/check_gold.png"/>
          <p:cNvPicPr>
            <a:picLocks noChangeAspect="1"/>
          </p:cNvPicPr>
          <p:nvPr/>
        </p:nvPicPr>
        <p:blipFill>
          <a:blip r:embed="rId4"/>
          <a:stretch>
            <a:fillRect/>
          </a:stretch>
        </p:blipFill>
        <p:spPr>
          <a:xfrm>
            <a:off x="954268" y="4977628"/>
            <a:ext cx="158008" cy="158008"/>
          </a:xfrm>
          <a:prstGeom prst="rect">
            <a:avLst/>
          </a:prstGeom>
        </p:spPr>
      </p:pic>
      <p:sp>
        <p:nvSpPr>
          <p:cNvPr id="12" name="Text 8"/>
          <p:cNvSpPr/>
          <p:nvPr/>
        </p:nvSpPr>
        <p:spPr>
          <a:xfrm>
            <a:off x="1325880" y="48737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Data Cleaning</a:t>
            </a:r>
            <a:endParaRPr lang="en-US" sz="1150" dirty="0"/>
          </a:p>
        </p:txBody>
      </p:sp>
      <p:sp>
        <p:nvSpPr>
          <p:cNvPr id="13" name="Shape 9"/>
          <p:cNvSpPr/>
          <p:nvPr/>
        </p:nvSpPr>
        <p:spPr>
          <a:xfrm>
            <a:off x="868680" y="5349240"/>
            <a:ext cx="329184" cy="329184"/>
          </a:xfrm>
          <a:prstGeom prst="ellipse">
            <a:avLst/>
          </a:prstGeom>
          <a:solidFill>
            <a:srgbClr val="2A3A82"/>
          </a:solidFill>
          <a:ln/>
        </p:spPr>
      </p:sp>
      <p:pic>
        <p:nvPicPr>
          <p:cNvPr id="14" name="Image 2" descr="/home/claude/icons/check_gold.png"/>
          <p:cNvPicPr>
            <a:picLocks noChangeAspect="1"/>
          </p:cNvPicPr>
          <p:nvPr/>
        </p:nvPicPr>
        <p:blipFill>
          <a:blip r:embed="rId4"/>
          <a:stretch>
            <a:fillRect/>
          </a:stretch>
        </p:blipFill>
        <p:spPr>
          <a:xfrm>
            <a:off x="954268" y="5434828"/>
            <a:ext cx="158008" cy="158008"/>
          </a:xfrm>
          <a:prstGeom prst="rect">
            <a:avLst/>
          </a:prstGeom>
        </p:spPr>
      </p:pic>
      <p:sp>
        <p:nvSpPr>
          <p:cNvPr id="15" name="Text 10"/>
          <p:cNvSpPr/>
          <p:nvPr/>
        </p:nvSpPr>
        <p:spPr>
          <a:xfrm>
            <a:off x="1325880" y="53309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EDA &amp; Visualization</a:t>
            </a:r>
            <a:endParaRPr lang="en-US" sz="1150" dirty="0"/>
          </a:p>
        </p:txBody>
      </p:sp>
      <p:sp>
        <p:nvSpPr>
          <p:cNvPr id="16" name="Shape 11"/>
          <p:cNvSpPr/>
          <p:nvPr/>
        </p:nvSpPr>
        <p:spPr>
          <a:xfrm>
            <a:off x="868680" y="5806440"/>
            <a:ext cx="329184" cy="329184"/>
          </a:xfrm>
          <a:prstGeom prst="ellipse">
            <a:avLst/>
          </a:prstGeom>
          <a:solidFill>
            <a:srgbClr val="2A3A82"/>
          </a:solidFill>
          <a:ln/>
        </p:spPr>
      </p:sp>
      <p:pic>
        <p:nvPicPr>
          <p:cNvPr id="17" name="Image 3" descr="/home/claude/icons/check_gold.png"/>
          <p:cNvPicPr>
            <a:picLocks noChangeAspect="1"/>
          </p:cNvPicPr>
          <p:nvPr/>
        </p:nvPicPr>
        <p:blipFill>
          <a:blip r:embed="rId4"/>
          <a:stretch>
            <a:fillRect/>
          </a:stretch>
        </p:blipFill>
        <p:spPr>
          <a:xfrm>
            <a:off x="954268" y="5892028"/>
            <a:ext cx="158008" cy="158008"/>
          </a:xfrm>
          <a:prstGeom prst="rect">
            <a:avLst/>
          </a:prstGeom>
        </p:spPr>
      </p:pic>
      <p:sp>
        <p:nvSpPr>
          <p:cNvPr id="18" name="Text 12"/>
          <p:cNvSpPr/>
          <p:nvPr/>
        </p:nvSpPr>
        <p:spPr>
          <a:xfrm>
            <a:off x="1325880" y="57881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Feature Prep</a:t>
            </a:r>
            <a:endParaRPr lang="en-US" sz="1150" dirty="0"/>
          </a:p>
        </p:txBody>
      </p:sp>
      <p:sp>
        <p:nvSpPr>
          <p:cNvPr id="19" name="Text 13"/>
          <p:cNvSpPr/>
          <p:nvPr/>
        </p:nvSpPr>
        <p:spPr>
          <a:xfrm>
            <a:off x="4709160" y="1691640"/>
            <a:ext cx="6931152"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Role Summary</a:t>
            </a:r>
            <a:endParaRPr lang="en-US" sz="1400" dirty="0"/>
          </a:p>
        </p:txBody>
      </p:sp>
      <p:sp>
        <p:nvSpPr>
          <p:cNvPr id="20" name="Text 14"/>
          <p:cNvSpPr/>
          <p:nvPr/>
        </p:nvSpPr>
        <p:spPr>
          <a:xfrm>
            <a:off x="4709160" y="2029968"/>
            <a:ext cx="6931152" cy="68580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Takes the raw 200-record dataset and prepares it for modeling — cleaning inconsistencies, exploring relationships between variables, and shaping features so patterns in customer behavior become visible.</a:t>
            </a:r>
            <a:endParaRPr lang="en-US" sz="1200" dirty="0"/>
          </a:p>
        </p:txBody>
      </p:sp>
      <p:sp>
        <p:nvSpPr>
          <p:cNvPr id="21" name="Shape 15"/>
          <p:cNvSpPr/>
          <p:nvPr/>
        </p:nvSpPr>
        <p:spPr>
          <a:xfrm>
            <a:off x="4709160" y="2880360"/>
            <a:ext cx="6931152" cy="960120"/>
          </a:xfrm>
          <a:prstGeom prst="roundRect">
            <a:avLst>
              <a:gd name="adj" fmla="val 7619"/>
            </a:avLst>
          </a:prstGeom>
          <a:solidFill>
            <a:srgbClr val="F7F8FC"/>
          </a:solidFill>
          <a:ln/>
        </p:spPr>
      </p:sp>
      <p:sp>
        <p:nvSpPr>
          <p:cNvPr id="22" name="Shape 16"/>
          <p:cNvSpPr/>
          <p:nvPr/>
        </p:nvSpPr>
        <p:spPr>
          <a:xfrm>
            <a:off x="4910328" y="3081528"/>
            <a:ext cx="548640" cy="548640"/>
          </a:xfrm>
          <a:prstGeom prst="ellipse">
            <a:avLst/>
          </a:prstGeom>
          <a:solidFill>
            <a:srgbClr val="1E2761"/>
          </a:solidFill>
          <a:ln/>
        </p:spPr>
      </p:sp>
      <p:pic>
        <p:nvPicPr>
          <p:cNvPr id="23" name="Image 4" descr="/home/claude/icons/check_white.png"/>
          <p:cNvPicPr>
            <a:picLocks noChangeAspect="1"/>
          </p:cNvPicPr>
          <p:nvPr/>
        </p:nvPicPr>
        <p:blipFill>
          <a:blip r:embed="rId5"/>
          <a:stretch>
            <a:fillRect/>
          </a:stretch>
        </p:blipFill>
        <p:spPr>
          <a:xfrm>
            <a:off x="5052974" y="3224174"/>
            <a:ext cx="263347" cy="263347"/>
          </a:xfrm>
          <a:prstGeom prst="rect">
            <a:avLst/>
          </a:prstGeom>
        </p:spPr>
      </p:pic>
      <p:sp>
        <p:nvSpPr>
          <p:cNvPr id="24" name="Text 17"/>
          <p:cNvSpPr/>
          <p:nvPr/>
        </p:nvSpPr>
        <p:spPr>
          <a:xfrm>
            <a:off x="5669280" y="299923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 Cleaning</a:t>
            </a:r>
            <a:endParaRPr lang="en-US" sz="1300" dirty="0"/>
          </a:p>
        </p:txBody>
      </p:sp>
      <p:sp>
        <p:nvSpPr>
          <p:cNvPr id="25" name="Text 18"/>
          <p:cNvSpPr/>
          <p:nvPr/>
        </p:nvSpPr>
        <p:spPr>
          <a:xfrm>
            <a:off x="5669280" y="331012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Checked for missing, duplicate, or inconsistent values across Age, Income, Purchase History, and Spending Score.</a:t>
            </a:r>
            <a:endParaRPr lang="en-US" sz="1050" dirty="0"/>
          </a:p>
        </p:txBody>
      </p:sp>
      <p:sp>
        <p:nvSpPr>
          <p:cNvPr id="26" name="Shape 19"/>
          <p:cNvSpPr/>
          <p:nvPr/>
        </p:nvSpPr>
        <p:spPr>
          <a:xfrm>
            <a:off x="4709160" y="3977640"/>
            <a:ext cx="6931152" cy="960120"/>
          </a:xfrm>
          <a:prstGeom prst="roundRect">
            <a:avLst>
              <a:gd name="adj" fmla="val 7619"/>
            </a:avLst>
          </a:prstGeom>
          <a:solidFill>
            <a:srgbClr val="F7F8FC"/>
          </a:solidFill>
          <a:ln/>
        </p:spPr>
      </p:sp>
      <p:sp>
        <p:nvSpPr>
          <p:cNvPr id="27" name="Shape 20"/>
          <p:cNvSpPr/>
          <p:nvPr/>
        </p:nvSpPr>
        <p:spPr>
          <a:xfrm>
            <a:off x="4910328" y="4178808"/>
            <a:ext cx="548640" cy="548640"/>
          </a:xfrm>
          <a:prstGeom prst="ellipse">
            <a:avLst/>
          </a:prstGeom>
          <a:solidFill>
            <a:srgbClr val="1E2761"/>
          </a:solidFill>
          <a:ln/>
        </p:spPr>
      </p:sp>
      <p:pic>
        <p:nvPicPr>
          <p:cNvPr id="28" name="Image 5" descr="/home/claude/icons/bar_white.png"/>
          <p:cNvPicPr>
            <a:picLocks noChangeAspect="1"/>
          </p:cNvPicPr>
          <p:nvPr/>
        </p:nvPicPr>
        <p:blipFill>
          <a:blip r:embed="rId6"/>
          <a:stretch>
            <a:fillRect/>
          </a:stretch>
        </p:blipFill>
        <p:spPr>
          <a:xfrm>
            <a:off x="5052974" y="4321454"/>
            <a:ext cx="263347" cy="263347"/>
          </a:xfrm>
          <a:prstGeom prst="rect">
            <a:avLst/>
          </a:prstGeom>
        </p:spPr>
      </p:pic>
      <p:sp>
        <p:nvSpPr>
          <p:cNvPr id="29" name="Text 21"/>
          <p:cNvSpPr/>
          <p:nvPr/>
        </p:nvSpPr>
        <p:spPr>
          <a:xfrm>
            <a:off x="5669280" y="409651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Exploratory Data Analysis</a:t>
            </a:r>
            <a:endParaRPr lang="en-US" sz="1300" dirty="0"/>
          </a:p>
        </p:txBody>
      </p:sp>
      <p:sp>
        <p:nvSpPr>
          <p:cNvPr id="30" name="Text 22"/>
          <p:cNvSpPr/>
          <p:nvPr/>
        </p:nvSpPr>
        <p:spPr>
          <a:xfrm>
            <a:off x="5669280" y="440740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Examined distributions and relationships (e.g. income vs. spending score) to surface early patterns.</a:t>
            </a:r>
            <a:endParaRPr lang="en-US" sz="1050" dirty="0"/>
          </a:p>
        </p:txBody>
      </p:sp>
      <p:sp>
        <p:nvSpPr>
          <p:cNvPr id="31" name="Shape 23"/>
          <p:cNvSpPr/>
          <p:nvPr/>
        </p:nvSpPr>
        <p:spPr>
          <a:xfrm>
            <a:off x="4709160" y="5074920"/>
            <a:ext cx="6931152" cy="960120"/>
          </a:xfrm>
          <a:prstGeom prst="roundRect">
            <a:avLst>
              <a:gd name="adj" fmla="val 7619"/>
            </a:avLst>
          </a:prstGeom>
          <a:solidFill>
            <a:srgbClr val="F7F8FC"/>
          </a:solidFill>
          <a:ln/>
        </p:spPr>
      </p:sp>
      <p:sp>
        <p:nvSpPr>
          <p:cNvPr id="32" name="Shape 24"/>
          <p:cNvSpPr/>
          <p:nvPr/>
        </p:nvSpPr>
        <p:spPr>
          <a:xfrm>
            <a:off x="4910328" y="5276088"/>
            <a:ext cx="548640" cy="548640"/>
          </a:xfrm>
          <a:prstGeom prst="ellipse">
            <a:avLst/>
          </a:prstGeom>
          <a:solidFill>
            <a:srgbClr val="1E2761"/>
          </a:solidFill>
          <a:ln/>
        </p:spPr>
      </p:sp>
      <p:pic>
        <p:nvPicPr>
          <p:cNvPr id="33" name="Image 6" descr="/home/claude/icons/grid_white.png"/>
          <p:cNvPicPr>
            <a:picLocks noChangeAspect="1"/>
          </p:cNvPicPr>
          <p:nvPr/>
        </p:nvPicPr>
        <p:blipFill>
          <a:blip r:embed="rId7"/>
          <a:stretch>
            <a:fillRect/>
          </a:stretch>
        </p:blipFill>
        <p:spPr>
          <a:xfrm>
            <a:off x="5052974" y="5418734"/>
            <a:ext cx="263347" cy="263347"/>
          </a:xfrm>
          <a:prstGeom prst="rect">
            <a:avLst/>
          </a:prstGeom>
        </p:spPr>
      </p:pic>
      <p:sp>
        <p:nvSpPr>
          <p:cNvPr id="34" name="Text 25"/>
          <p:cNvSpPr/>
          <p:nvPr/>
        </p:nvSpPr>
        <p:spPr>
          <a:xfrm>
            <a:off x="5669280" y="519379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Feature Preparation</a:t>
            </a:r>
            <a:endParaRPr lang="en-US" sz="1300" dirty="0"/>
          </a:p>
        </p:txBody>
      </p:sp>
      <p:sp>
        <p:nvSpPr>
          <p:cNvPr id="35" name="Text 26"/>
          <p:cNvSpPr/>
          <p:nvPr/>
        </p:nvSpPr>
        <p:spPr>
          <a:xfrm>
            <a:off x="5669280" y="550468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Structured and scaled variables so they are ready for clustering and segmentation.</a:t>
            </a:r>
            <a:endParaRPr lang="en-US" sz="1050" dirty="0"/>
          </a:p>
        </p:txBody>
      </p:sp>
      <p:sp>
        <p:nvSpPr>
          <p:cNvPr id="36" name="Text 2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7" name="Text 2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Cleaning</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Every record passed a four-point quality check before analysis</a:t>
            </a:r>
            <a:endParaRPr lang="en-US" sz="1300" dirty="0"/>
          </a:p>
        </p:txBody>
      </p:sp>
      <p:sp>
        <p:nvSpPr>
          <p:cNvPr id="4" name="Shape 2"/>
          <p:cNvSpPr/>
          <p:nvPr/>
        </p:nvSpPr>
        <p:spPr>
          <a:xfrm>
            <a:off x="548640" y="178308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5" name="Shape 3"/>
          <p:cNvSpPr/>
          <p:nvPr/>
        </p:nvSpPr>
        <p:spPr>
          <a:xfrm>
            <a:off x="804672" y="2039112"/>
            <a:ext cx="594360" cy="594360"/>
          </a:xfrm>
          <a:prstGeom prst="ellipse">
            <a:avLst/>
          </a:prstGeom>
          <a:solidFill>
            <a:srgbClr val="1E2761"/>
          </a:solidFill>
          <a:ln/>
        </p:spPr>
      </p:sp>
      <p:pic>
        <p:nvPicPr>
          <p:cNvPr id="6" name="Image 0" descr="/home/claude/icons/check_white.png"/>
          <p:cNvPicPr>
            <a:picLocks noChangeAspect="1"/>
          </p:cNvPicPr>
          <p:nvPr/>
        </p:nvPicPr>
        <p:blipFill>
          <a:blip r:embed="rId3"/>
          <a:stretch>
            <a:fillRect/>
          </a:stretch>
        </p:blipFill>
        <p:spPr>
          <a:xfrm>
            <a:off x="959206" y="2193646"/>
            <a:ext cx="285293" cy="285293"/>
          </a:xfrm>
          <a:prstGeom prst="rect">
            <a:avLst/>
          </a:prstGeom>
        </p:spPr>
      </p:pic>
      <p:sp>
        <p:nvSpPr>
          <p:cNvPr id="7" name="Text 4"/>
          <p:cNvSpPr/>
          <p:nvPr/>
        </p:nvSpPr>
        <p:spPr>
          <a:xfrm>
            <a:off x="1554480" y="1984248"/>
            <a:ext cx="3611880" cy="347472"/>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Missing Values</a:t>
            </a:r>
            <a:endParaRPr lang="en-US" sz="1500" dirty="0"/>
          </a:p>
        </p:txBody>
      </p:sp>
      <p:sp>
        <p:nvSpPr>
          <p:cNvPr id="8" name="Shape 5"/>
          <p:cNvSpPr/>
          <p:nvPr/>
        </p:nvSpPr>
        <p:spPr>
          <a:xfrm>
            <a:off x="4480560" y="2011680"/>
            <a:ext cx="1188720" cy="329184"/>
          </a:xfrm>
          <a:prstGeom prst="roundRect">
            <a:avLst>
              <a:gd name="adj" fmla="val 50000"/>
            </a:avLst>
          </a:prstGeom>
          <a:solidFill>
            <a:srgbClr val="E4EDE1"/>
          </a:solidFill>
          <a:ln/>
        </p:spPr>
      </p:sp>
      <p:sp>
        <p:nvSpPr>
          <p:cNvPr id="9" name="Text 6"/>
          <p:cNvSpPr/>
          <p:nvPr/>
        </p:nvSpPr>
        <p:spPr>
          <a:xfrm>
            <a:off x="4480560" y="2011680"/>
            <a:ext cx="1188720" cy="329184"/>
          </a:xfrm>
          <a:prstGeom prst="rect">
            <a:avLst/>
          </a:prstGeom>
          <a:noFill/>
          <a:ln/>
        </p:spPr>
        <p:txBody>
          <a:bodyPr wrap="square" lIns="0" tIns="0" rIns="0" bIns="0"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0 missing</a:t>
            </a:r>
            <a:endParaRPr lang="en-US" sz="950" dirty="0"/>
          </a:p>
        </p:txBody>
      </p:sp>
      <p:sp>
        <p:nvSpPr>
          <p:cNvPr id="10" name="Text 7"/>
          <p:cNvSpPr/>
          <p:nvPr/>
        </p:nvSpPr>
        <p:spPr>
          <a:xfrm>
            <a:off x="1554480" y="2404872"/>
            <a:ext cx="4114800" cy="11887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Scanned all 200 records across every field — no missing values found.</a:t>
            </a:r>
            <a:endParaRPr lang="en-US" sz="1150" dirty="0"/>
          </a:p>
        </p:txBody>
      </p:sp>
      <p:sp>
        <p:nvSpPr>
          <p:cNvPr id="11" name="Shape 8"/>
          <p:cNvSpPr/>
          <p:nvPr/>
        </p:nvSpPr>
        <p:spPr>
          <a:xfrm>
            <a:off x="6153912" y="178308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12" name="Shape 9"/>
          <p:cNvSpPr/>
          <p:nvPr/>
        </p:nvSpPr>
        <p:spPr>
          <a:xfrm>
            <a:off x="6409944" y="2039112"/>
            <a:ext cx="594360" cy="594360"/>
          </a:xfrm>
          <a:prstGeom prst="ellipse">
            <a:avLst/>
          </a:prstGeom>
          <a:solidFill>
            <a:srgbClr val="1E2761"/>
          </a:solidFill>
          <a:ln/>
        </p:spPr>
      </p:sp>
      <p:pic>
        <p:nvPicPr>
          <p:cNvPr id="13" name="Image 1" descr="/home/claude/icons/check_white.png"/>
          <p:cNvPicPr>
            <a:picLocks noChangeAspect="1"/>
          </p:cNvPicPr>
          <p:nvPr/>
        </p:nvPicPr>
        <p:blipFill>
          <a:blip r:embed="rId3"/>
          <a:stretch>
            <a:fillRect/>
          </a:stretch>
        </p:blipFill>
        <p:spPr>
          <a:xfrm>
            <a:off x="6564478" y="2193646"/>
            <a:ext cx="285293" cy="285293"/>
          </a:xfrm>
          <a:prstGeom prst="rect">
            <a:avLst/>
          </a:prstGeom>
        </p:spPr>
      </p:pic>
      <p:sp>
        <p:nvSpPr>
          <p:cNvPr id="14" name="Text 10"/>
          <p:cNvSpPr/>
          <p:nvPr/>
        </p:nvSpPr>
        <p:spPr>
          <a:xfrm>
            <a:off x="7159752" y="1984248"/>
            <a:ext cx="3611880" cy="347472"/>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Duplicate Check</a:t>
            </a:r>
            <a:endParaRPr lang="en-US" sz="1500" dirty="0"/>
          </a:p>
        </p:txBody>
      </p:sp>
      <p:sp>
        <p:nvSpPr>
          <p:cNvPr id="15" name="Shape 11"/>
          <p:cNvSpPr/>
          <p:nvPr/>
        </p:nvSpPr>
        <p:spPr>
          <a:xfrm>
            <a:off x="10085832" y="2011680"/>
            <a:ext cx="1188720" cy="329184"/>
          </a:xfrm>
          <a:prstGeom prst="roundRect">
            <a:avLst>
              <a:gd name="adj" fmla="val 50000"/>
            </a:avLst>
          </a:prstGeom>
          <a:solidFill>
            <a:srgbClr val="E4EDE1"/>
          </a:solidFill>
          <a:ln/>
        </p:spPr>
      </p:sp>
      <p:sp>
        <p:nvSpPr>
          <p:cNvPr id="16" name="Text 12"/>
          <p:cNvSpPr/>
          <p:nvPr/>
        </p:nvSpPr>
        <p:spPr>
          <a:xfrm>
            <a:off x="10085832" y="2011680"/>
            <a:ext cx="1188720" cy="329184"/>
          </a:xfrm>
          <a:prstGeom prst="rect">
            <a:avLst/>
          </a:prstGeom>
          <a:noFill/>
          <a:ln/>
        </p:spPr>
        <p:txBody>
          <a:bodyPr wrap="square" lIns="0" tIns="0" rIns="0" bIns="0"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0 duplicates</a:t>
            </a:r>
            <a:endParaRPr lang="en-US" sz="950" dirty="0"/>
          </a:p>
        </p:txBody>
      </p:sp>
      <p:sp>
        <p:nvSpPr>
          <p:cNvPr id="17" name="Text 13"/>
          <p:cNvSpPr/>
          <p:nvPr/>
        </p:nvSpPr>
        <p:spPr>
          <a:xfrm>
            <a:off x="7159752" y="2404872"/>
            <a:ext cx="4114800" cy="11887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Verified Customer IDs and full records for duplicates — none detected.</a:t>
            </a:r>
            <a:endParaRPr lang="en-US" sz="1150" dirty="0"/>
          </a:p>
        </p:txBody>
      </p:sp>
      <p:sp>
        <p:nvSpPr>
          <p:cNvPr id="18" name="Shape 14"/>
          <p:cNvSpPr/>
          <p:nvPr/>
        </p:nvSpPr>
        <p:spPr>
          <a:xfrm>
            <a:off x="548640" y="402336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19" name="Shape 15"/>
          <p:cNvSpPr/>
          <p:nvPr/>
        </p:nvSpPr>
        <p:spPr>
          <a:xfrm>
            <a:off x="804672" y="4279392"/>
            <a:ext cx="594360" cy="594360"/>
          </a:xfrm>
          <a:prstGeom prst="ellipse">
            <a:avLst/>
          </a:prstGeom>
          <a:solidFill>
            <a:srgbClr val="1E2761"/>
          </a:solidFill>
          <a:ln/>
        </p:spPr>
      </p:sp>
      <p:pic>
        <p:nvPicPr>
          <p:cNvPr id="20" name="Image 2" descr="/home/claude/icons/check_white.png"/>
          <p:cNvPicPr>
            <a:picLocks noChangeAspect="1"/>
          </p:cNvPicPr>
          <p:nvPr/>
        </p:nvPicPr>
        <p:blipFill>
          <a:blip r:embed="rId3"/>
          <a:stretch>
            <a:fillRect/>
          </a:stretch>
        </p:blipFill>
        <p:spPr>
          <a:xfrm>
            <a:off x="959206" y="4433926"/>
            <a:ext cx="285293" cy="285293"/>
          </a:xfrm>
          <a:prstGeom prst="rect">
            <a:avLst/>
          </a:prstGeom>
        </p:spPr>
      </p:pic>
      <p:sp>
        <p:nvSpPr>
          <p:cNvPr id="21" name="Text 16"/>
          <p:cNvSpPr/>
          <p:nvPr/>
        </p:nvSpPr>
        <p:spPr>
          <a:xfrm>
            <a:off x="1554480" y="4224528"/>
            <a:ext cx="3611880" cy="347472"/>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 Types</a:t>
            </a:r>
            <a:endParaRPr lang="en-US" sz="1500" dirty="0"/>
          </a:p>
        </p:txBody>
      </p:sp>
      <p:sp>
        <p:nvSpPr>
          <p:cNvPr id="22" name="Shape 17"/>
          <p:cNvSpPr/>
          <p:nvPr/>
        </p:nvSpPr>
        <p:spPr>
          <a:xfrm>
            <a:off x="4480560" y="4251960"/>
            <a:ext cx="1188720" cy="329184"/>
          </a:xfrm>
          <a:prstGeom prst="roundRect">
            <a:avLst>
              <a:gd name="adj" fmla="val 50000"/>
            </a:avLst>
          </a:prstGeom>
          <a:solidFill>
            <a:srgbClr val="E4EDE1"/>
          </a:solidFill>
          <a:ln/>
        </p:spPr>
      </p:sp>
      <p:sp>
        <p:nvSpPr>
          <p:cNvPr id="23" name="Text 18"/>
          <p:cNvSpPr/>
          <p:nvPr/>
        </p:nvSpPr>
        <p:spPr>
          <a:xfrm>
            <a:off x="4480560" y="4251960"/>
            <a:ext cx="1188720" cy="329184"/>
          </a:xfrm>
          <a:prstGeom prst="rect">
            <a:avLst/>
          </a:prstGeom>
          <a:noFill/>
          <a:ln/>
        </p:spPr>
        <p:txBody>
          <a:bodyPr wrap="square" lIns="0" tIns="0" rIns="0" bIns="0"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All correct</a:t>
            </a:r>
            <a:endParaRPr lang="en-US" sz="950" dirty="0"/>
          </a:p>
        </p:txBody>
      </p:sp>
      <p:sp>
        <p:nvSpPr>
          <p:cNvPr id="24" name="Text 19"/>
          <p:cNvSpPr/>
          <p:nvPr/>
        </p:nvSpPr>
        <p:spPr>
          <a:xfrm>
            <a:off x="1554480" y="4645152"/>
            <a:ext cx="4114800" cy="11887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Confirmed Age, Income, Purchase History, and Spending Score are correctly numeric.</a:t>
            </a:r>
            <a:endParaRPr lang="en-US" sz="1150" dirty="0"/>
          </a:p>
        </p:txBody>
      </p:sp>
      <p:sp>
        <p:nvSpPr>
          <p:cNvPr id="25" name="Shape 20"/>
          <p:cNvSpPr/>
          <p:nvPr/>
        </p:nvSpPr>
        <p:spPr>
          <a:xfrm>
            <a:off x="6153912" y="402336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26" name="Shape 21"/>
          <p:cNvSpPr/>
          <p:nvPr/>
        </p:nvSpPr>
        <p:spPr>
          <a:xfrm>
            <a:off x="6409944" y="4279392"/>
            <a:ext cx="594360" cy="594360"/>
          </a:xfrm>
          <a:prstGeom prst="ellipse">
            <a:avLst/>
          </a:prstGeom>
          <a:solidFill>
            <a:srgbClr val="1E2761"/>
          </a:solidFill>
          <a:ln/>
        </p:spPr>
      </p:sp>
      <p:pic>
        <p:nvPicPr>
          <p:cNvPr id="27" name="Image 3" descr="/home/claude/icons/check_white.png"/>
          <p:cNvPicPr>
            <a:picLocks noChangeAspect="1"/>
          </p:cNvPicPr>
          <p:nvPr/>
        </p:nvPicPr>
        <p:blipFill>
          <a:blip r:embed="rId3"/>
          <a:stretch>
            <a:fillRect/>
          </a:stretch>
        </p:blipFill>
        <p:spPr>
          <a:xfrm>
            <a:off x="6564478" y="4433926"/>
            <a:ext cx="285293" cy="285293"/>
          </a:xfrm>
          <a:prstGeom prst="rect">
            <a:avLst/>
          </a:prstGeom>
        </p:spPr>
      </p:pic>
      <p:sp>
        <p:nvSpPr>
          <p:cNvPr id="28" name="Text 22"/>
          <p:cNvSpPr/>
          <p:nvPr/>
        </p:nvSpPr>
        <p:spPr>
          <a:xfrm>
            <a:off x="7159752" y="4224528"/>
            <a:ext cx="3611880" cy="347472"/>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 Preparation</a:t>
            </a:r>
            <a:endParaRPr lang="en-US" sz="1500" dirty="0"/>
          </a:p>
        </p:txBody>
      </p:sp>
      <p:sp>
        <p:nvSpPr>
          <p:cNvPr id="29" name="Shape 23"/>
          <p:cNvSpPr/>
          <p:nvPr/>
        </p:nvSpPr>
        <p:spPr>
          <a:xfrm>
            <a:off x="10085832" y="4251960"/>
            <a:ext cx="1188720" cy="329184"/>
          </a:xfrm>
          <a:prstGeom prst="roundRect">
            <a:avLst>
              <a:gd name="adj" fmla="val 50000"/>
            </a:avLst>
          </a:prstGeom>
          <a:solidFill>
            <a:srgbClr val="E4EDE1"/>
          </a:solidFill>
          <a:ln/>
        </p:spPr>
      </p:sp>
      <p:sp>
        <p:nvSpPr>
          <p:cNvPr id="30" name="Text 24"/>
          <p:cNvSpPr/>
          <p:nvPr/>
        </p:nvSpPr>
        <p:spPr>
          <a:xfrm>
            <a:off x="10085832" y="4251960"/>
            <a:ext cx="1188720" cy="329184"/>
          </a:xfrm>
          <a:prstGeom prst="rect">
            <a:avLst/>
          </a:prstGeom>
          <a:noFill/>
          <a:ln/>
        </p:spPr>
        <p:txBody>
          <a:bodyPr wrap="square" lIns="0" tIns="0" rIns="0" bIns="0"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Ready</a:t>
            </a:r>
            <a:endParaRPr lang="en-US" sz="950" dirty="0"/>
          </a:p>
        </p:txBody>
      </p:sp>
      <p:sp>
        <p:nvSpPr>
          <p:cNvPr id="31" name="Text 25"/>
          <p:cNvSpPr/>
          <p:nvPr/>
        </p:nvSpPr>
        <p:spPr>
          <a:xfrm>
            <a:off x="7159752" y="4645152"/>
            <a:ext cx="4114800" cy="1188720"/>
          </a:xfrm>
          <a:prstGeom prst="rect">
            <a:avLst/>
          </a:prstGeom>
          <a:noFill/>
          <a:ln/>
        </p:spPr>
        <p:txBody>
          <a:bodyPr wrap="square" lIns="0" tIns="0" rIns="0" bIns="0" rtlCol="0" anchor="t"/>
          <a:lstStyle/>
          <a:p>
            <a:pPr marL="0" indent="0">
              <a:buNone/>
            </a:pPr>
            <a:r>
              <a:rPr lang="en-US" sz="1150" dirty="0">
                <a:solidFill>
                  <a:srgbClr val="6B7280"/>
                </a:solidFill>
                <a:latin typeface="Calibri" pitchFamily="34" charset="0"/>
                <a:ea typeface="Calibri" pitchFamily="34" charset="-122"/>
                <a:cs typeface="Calibri" pitchFamily="34" charset="-120"/>
              </a:rPr>
              <a:t>Standardized and structured fields so the dataset is ready for EDA and modeling.</a:t>
            </a:r>
            <a:endParaRPr lang="en-US" sz="1150" dirty="0"/>
          </a:p>
        </p:txBody>
      </p:sp>
      <p:sp>
        <p:nvSpPr>
          <p:cNvPr id="32" name="Text 26"/>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3" name="Text 2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Exploratory Data Analysis</a:t>
            </a:r>
            <a:endParaRPr lang="en-US" sz="2800" dirty="0"/>
          </a:p>
        </p:txBody>
      </p:sp>
      <p:sp>
        <p:nvSpPr>
          <p:cNvPr id="3" name="Text 1"/>
          <p:cNvSpPr/>
          <p:nvPr/>
        </p:nvSpPr>
        <p:spPr>
          <a:xfrm>
            <a:off x="548640" y="914400"/>
            <a:ext cx="11064240" cy="3200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Distributions and comparisons across the 200-customer dataset</a:t>
            </a:r>
            <a:endParaRPr lang="en-US" sz="1250" dirty="0"/>
          </a:p>
        </p:txBody>
      </p:sp>
      <p:sp>
        <p:nvSpPr>
          <p:cNvPr id="4" name="Text 2"/>
          <p:cNvSpPr/>
          <p:nvPr/>
        </p:nvSpPr>
        <p:spPr>
          <a:xfrm>
            <a:off x="502920" y="1417320"/>
            <a:ext cx="3611880" cy="274320"/>
          </a:xfrm>
          <a:prstGeom prst="rect">
            <a:avLst/>
          </a:prstGeom>
          <a:noFill/>
          <a:ln/>
        </p:spPr>
        <p:txBody>
          <a:bodyPr wrap="square" lIns="0" tIns="0" rIns="0" bIns="0" rtlCol="0" anchor="ctr"/>
          <a:lstStyle/>
          <a:p>
            <a:pPr marL="0" indent="0">
              <a:buNone/>
            </a:pPr>
            <a:r>
              <a:rPr lang="en-US" sz="1250" b="1" dirty="0">
                <a:solidFill>
                  <a:srgbClr val="161C4D"/>
                </a:solidFill>
                <a:latin typeface="Calibri" pitchFamily="34" charset="0"/>
                <a:ea typeface="Calibri" pitchFamily="34" charset="-122"/>
                <a:cs typeface="Calibri" pitchFamily="34" charset="-120"/>
              </a:rPr>
              <a:t>Income Distribution</a:t>
            </a:r>
            <a:endParaRPr lang="en-US" sz="1250" dirty="0"/>
          </a:p>
        </p:txBody>
      </p:sp>
      <p:graphicFrame>
        <p:nvGraphicFramePr>
          <p:cNvPr id="5" name="Chart 0"/>
          <p:cNvGraphicFramePr/>
          <p:nvPr/>
        </p:nvGraphicFramePr>
        <p:xfrm>
          <a:off x="502920" y="1737360"/>
          <a:ext cx="361188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02920" y="4142232"/>
            <a:ext cx="3611880" cy="777240"/>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Income is broadly spread, with the largest concentration of customers ($20K–$50K) at the lower end — reflecting the Budget segment.</a:t>
            </a:r>
            <a:endParaRPr lang="en-US" sz="950" dirty="0"/>
          </a:p>
        </p:txBody>
      </p:sp>
      <p:sp>
        <p:nvSpPr>
          <p:cNvPr id="7" name="Text 4"/>
          <p:cNvSpPr/>
          <p:nvPr/>
        </p:nvSpPr>
        <p:spPr>
          <a:xfrm>
            <a:off x="4297680" y="1417320"/>
            <a:ext cx="3611880" cy="274320"/>
          </a:xfrm>
          <a:prstGeom prst="rect">
            <a:avLst/>
          </a:prstGeom>
          <a:noFill/>
          <a:ln/>
        </p:spPr>
        <p:txBody>
          <a:bodyPr wrap="square" lIns="0" tIns="0" rIns="0" bIns="0" rtlCol="0" anchor="ctr"/>
          <a:lstStyle/>
          <a:p>
            <a:pPr marL="0" indent="0">
              <a:buNone/>
            </a:pPr>
            <a:r>
              <a:rPr lang="en-US" sz="1250" b="1" dirty="0">
                <a:solidFill>
                  <a:srgbClr val="161C4D"/>
                </a:solidFill>
                <a:latin typeface="Calibri" pitchFamily="34" charset="0"/>
                <a:ea typeface="Calibri" pitchFamily="34" charset="-122"/>
                <a:cs typeface="Calibri" pitchFamily="34" charset="-120"/>
              </a:rPr>
              <a:t>Spending Score Distribution</a:t>
            </a:r>
            <a:endParaRPr lang="en-US" sz="1250" dirty="0"/>
          </a:p>
        </p:txBody>
      </p:sp>
      <p:graphicFrame>
        <p:nvGraphicFramePr>
          <p:cNvPr id="8" name="Chart 1"/>
          <p:cNvGraphicFramePr/>
          <p:nvPr/>
        </p:nvGraphicFramePr>
        <p:xfrm>
          <a:off x="4297680" y="1737360"/>
          <a:ext cx="3611880" cy="233172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4297680" y="4142232"/>
            <a:ext cx="3611880" cy="777240"/>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Scores cluster in the 40–80 range (mean 58.4), showing most customers have moderate-to-high engagement.</a:t>
            </a:r>
            <a:endParaRPr lang="en-US" sz="950" dirty="0"/>
          </a:p>
        </p:txBody>
      </p:sp>
      <p:sp>
        <p:nvSpPr>
          <p:cNvPr id="10" name="Text 6"/>
          <p:cNvSpPr/>
          <p:nvPr/>
        </p:nvSpPr>
        <p:spPr>
          <a:xfrm>
            <a:off x="8092440" y="1417320"/>
            <a:ext cx="3611880" cy="274320"/>
          </a:xfrm>
          <a:prstGeom prst="rect">
            <a:avLst/>
          </a:prstGeom>
          <a:noFill/>
          <a:ln/>
        </p:spPr>
        <p:txBody>
          <a:bodyPr wrap="square" lIns="0" tIns="0" rIns="0" bIns="0" rtlCol="0" anchor="ctr"/>
          <a:lstStyle/>
          <a:p>
            <a:pPr marL="0" indent="0">
              <a:buNone/>
            </a:pPr>
            <a:r>
              <a:rPr lang="en-US" sz="1250" b="1" dirty="0">
                <a:solidFill>
                  <a:srgbClr val="161C4D"/>
                </a:solidFill>
                <a:latin typeface="Calibri" pitchFamily="34" charset="0"/>
                <a:ea typeface="Calibri" pitchFamily="34" charset="-122"/>
                <a:cs typeface="Calibri" pitchFamily="34" charset="-120"/>
              </a:rPr>
              <a:t>Purchase History Comparison</a:t>
            </a:r>
            <a:endParaRPr lang="en-US" sz="1250" dirty="0"/>
          </a:p>
        </p:txBody>
      </p:sp>
      <p:graphicFrame>
        <p:nvGraphicFramePr>
          <p:cNvPr id="11" name="Chart 2"/>
          <p:cNvGraphicFramePr/>
          <p:nvPr/>
        </p:nvGraphicFramePr>
        <p:xfrm>
          <a:off x="8092440" y="1737360"/>
          <a:ext cx="3611880" cy="2331720"/>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7"/>
          <p:cNvSpPr/>
          <p:nvPr/>
        </p:nvSpPr>
        <p:spPr>
          <a:xfrm>
            <a:off x="8092440" y="4142232"/>
            <a:ext cx="3611880" cy="777240"/>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Purchase frequency rises sharply by segment — VIP customers buy nearly 7x more often than Budget customers.</a:t>
            </a:r>
            <a:endParaRPr lang="en-US" sz="950" dirty="0"/>
          </a:p>
        </p:txBody>
      </p:sp>
      <p:sp>
        <p:nvSpPr>
          <p:cNvPr id="13" name="Text 8"/>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14" name="Text 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EDA Insights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Four takeaways from the exploratory charts</a:t>
            </a:r>
            <a:endParaRPr lang="en-US" sz="1300" dirty="0"/>
          </a:p>
        </p:txBody>
      </p:sp>
      <p:sp>
        <p:nvSpPr>
          <p:cNvPr id="4" name="Shape 2"/>
          <p:cNvSpPr/>
          <p:nvPr/>
        </p:nvSpPr>
        <p:spPr>
          <a:xfrm>
            <a:off x="548640" y="1783080"/>
            <a:ext cx="5349240" cy="2057400"/>
          </a:xfrm>
          <a:prstGeom prst="roundRect">
            <a:avLst>
              <a:gd name="adj" fmla="val 4000"/>
            </a:avLst>
          </a:prstGeom>
          <a:solidFill>
            <a:srgbClr val="1E2761"/>
          </a:solidFill>
          <a:ln/>
          <a:effectLst>
            <a:outerShdw blurRad="101600" dist="38100" dir="5400000" algn="bl" rotWithShape="0">
              <a:srgbClr val="1E2761">
                <a:alpha val="18000"/>
              </a:srgbClr>
            </a:outerShdw>
          </a:effectLst>
        </p:spPr>
      </p:sp>
      <p:sp>
        <p:nvSpPr>
          <p:cNvPr id="5" name="Shape 3"/>
          <p:cNvSpPr/>
          <p:nvPr/>
        </p:nvSpPr>
        <p:spPr>
          <a:xfrm>
            <a:off x="804672" y="2039112"/>
            <a:ext cx="594360" cy="594360"/>
          </a:xfrm>
          <a:prstGeom prst="ellipse">
            <a:avLst/>
          </a:prstGeom>
          <a:solidFill>
            <a:srgbClr val="FFFFFF"/>
          </a:solidFill>
          <a:ln/>
        </p:spPr>
      </p:sp>
      <p:pic>
        <p:nvPicPr>
          <p:cNvPr id="6" name="Image 0" descr="/home/claude/icons/dollar_navy.png"/>
          <p:cNvPicPr>
            <a:picLocks noChangeAspect="1"/>
          </p:cNvPicPr>
          <p:nvPr/>
        </p:nvPicPr>
        <p:blipFill>
          <a:blip r:embed="rId3"/>
          <a:stretch>
            <a:fillRect/>
          </a:stretch>
        </p:blipFill>
        <p:spPr>
          <a:xfrm>
            <a:off x="959206" y="2193646"/>
            <a:ext cx="285293" cy="285293"/>
          </a:xfrm>
          <a:prstGeom prst="rect">
            <a:avLst/>
          </a:prstGeom>
        </p:spPr>
      </p:pic>
      <p:sp>
        <p:nvSpPr>
          <p:cNvPr id="7" name="Text 4"/>
          <p:cNvSpPr/>
          <p:nvPr/>
        </p:nvSpPr>
        <p:spPr>
          <a:xfrm>
            <a:off x="1554480" y="203911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Income Skews Lower</a:t>
            </a:r>
            <a:endParaRPr lang="en-US" sz="1500" dirty="0"/>
          </a:p>
        </p:txBody>
      </p:sp>
      <p:sp>
        <p:nvSpPr>
          <p:cNvPr id="8" name="Text 5"/>
          <p:cNvSpPr/>
          <p:nvPr/>
        </p:nvSpPr>
        <p:spPr>
          <a:xfrm>
            <a:off x="841248" y="265176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The largest income group ($20K–$50K, 69 customers) sits at the low end, with fewer customers as income rises.</a:t>
            </a:r>
            <a:endParaRPr lang="en-US" sz="1150" dirty="0"/>
          </a:p>
        </p:txBody>
      </p:sp>
      <p:sp>
        <p:nvSpPr>
          <p:cNvPr id="9" name="Shape 6"/>
          <p:cNvSpPr/>
          <p:nvPr/>
        </p:nvSpPr>
        <p:spPr>
          <a:xfrm>
            <a:off x="6153912" y="1783080"/>
            <a:ext cx="5349240" cy="2057400"/>
          </a:xfrm>
          <a:prstGeom prst="roundRect">
            <a:avLst>
              <a:gd name="adj" fmla="val 4000"/>
            </a:avLst>
          </a:prstGeom>
          <a:solidFill>
            <a:srgbClr val="B8860B"/>
          </a:solidFill>
          <a:ln/>
          <a:effectLst>
            <a:outerShdw blurRad="101600" dist="38100" dir="5400000" algn="bl" rotWithShape="0">
              <a:srgbClr val="1E2761">
                <a:alpha val="18000"/>
              </a:srgbClr>
            </a:outerShdw>
          </a:effectLst>
        </p:spPr>
      </p:sp>
      <p:sp>
        <p:nvSpPr>
          <p:cNvPr id="10" name="Shape 7"/>
          <p:cNvSpPr/>
          <p:nvPr/>
        </p:nvSpPr>
        <p:spPr>
          <a:xfrm>
            <a:off x="6409944" y="2039112"/>
            <a:ext cx="594360" cy="594360"/>
          </a:xfrm>
          <a:prstGeom prst="ellipse">
            <a:avLst/>
          </a:prstGeom>
          <a:solidFill>
            <a:srgbClr val="FFFFFF"/>
          </a:solidFill>
          <a:ln/>
        </p:spPr>
      </p:sp>
      <p:pic>
        <p:nvPicPr>
          <p:cNvPr id="11" name="Image 1" descr="/home/claude/icons/target_navy.png"/>
          <p:cNvPicPr>
            <a:picLocks noChangeAspect="1"/>
          </p:cNvPicPr>
          <p:nvPr/>
        </p:nvPicPr>
        <p:blipFill>
          <a:blip r:embed="rId4"/>
          <a:stretch>
            <a:fillRect/>
          </a:stretch>
        </p:blipFill>
        <p:spPr>
          <a:xfrm>
            <a:off x="6564478" y="2193646"/>
            <a:ext cx="285293" cy="285293"/>
          </a:xfrm>
          <a:prstGeom prst="rect">
            <a:avLst/>
          </a:prstGeom>
        </p:spPr>
      </p:pic>
      <p:sp>
        <p:nvSpPr>
          <p:cNvPr id="12" name="Text 8"/>
          <p:cNvSpPr/>
          <p:nvPr/>
        </p:nvSpPr>
        <p:spPr>
          <a:xfrm>
            <a:off x="7159752" y="203911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Engagement Is Broad</a:t>
            </a:r>
            <a:endParaRPr lang="en-US" sz="1500" dirty="0"/>
          </a:p>
        </p:txBody>
      </p:sp>
      <p:sp>
        <p:nvSpPr>
          <p:cNvPr id="13" name="Text 9"/>
          <p:cNvSpPr/>
          <p:nvPr/>
        </p:nvSpPr>
        <p:spPr>
          <a:xfrm>
            <a:off x="6446520" y="265176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Spending scores cluster in the 40–80 range (mean 58.4) — most customers show moderate-to-high engagement.</a:t>
            </a:r>
            <a:endParaRPr lang="en-US" sz="1150" dirty="0"/>
          </a:p>
        </p:txBody>
      </p:sp>
      <p:sp>
        <p:nvSpPr>
          <p:cNvPr id="14" name="Shape 10"/>
          <p:cNvSpPr/>
          <p:nvPr/>
        </p:nvSpPr>
        <p:spPr>
          <a:xfrm>
            <a:off x="548640" y="4114800"/>
            <a:ext cx="5349240" cy="2057400"/>
          </a:xfrm>
          <a:prstGeom prst="roundRect">
            <a:avLst>
              <a:gd name="adj" fmla="val 4000"/>
            </a:avLst>
          </a:prstGeom>
          <a:solidFill>
            <a:srgbClr val="4A62A8"/>
          </a:solidFill>
          <a:ln/>
          <a:effectLst>
            <a:outerShdw blurRad="101600" dist="38100" dir="5400000" algn="bl" rotWithShape="0">
              <a:srgbClr val="1E2761">
                <a:alpha val="18000"/>
              </a:srgbClr>
            </a:outerShdw>
          </a:effectLst>
        </p:spPr>
      </p:sp>
      <p:sp>
        <p:nvSpPr>
          <p:cNvPr id="15" name="Shape 11"/>
          <p:cNvSpPr/>
          <p:nvPr/>
        </p:nvSpPr>
        <p:spPr>
          <a:xfrm>
            <a:off x="804672" y="4370832"/>
            <a:ext cx="594360" cy="594360"/>
          </a:xfrm>
          <a:prstGeom prst="ellipse">
            <a:avLst/>
          </a:prstGeom>
          <a:solidFill>
            <a:srgbClr val="FFFFFF"/>
          </a:solidFill>
          <a:ln/>
        </p:spPr>
      </p:sp>
      <p:pic>
        <p:nvPicPr>
          <p:cNvPr id="16" name="Image 2" descr="/home/claude/icons/bag_navy.png"/>
          <p:cNvPicPr>
            <a:picLocks noChangeAspect="1"/>
          </p:cNvPicPr>
          <p:nvPr/>
        </p:nvPicPr>
        <p:blipFill>
          <a:blip r:embed="rId5"/>
          <a:stretch>
            <a:fillRect/>
          </a:stretch>
        </p:blipFill>
        <p:spPr>
          <a:xfrm>
            <a:off x="959206" y="4525366"/>
            <a:ext cx="285293" cy="285293"/>
          </a:xfrm>
          <a:prstGeom prst="rect">
            <a:avLst/>
          </a:prstGeom>
        </p:spPr>
      </p:pic>
      <p:sp>
        <p:nvSpPr>
          <p:cNvPr id="17" name="Text 12"/>
          <p:cNvSpPr/>
          <p:nvPr/>
        </p:nvSpPr>
        <p:spPr>
          <a:xfrm>
            <a:off x="1554480" y="437083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Purchases Scale With Segment</a:t>
            </a:r>
            <a:endParaRPr lang="en-US" sz="1500" dirty="0"/>
          </a:p>
        </p:txBody>
      </p:sp>
      <p:sp>
        <p:nvSpPr>
          <p:cNvPr id="18" name="Text 13"/>
          <p:cNvSpPr/>
          <p:nvPr/>
        </p:nvSpPr>
        <p:spPr>
          <a:xfrm>
            <a:off x="841248" y="498348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Average purchase count climbs from 6 (Budget) to 40 (VIP) — nearly a 7x difference across segments.</a:t>
            </a:r>
            <a:endParaRPr lang="en-US" sz="1150" dirty="0"/>
          </a:p>
        </p:txBody>
      </p:sp>
      <p:sp>
        <p:nvSpPr>
          <p:cNvPr id="19" name="Shape 14"/>
          <p:cNvSpPr/>
          <p:nvPr/>
        </p:nvSpPr>
        <p:spPr>
          <a:xfrm>
            <a:off x="6153912" y="4114800"/>
            <a:ext cx="5349240" cy="2057400"/>
          </a:xfrm>
          <a:prstGeom prst="roundRect">
            <a:avLst>
              <a:gd name="adj" fmla="val 4000"/>
            </a:avLst>
          </a:prstGeom>
          <a:solidFill>
            <a:srgbClr val="2A3A82"/>
          </a:solidFill>
          <a:ln/>
          <a:effectLst>
            <a:outerShdw blurRad="101600" dist="38100" dir="5400000" algn="bl" rotWithShape="0">
              <a:srgbClr val="1E2761">
                <a:alpha val="18000"/>
              </a:srgbClr>
            </a:outerShdw>
          </a:effectLst>
        </p:spPr>
      </p:sp>
      <p:sp>
        <p:nvSpPr>
          <p:cNvPr id="20" name="Shape 15"/>
          <p:cNvSpPr/>
          <p:nvPr/>
        </p:nvSpPr>
        <p:spPr>
          <a:xfrm>
            <a:off x="6409944" y="4370832"/>
            <a:ext cx="594360" cy="594360"/>
          </a:xfrm>
          <a:prstGeom prst="ellipse">
            <a:avLst/>
          </a:prstGeom>
          <a:solidFill>
            <a:srgbClr val="FFFFFF"/>
          </a:solidFill>
          <a:ln/>
        </p:spPr>
      </p:sp>
      <p:pic>
        <p:nvPicPr>
          <p:cNvPr id="21" name="Image 3" descr="/home/claude/icons/trending_navy.png"/>
          <p:cNvPicPr>
            <a:picLocks noChangeAspect="1"/>
          </p:cNvPicPr>
          <p:nvPr/>
        </p:nvPicPr>
        <p:blipFill>
          <a:blip r:embed="rId6"/>
          <a:stretch>
            <a:fillRect/>
          </a:stretch>
        </p:blipFill>
        <p:spPr>
          <a:xfrm>
            <a:off x="6564478" y="4525366"/>
            <a:ext cx="285293" cy="285293"/>
          </a:xfrm>
          <a:prstGeom prst="rect">
            <a:avLst/>
          </a:prstGeom>
        </p:spPr>
      </p:pic>
      <p:sp>
        <p:nvSpPr>
          <p:cNvPr id="22" name="Text 16"/>
          <p:cNvSpPr/>
          <p:nvPr/>
        </p:nvSpPr>
        <p:spPr>
          <a:xfrm>
            <a:off x="7159752" y="437083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Income Drives Spending</a:t>
            </a:r>
            <a:endParaRPr lang="en-US" sz="1500" dirty="0"/>
          </a:p>
        </p:txBody>
      </p:sp>
      <p:sp>
        <p:nvSpPr>
          <p:cNvPr id="23" name="Text 17"/>
          <p:cNvSpPr/>
          <p:nvPr/>
        </p:nvSpPr>
        <p:spPr>
          <a:xfrm>
            <a:off x="6446520" y="498348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Income and Spending Score are strongly correlated (r = 0.88), making income a strong early predictor of behavior.</a:t>
            </a:r>
            <a:endParaRPr lang="en-US" sz="1150" dirty="0"/>
          </a:p>
        </p:txBody>
      </p:sp>
      <p:sp>
        <p:nvSpPr>
          <p:cNvPr id="24" name="Text 18"/>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25" name="Text 1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Member 3 – Machine Learning</a:t>
            </a:r>
            <a:endParaRPr lang="en-US" sz="28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Turning prepared data into the four customer segments</a:t>
            </a:r>
            <a:endParaRPr lang="en-US" sz="1300" dirty="0"/>
          </a:p>
        </p:txBody>
      </p:sp>
      <p:sp>
        <p:nvSpPr>
          <p:cNvPr id="4" name="Shape 2"/>
          <p:cNvSpPr/>
          <p:nvPr/>
        </p:nvSpPr>
        <p:spPr>
          <a:xfrm>
            <a:off x="548640" y="1691640"/>
            <a:ext cx="3749040" cy="4617720"/>
          </a:xfrm>
          <a:prstGeom prst="roundRect">
            <a:avLst>
              <a:gd name="adj" fmla="val 2439"/>
            </a:avLst>
          </a:prstGeom>
          <a:solidFill>
            <a:srgbClr val="1E2761"/>
          </a:solidFill>
          <a:ln/>
          <a:effectLst>
            <a:outerShdw blurRad="127000" dist="38100" dir="5400000" algn="bl" rotWithShape="0">
              <a:srgbClr val="1E2761">
                <a:alpha val="18000"/>
              </a:srgbClr>
            </a:outerShdw>
          </a:effectLst>
        </p:spPr>
      </p:sp>
      <p:sp>
        <p:nvSpPr>
          <p:cNvPr id="5" name="Shape 3"/>
          <p:cNvSpPr/>
          <p:nvPr/>
        </p:nvSpPr>
        <p:spPr>
          <a:xfrm>
            <a:off x="1737360" y="2194560"/>
            <a:ext cx="1371600" cy="1371600"/>
          </a:xfrm>
          <a:prstGeom prst="ellipse">
            <a:avLst/>
          </a:prstGeom>
          <a:solidFill>
            <a:srgbClr val="2A3A82"/>
          </a:solidFill>
          <a:ln w="25400">
            <a:solidFill>
              <a:srgbClr val="D4A017"/>
            </a:solidFill>
            <a:prstDash val="solid"/>
          </a:ln>
        </p:spPr>
      </p:sp>
      <p:pic>
        <p:nvPicPr>
          <p:cNvPr id="6" name="Image 0" descr="/home/claude/icons/user_gold.png"/>
          <p:cNvPicPr>
            <a:picLocks noChangeAspect="1"/>
          </p:cNvPicPr>
          <p:nvPr/>
        </p:nvPicPr>
        <p:blipFill>
          <a:blip r:embed="rId3"/>
          <a:stretch>
            <a:fillRect/>
          </a:stretch>
        </p:blipFill>
        <p:spPr>
          <a:xfrm>
            <a:off x="2034540" y="2491740"/>
            <a:ext cx="777240" cy="777240"/>
          </a:xfrm>
          <a:prstGeom prst="rect">
            <a:avLst/>
          </a:prstGeom>
        </p:spPr>
      </p:pic>
      <p:sp>
        <p:nvSpPr>
          <p:cNvPr id="7" name="Text 4"/>
          <p:cNvSpPr/>
          <p:nvPr/>
        </p:nvSpPr>
        <p:spPr>
          <a:xfrm>
            <a:off x="731520" y="3794760"/>
            <a:ext cx="33832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Member 3 Name</a:t>
            </a:r>
            <a:endParaRPr lang="en-US" sz="1800" dirty="0"/>
          </a:p>
        </p:txBody>
      </p:sp>
      <p:sp>
        <p:nvSpPr>
          <p:cNvPr id="8" name="Text 5"/>
          <p:cNvSpPr/>
          <p:nvPr/>
        </p:nvSpPr>
        <p:spPr>
          <a:xfrm>
            <a:off x="731520" y="4178808"/>
            <a:ext cx="3383280" cy="320040"/>
          </a:xfrm>
          <a:prstGeom prst="rect">
            <a:avLst/>
          </a:prstGeom>
          <a:noFill/>
          <a:ln/>
        </p:spPr>
        <p:txBody>
          <a:bodyPr wrap="square" lIns="0" tIns="0" rIns="0" bIns="0" rtlCol="0" anchor="ctr"/>
          <a:lstStyle/>
          <a:p>
            <a:pPr marL="0" indent="0" algn="ctr">
              <a:buNone/>
            </a:pPr>
            <a:r>
              <a:rPr lang="en-US" sz="1250" i="1" dirty="0">
                <a:solidFill>
                  <a:srgbClr val="D4A017"/>
                </a:solidFill>
                <a:latin typeface="Calibri" pitchFamily="34" charset="0"/>
                <a:ea typeface="Calibri" pitchFamily="34" charset="-122"/>
                <a:cs typeface="Calibri" pitchFamily="34" charset="-120"/>
              </a:rPr>
              <a:t>Machine Learning</a:t>
            </a:r>
            <a:endParaRPr lang="en-US" sz="1250" dirty="0"/>
          </a:p>
        </p:txBody>
      </p:sp>
      <p:sp>
        <p:nvSpPr>
          <p:cNvPr id="9" name="Shape 6"/>
          <p:cNvSpPr/>
          <p:nvPr/>
        </p:nvSpPr>
        <p:spPr>
          <a:xfrm>
            <a:off x="1371600" y="4663440"/>
            <a:ext cx="2103120" cy="0"/>
          </a:xfrm>
          <a:prstGeom prst="line">
            <a:avLst/>
          </a:prstGeom>
          <a:noFill/>
          <a:ln w="12700">
            <a:solidFill>
              <a:srgbClr val="3A4A9E"/>
            </a:solidFill>
            <a:prstDash val="solid"/>
          </a:ln>
        </p:spPr>
      </p:sp>
      <p:sp>
        <p:nvSpPr>
          <p:cNvPr id="10" name="Shape 7"/>
          <p:cNvSpPr/>
          <p:nvPr/>
        </p:nvSpPr>
        <p:spPr>
          <a:xfrm>
            <a:off x="868680" y="4892040"/>
            <a:ext cx="329184" cy="329184"/>
          </a:xfrm>
          <a:prstGeom prst="ellipse">
            <a:avLst/>
          </a:prstGeom>
          <a:solidFill>
            <a:srgbClr val="2A3A82"/>
          </a:solidFill>
          <a:ln/>
        </p:spPr>
      </p:sp>
      <p:pic>
        <p:nvPicPr>
          <p:cNvPr id="11" name="Image 1" descr="/home/claude/icons/check_gold.png"/>
          <p:cNvPicPr>
            <a:picLocks noChangeAspect="1"/>
          </p:cNvPicPr>
          <p:nvPr/>
        </p:nvPicPr>
        <p:blipFill>
          <a:blip r:embed="rId4"/>
          <a:stretch>
            <a:fillRect/>
          </a:stretch>
        </p:blipFill>
        <p:spPr>
          <a:xfrm>
            <a:off x="954268" y="4977628"/>
            <a:ext cx="158008" cy="158008"/>
          </a:xfrm>
          <a:prstGeom prst="rect">
            <a:avLst/>
          </a:prstGeom>
        </p:spPr>
      </p:pic>
      <p:sp>
        <p:nvSpPr>
          <p:cNvPr id="12" name="Text 8"/>
          <p:cNvSpPr/>
          <p:nvPr/>
        </p:nvSpPr>
        <p:spPr>
          <a:xfrm>
            <a:off x="1325880" y="48737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Model Selection</a:t>
            </a:r>
            <a:endParaRPr lang="en-US" sz="1150" dirty="0"/>
          </a:p>
        </p:txBody>
      </p:sp>
      <p:sp>
        <p:nvSpPr>
          <p:cNvPr id="13" name="Shape 9"/>
          <p:cNvSpPr/>
          <p:nvPr/>
        </p:nvSpPr>
        <p:spPr>
          <a:xfrm>
            <a:off x="868680" y="5349240"/>
            <a:ext cx="329184" cy="329184"/>
          </a:xfrm>
          <a:prstGeom prst="ellipse">
            <a:avLst/>
          </a:prstGeom>
          <a:solidFill>
            <a:srgbClr val="2A3A82"/>
          </a:solidFill>
          <a:ln/>
        </p:spPr>
      </p:sp>
      <p:pic>
        <p:nvPicPr>
          <p:cNvPr id="14" name="Image 2" descr="/home/claude/icons/check_gold.png"/>
          <p:cNvPicPr>
            <a:picLocks noChangeAspect="1"/>
          </p:cNvPicPr>
          <p:nvPr/>
        </p:nvPicPr>
        <p:blipFill>
          <a:blip r:embed="rId4"/>
          <a:stretch>
            <a:fillRect/>
          </a:stretch>
        </p:blipFill>
        <p:spPr>
          <a:xfrm>
            <a:off x="954268" y="5434828"/>
            <a:ext cx="158008" cy="158008"/>
          </a:xfrm>
          <a:prstGeom prst="rect">
            <a:avLst/>
          </a:prstGeom>
        </p:spPr>
      </p:pic>
      <p:sp>
        <p:nvSpPr>
          <p:cNvPr id="15" name="Text 10"/>
          <p:cNvSpPr/>
          <p:nvPr/>
        </p:nvSpPr>
        <p:spPr>
          <a:xfrm>
            <a:off x="1325880" y="53309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Clustering</a:t>
            </a:r>
            <a:endParaRPr lang="en-US" sz="1150" dirty="0"/>
          </a:p>
        </p:txBody>
      </p:sp>
      <p:sp>
        <p:nvSpPr>
          <p:cNvPr id="16" name="Shape 11"/>
          <p:cNvSpPr/>
          <p:nvPr/>
        </p:nvSpPr>
        <p:spPr>
          <a:xfrm>
            <a:off x="868680" y="5806440"/>
            <a:ext cx="329184" cy="329184"/>
          </a:xfrm>
          <a:prstGeom prst="ellipse">
            <a:avLst/>
          </a:prstGeom>
          <a:solidFill>
            <a:srgbClr val="2A3A82"/>
          </a:solidFill>
          <a:ln/>
        </p:spPr>
      </p:sp>
      <p:pic>
        <p:nvPicPr>
          <p:cNvPr id="17" name="Image 3" descr="/home/claude/icons/check_gold.png"/>
          <p:cNvPicPr>
            <a:picLocks noChangeAspect="1"/>
          </p:cNvPicPr>
          <p:nvPr/>
        </p:nvPicPr>
        <p:blipFill>
          <a:blip r:embed="rId4"/>
          <a:stretch>
            <a:fillRect/>
          </a:stretch>
        </p:blipFill>
        <p:spPr>
          <a:xfrm>
            <a:off x="954268" y="5892028"/>
            <a:ext cx="158008" cy="158008"/>
          </a:xfrm>
          <a:prstGeom prst="rect">
            <a:avLst/>
          </a:prstGeom>
        </p:spPr>
      </p:pic>
      <p:sp>
        <p:nvSpPr>
          <p:cNvPr id="18" name="Text 12"/>
          <p:cNvSpPr/>
          <p:nvPr/>
        </p:nvSpPr>
        <p:spPr>
          <a:xfrm>
            <a:off x="1325880" y="57881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Model Evaluation</a:t>
            </a:r>
            <a:endParaRPr lang="en-US" sz="1150" dirty="0"/>
          </a:p>
        </p:txBody>
      </p:sp>
      <p:sp>
        <p:nvSpPr>
          <p:cNvPr id="19" name="Text 13"/>
          <p:cNvSpPr/>
          <p:nvPr/>
        </p:nvSpPr>
        <p:spPr>
          <a:xfrm>
            <a:off x="4709160" y="1691640"/>
            <a:ext cx="6931152"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Role Summary</a:t>
            </a:r>
            <a:endParaRPr lang="en-US" sz="1400" dirty="0"/>
          </a:p>
        </p:txBody>
      </p:sp>
      <p:sp>
        <p:nvSpPr>
          <p:cNvPr id="20" name="Text 14"/>
          <p:cNvSpPr/>
          <p:nvPr/>
        </p:nvSpPr>
        <p:spPr>
          <a:xfrm>
            <a:off x="4709160" y="2029968"/>
            <a:ext cx="6931152" cy="68580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Applies clustering to the prepared dataset to group the 200 customers into meaningful segments — turning Age, Income, Purchase History, and Spending Score into the four customer profiles used throughout this deck.</a:t>
            </a:r>
            <a:endParaRPr lang="en-US" sz="1200" dirty="0"/>
          </a:p>
        </p:txBody>
      </p:sp>
      <p:sp>
        <p:nvSpPr>
          <p:cNvPr id="21" name="Shape 15"/>
          <p:cNvSpPr/>
          <p:nvPr/>
        </p:nvSpPr>
        <p:spPr>
          <a:xfrm>
            <a:off x="4709160" y="2880360"/>
            <a:ext cx="6931152" cy="960120"/>
          </a:xfrm>
          <a:prstGeom prst="roundRect">
            <a:avLst>
              <a:gd name="adj" fmla="val 7619"/>
            </a:avLst>
          </a:prstGeom>
          <a:solidFill>
            <a:srgbClr val="F7F8FC"/>
          </a:solidFill>
          <a:ln/>
        </p:spPr>
      </p:sp>
      <p:sp>
        <p:nvSpPr>
          <p:cNvPr id="22" name="Shape 16"/>
          <p:cNvSpPr/>
          <p:nvPr/>
        </p:nvSpPr>
        <p:spPr>
          <a:xfrm>
            <a:off x="4910328" y="3081528"/>
            <a:ext cx="548640" cy="548640"/>
          </a:xfrm>
          <a:prstGeom prst="ellipse">
            <a:avLst/>
          </a:prstGeom>
          <a:solidFill>
            <a:srgbClr val="1E2761"/>
          </a:solidFill>
          <a:ln/>
        </p:spPr>
      </p:sp>
      <p:pic>
        <p:nvPicPr>
          <p:cNvPr id="23" name="Image 4" descr="/home/claude/icons/grid_white.png"/>
          <p:cNvPicPr>
            <a:picLocks noChangeAspect="1"/>
          </p:cNvPicPr>
          <p:nvPr/>
        </p:nvPicPr>
        <p:blipFill>
          <a:blip r:embed="rId5"/>
          <a:stretch>
            <a:fillRect/>
          </a:stretch>
        </p:blipFill>
        <p:spPr>
          <a:xfrm>
            <a:off x="5052974" y="3224174"/>
            <a:ext cx="263347" cy="263347"/>
          </a:xfrm>
          <a:prstGeom prst="rect">
            <a:avLst/>
          </a:prstGeom>
        </p:spPr>
      </p:pic>
      <p:sp>
        <p:nvSpPr>
          <p:cNvPr id="24" name="Text 17"/>
          <p:cNvSpPr/>
          <p:nvPr/>
        </p:nvSpPr>
        <p:spPr>
          <a:xfrm>
            <a:off x="5669280" y="299923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Model Selection</a:t>
            </a:r>
            <a:endParaRPr lang="en-US" sz="1300" dirty="0"/>
          </a:p>
        </p:txBody>
      </p:sp>
      <p:sp>
        <p:nvSpPr>
          <p:cNvPr id="25" name="Text 18"/>
          <p:cNvSpPr/>
          <p:nvPr/>
        </p:nvSpPr>
        <p:spPr>
          <a:xfrm>
            <a:off x="5669280" y="331012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Chose a clustering approach suited to grouping customers by income and spending behavior.</a:t>
            </a:r>
            <a:endParaRPr lang="en-US" sz="1050" dirty="0"/>
          </a:p>
        </p:txBody>
      </p:sp>
      <p:sp>
        <p:nvSpPr>
          <p:cNvPr id="26" name="Shape 19"/>
          <p:cNvSpPr/>
          <p:nvPr/>
        </p:nvSpPr>
        <p:spPr>
          <a:xfrm>
            <a:off x="4709160" y="3977640"/>
            <a:ext cx="6931152" cy="960120"/>
          </a:xfrm>
          <a:prstGeom prst="roundRect">
            <a:avLst>
              <a:gd name="adj" fmla="val 7619"/>
            </a:avLst>
          </a:prstGeom>
          <a:solidFill>
            <a:srgbClr val="F7F8FC"/>
          </a:solidFill>
          <a:ln/>
        </p:spPr>
      </p:sp>
      <p:sp>
        <p:nvSpPr>
          <p:cNvPr id="27" name="Shape 20"/>
          <p:cNvSpPr/>
          <p:nvPr/>
        </p:nvSpPr>
        <p:spPr>
          <a:xfrm>
            <a:off x="4910328" y="4178808"/>
            <a:ext cx="548640" cy="548640"/>
          </a:xfrm>
          <a:prstGeom prst="ellipse">
            <a:avLst/>
          </a:prstGeom>
          <a:solidFill>
            <a:srgbClr val="1E2761"/>
          </a:solidFill>
          <a:ln/>
        </p:spPr>
      </p:sp>
      <p:pic>
        <p:nvPicPr>
          <p:cNvPr id="28" name="Image 5" descr="/home/claude/icons/pie_white.png"/>
          <p:cNvPicPr>
            <a:picLocks noChangeAspect="1"/>
          </p:cNvPicPr>
          <p:nvPr/>
        </p:nvPicPr>
        <p:blipFill>
          <a:blip r:embed="rId6"/>
          <a:stretch>
            <a:fillRect/>
          </a:stretch>
        </p:blipFill>
        <p:spPr>
          <a:xfrm>
            <a:off x="5052974" y="4321454"/>
            <a:ext cx="263347" cy="263347"/>
          </a:xfrm>
          <a:prstGeom prst="rect">
            <a:avLst/>
          </a:prstGeom>
        </p:spPr>
      </p:pic>
      <p:sp>
        <p:nvSpPr>
          <p:cNvPr id="29" name="Text 21"/>
          <p:cNvSpPr/>
          <p:nvPr/>
        </p:nvSpPr>
        <p:spPr>
          <a:xfrm>
            <a:off x="5669280" y="409651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Clustering</a:t>
            </a:r>
            <a:endParaRPr lang="en-US" sz="1300" dirty="0"/>
          </a:p>
        </p:txBody>
      </p:sp>
      <p:sp>
        <p:nvSpPr>
          <p:cNvPr id="30" name="Text 22"/>
          <p:cNvSpPr/>
          <p:nvPr/>
        </p:nvSpPr>
        <p:spPr>
          <a:xfrm>
            <a:off x="5669280" y="440740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Trained the model on prepared features to assign each customer to a segment: Budget, Regular, Premium, or VIP.</a:t>
            </a:r>
            <a:endParaRPr lang="en-US" sz="1050" dirty="0"/>
          </a:p>
        </p:txBody>
      </p:sp>
      <p:sp>
        <p:nvSpPr>
          <p:cNvPr id="31" name="Shape 23"/>
          <p:cNvSpPr/>
          <p:nvPr/>
        </p:nvSpPr>
        <p:spPr>
          <a:xfrm>
            <a:off x="4709160" y="5074920"/>
            <a:ext cx="6931152" cy="960120"/>
          </a:xfrm>
          <a:prstGeom prst="roundRect">
            <a:avLst>
              <a:gd name="adj" fmla="val 7619"/>
            </a:avLst>
          </a:prstGeom>
          <a:solidFill>
            <a:srgbClr val="F7F8FC"/>
          </a:solidFill>
          <a:ln/>
        </p:spPr>
      </p:sp>
      <p:sp>
        <p:nvSpPr>
          <p:cNvPr id="32" name="Shape 24"/>
          <p:cNvSpPr/>
          <p:nvPr/>
        </p:nvSpPr>
        <p:spPr>
          <a:xfrm>
            <a:off x="4910328" y="5276088"/>
            <a:ext cx="548640" cy="548640"/>
          </a:xfrm>
          <a:prstGeom prst="ellipse">
            <a:avLst/>
          </a:prstGeom>
          <a:solidFill>
            <a:srgbClr val="1E2761"/>
          </a:solidFill>
          <a:ln/>
        </p:spPr>
      </p:sp>
      <p:pic>
        <p:nvPicPr>
          <p:cNvPr id="33" name="Image 6" descr="/home/claude/icons/check_white.png"/>
          <p:cNvPicPr>
            <a:picLocks noChangeAspect="1"/>
          </p:cNvPicPr>
          <p:nvPr/>
        </p:nvPicPr>
        <p:blipFill>
          <a:blip r:embed="rId7"/>
          <a:stretch>
            <a:fillRect/>
          </a:stretch>
        </p:blipFill>
        <p:spPr>
          <a:xfrm>
            <a:off x="5052974" y="5418734"/>
            <a:ext cx="263347" cy="263347"/>
          </a:xfrm>
          <a:prstGeom prst="rect">
            <a:avLst/>
          </a:prstGeom>
        </p:spPr>
      </p:pic>
      <p:sp>
        <p:nvSpPr>
          <p:cNvPr id="34" name="Text 25"/>
          <p:cNvSpPr/>
          <p:nvPr/>
        </p:nvSpPr>
        <p:spPr>
          <a:xfrm>
            <a:off x="5669280" y="519379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Model Evaluation</a:t>
            </a:r>
            <a:endParaRPr lang="en-US" sz="1300" dirty="0"/>
          </a:p>
        </p:txBody>
      </p:sp>
      <p:sp>
        <p:nvSpPr>
          <p:cNvPr id="35" name="Text 26"/>
          <p:cNvSpPr/>
          <p:nvPr/>
        </p:nvSpPr>
        <p:spPr>
          <a:xfrm>
            <a:off x="5669280" y="550468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Validated that segments are distinct and meaningful by reviewing separation across key variables.</a:t>
            </a:r>
            <a:endParaRPr lang="en-US" sz="1050" dirty="0"/>
          </a:p>
        </p:txBody>
      </p:sp>
      <p:sp>
        <p:nvSpPr>
          <p:cNvPr id="36" name="Text 2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7" name="Text 2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K-Means Clustering</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The algorithm behind the four customer segments</a:t>
            </a:r>
            <a:endParaRPr lang="en-US" sz="1300" dirty="0"/>
          </a:p>
        </p:txBody>
      </p:sp>
      <p:sp>
        <p:nvSpPr>
          <p:cNvPr id="4" name="Shape 2"/>
          <p:cNvSpPr/>
          <p:nvPr/>
        </p:nvSpPr>
        <p:spPr>
          <a:xfrm>
            <a:off x="548640" y="1600200"/>
            <a:ext cx="11091672" cy="1051560"/>
          </a:xfrm>
          <a:prstGeom prst="roundRect">
            <a:avLst>
              <a:gd name="adj" fmla="val 6957"/>
            </a:avLst>
          </a:prstGeom>
          <a:solidFill>
            <a:srgbClr val="F7F8FC"/>
          </a:solidFill>
          <a:ln/>
        </p:spPr>
      </p:sp>
      <p:sp>
        <p:nvSpPr>
          <p:cNvPr id="5" name="Shape 3"/>
          <p:cNvSpPr/>
          <p:nvPr/>
        </p:nvSpPr>
        <p:spPr>
          <a:xfrm>
            <a:off x="777240" y="1819656"/>
            <a:ext cx="621792" cy="621792"/>
          </a:xfrm>
          <a:prstGeom prst="ellipse">
            <a:avLst/>
          </a:prstGeom>
          <a:solidFill>
            <a:srgbClr val="1E2761"/>
          </a:solidFill>
          <a:ln/>
        </p:spPr>
      </p:sp>
      <p:pic>
        <p:nvPicPr>
          <p:cNvPr id="6" name="Image 0" descr="/home/claude/icons/zap_white.png"/>
          <p:cNvPicPr>
            <a:picLocks noChangeAspect="1"/>
          </p:cNvPicPr>
          <p:nvPr/>
        </p:nvPicPr>
        <p:blipFill>
          <a:blip r:embed="rId3"/>
          <a:stretch>
            <a:fillRect/>
          </a:stretch>
        </p:blipFill>
        <p:spPr>
          <a:xfrm>
            <a:off x="938906" y="1981322"/>
            <a:ext cx="298460" cy="298460"/>
          </a:xfrm>
          <a:prstGeom prst="rect">
            <a:avLst/>
          </a:prstGeom>
        </p:spPr>
      </p:pic>
      <p:sp>
        <p:nvSpPr>
          <p:cNvPr id="7" name="Text 4"/>
          <p:cNvSpPr/>
          <p:nvPr/>
        </p:nvSpPr>
        <p:spPr>
          <a:xfrm>
            <a:off x="1600200" y="1673352"/>
            <a:ext cx="9829800" cy="914400"/>
          </a:xfrm>
          <a:prstGeom prst="rect">
            <a:avLst/>
          </a:prstGeom>
          <a:noFill/>
          <a:ln/>
        </p:spPr>
        <p:txBody>
          <a:bodyPr wrap="square" lIns="0" tIns="0" rIns="0" bIns="0" rtlCol="0" anchor="ctr"/>
          <a:lstStyle/>
          <a:p>
            <a:pPr marL="0" indent="0">
              <a:buNone/>
            </a:pPr>
            <a:r>
              <a:rPr lang="en-US" sz="1250" dirty="0">
                <a:solidFill>
                  <a:srgbClr val="161C4D"/>
                </a:solidFill>
                <a:latin typeface="Calibri" pitchFamily="34" charset="0"/>
                <a:ea typeface="Calibri" pitchFamily="34" charset="-122"/>
                <a:cs typeface="Calibri" pitchFamily="34" charset="-120"/>
              </a:rPr>
              <a:t>In simple terms: K-Means looks at each customer's data — like income and spending score — and groups together the customers who look most alike. It repeats this process, adjusting the groups each time, until customers within each group are as similar to each other as possible.</a:t>
            </a:r>
            <a:endParaRPr lang="en-US" sz="1250" dirty="0"/>
          </a:p>
        </p:txBody>
      </p:sp>
      <p:sp>
        <p:nvSpPr>
          <p:cNvPr id="8" name="Shape 5"/>
          <p:cNvSpPr/>
          <p:nvPr/>
        </p:nvSpPr>
        <p:spPr>
          <a:xfrm>
            <a:off x="745236" y="3063240"/>
            <a:ext cx="3108960" cy="3063240"/>
          </a:xfrm>
          <a:prstGeom prst="roundRect">
            <a:avLst>
              <a:gd name="adj" fmla="val 2985"/>
            </a:avLst>
          </a:prstGeom>
          <a:solidFill>
            <a:srgbClr val="F7F8FC"/>
          </a:solidFill>
          <a:ln/>
          <a:effectLst>
            <a:outerShdw blurRad="88900" dist="25400" dir="5400000" algn="bl" rotWithShape="0">
              <a:srgbClr val="1E2761">
                <a:alpha val="14000"/>
              </a:srgbClr>
            </a:outerShdw>
          </a:effectLst>
        </p:spPr>
      </p:sp>
      <p:sp>
        <p:nvSpPr>
          <p:cNvPr id="9" name="Shape 6"/>
          <p:cNvSpPr/>
          <p:nvPr/>
        </p:nvSpPr>
        <p:spPr>
          <a:xfrm>
            <a:off x="2098548" y="3264408"/>
            <a:ext cx="402336" cy="402336"/>
          </a:xfrm>
          <a:prstGeom prst="ellipse">
            <a:avLst/>
          </a:prstGeom>
          <a:solidFill>
            <a:srgbClr val="1E2761"/>
          </a:solidFill>
          <a:ln/>
        </p:spPr>
      </p:sp>
      <p:sp>
        <p:nvSpPr>
          <p:cNvPr id="10" name="Text 7"/>
          <p:cNvSpPr/>
          <p:nvPr/>
        </p:nvSpPr>
        <p:spPr>
          <a:xfrm>
            <a:off x="2098548" y="32644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Shape 8"/>
          <p:cNvSpPr/>
          <p:nvPr/>
        </p:nvSpPr>
        <p:spPr>
          <a:xfrm>
            <a:off x="1888236" y="3886200"/>
            <a:ext cx="822960" cy="822960"/>
          </a:xfrm>
          <a:prstGeom prst="ellipse">
            <a:avLst/>
          </a:prstGeom>
          <a:solidFill>
            <a:srgbClr val="1E2761"/>
          </a:solidFill>
          <a:ln/>
        </p:spPr>
      </p:sp>
      <p:pic>
        <p:nvPicPr>
          <p:cNvPr id="12" name="Image 1" descr="/home/claude/icons/database_white.png"/>
          <p:cNvPicPr>
            <a:picLocks noChangeAspect="1"/>
          </p:cNvPicPr>
          <p:nvPr/>
        </p:nvPicPr>
        <p:blipFill>
          <a:blip r:embed="rId4"/>
          <a:stretch>
            <a:fillRect/>
          </a:stretch>
        </p:blipFill>
        <p:spPr>
          <a:xfrm>
            <a:off x="2102206" y="4100170"/>
            <a:ext cx="395021" cy="395021"/>
          </a:xfrm>
          <a:prstGeom prst="rect">
            <a:avLst/>
          </a:prstGeom>
        </p:spPr>
      </p:pic>
      <p:sp>
        <p:nvSpPr>
          <p:cNvPr id="13" name="Text 9"/>
          <p:cNvSpPr/>
          <p:nvPr/>
        </p:nvSpPr>
        <p:spPr>
          <a:xfrm>
            <a:off x="882396" y="4937760"/>
            <a:ext cx="2834640"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Input Data</a:t>
            </a:r>
            <a:endParaRPr lang="en-US" sz="1500" dirty="0"/>
          </a:p>
        </p:txBody>
      </p:sp>
      <p:sp>
        <p:nvSpPr>
          <p:cNvPr id="14" name="Text 10"/>
          <p:cNvSpPr/>
          <p:nvPr/>
        </p:nvSpPr>
        <p:spPr>
          <a:xfrm>
            <a:off x="946404" y="5330952"/>
            <a:ext cx="2706624" cy="7315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Age, income, purchase history, and spending score for all 200 customers.</a:t>
            </a:r>
            <a:endParaRPr lang="en-US" sz="1050" dirty="0"/>
          </a:p>
        </p:txBody>
      </p:sp>
      <p:sp>
        <p:nvSpPr>
          <p:cNvPr id="15" name="Shape 11"/>
          <p:cNvSpPr/>
          <p:nvPr/>
        </p:nvSpPr>
        <p:spPr>
          <a:xfrm>
            <a:off x="3945636" y="3977640"/>
            <a:ext cx="502920" cy="0"/>
          </a:xfrm>
          <a:prstGeom prst="line">
            <a:avLst/>
          </a:prstGeom>
          <a:noFill/>
          <a:ln w="31750">
            <a:solidFill>
              <a:srgbClr val="C7CFE8"/>
            </a:solidFill>
            <a:prstDash val="solid"/>
            <a:tailEnd type="triangle"/>
          </a:ln>
        </p:spPr>
      </p:sp>
      <p:sp>
        <p:nvSpPr>
          <p:cNvPr id="16" name="Shape 12"/>
          <p:cNvSpPr/>
          <p:nvPr/>
        </p:nvSpPr>
        <p:spPr>
          <a:xfrm>
            <a:off x="4539996" y="3063240"/>
            <a:ext cx="3108960" cy="3063240"/>
          </a:xfrm>
          <a:prstGeom prst="roundRect">
            <a:avLst>
              <a:gd name="adj" fmla="val 2985"/>
            </a:avLst>
          </a:prstGeom>
          <a:solidFill>
            <a:srgbClr val="1E2761"/>
          </a:solidFill>
          <a:ln/>
          <a:effectLst>
            <a:outerShdw blurRad="88900" dist="25400" dir="5400000" algn="bl" rotWithShape="0">
              <a:srgbClr val="1E2761">
                <a:alpha val="14000"/>
              </a:srgbClr>
            </a:outerShdw>
          </a:effectLst>
        </p:spPr>
      </p:sp>
      <p:sp>
        <p:nvSpPr>
          <p:cNvPr id="17" name="Shape 13"/>
          <p:cNvSpPr/>
          <p:nvPr/>
        </p:nvSpPr>
        <p:spPr>
          <a:xfrm>
            <a:off x="5893308" y="3264408"/>
            <a:ext cx="402336" cy="402336"/>
          </a:xfrm>
          <a:prstGeom prst="ellipse">
            <a:avLst/>
          </a:prstGeom>
          <a:solidFill>
            <a:srgbClr val="D4A017"/>
          </a:solidFill>
          <a:ln/>
        </p:spPr>
      </p:sp>
      <p:sp>
        <p:nvSpPr>
          <p:cNvPr id="18" name="Text 14"/>
          <p:cNvSpPr/>
          <p:nvPr/>
        </p:nvSpPr>
        <p:spPr>
          <a:xfrm>
            <a:off x="5893308" y="3264408"/>
            <a:ext cx="402336" cy="40233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9" name="Shape 15"/>
          <p:cNvSpPr/>
          <p:nvPr/>
        </p:nvSpPr>
        <p:spPr>
          <a:xfrm>
            <a:off x="5682996" y="3886200"/>
            <a:ext cx="822960" cy="822960"/>
          </a:xfrm>
          <a:prstGeom prst="ellipse">
            <a:avLst/>
          </a:prstGeom>
          <a:solidFill>
            <a:srgbClr val="2A3A82"/>
          </a:solidFill>
          <a:ln/>
        </p:spPr>
      </p:sp>
      <p:pic>
        <p:nvPicPr>
          <p:cNvPr id="20" name="Image 2" descr="/home/claude/icons/grid_gold.png"/>
          <p:cNvPicPr>
            <a:picLocks noChangeAspect="1"/>
          </p:cNvPicPr>
          <p:nvPr/>
        </p:nvPicPr>
        <p:blipFill>
          <a:blip r:embed="rId5"/>
          <a:stretch>
            <a:fillRect/>
          </a:stretch>
        </p:blipFill>
        <p:spPr>
          <a:xfrm>
            <a:off x="5896966" y="4100170"/>
            <a:ext cx="395021" cy="395021"/>
          </a:xfrm>
          <a:prstGeom prst="rect">
            <a:avLst/>
          </a:prstGeom>
        </p:spPr>
      </p:pic>
      <p:sp>
        <p:nvSpPr>
          <p:cNvPr id="21" name="Text 16"/>
          <p:cNvSpPr/>
          <p:nvPr/>
        </p:nvSpPr>
        <p:spPr>
          <a:xfrm>
            <a:off x="4677156" y="4937760"/>
            <a:ext cx="283464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K-Means</a:t>
            </a:r>
            <a:endParaRPr lang="en-US" sz="1500" dirty="0"/>
          </a:p>
        </p:txBody>
      </p:sp>
      <p:sp>
        <p:nvSpPr>
          <p:cNvPr id="22" name="Text 17"/>
          <p:cNvSpPr/>
          <p:nvPr/>
        </p:nvSpPr>
        <p:spPr>
          <a:xfrm>
            <a:off x="4741164" y="5330952"/>
            <a:ext cx="2706624" cy="731520"/>
          </a:xfrm>
          <a:prstGeom prst="rect">
            <a:avLst/>
          </a:prstGeom>
          <a:noFill/>
          <a:ln/>
        </p:spPr>
        <p:txBody>
          <a:bodyPr wrap="square" lIns="0" tIns="0" rIns="0" bIns="0" rtlCol="0" anchor="t"/>
          <a:lstStyle/>
          <a:p>
            <a:pPr marL="0" indent="0" algn="ctr">
              <a:buNone/>
            </a:pPr>
            <a:r>
              <a:rPr lang="en-US" sz="1050" dirty="0">
                <a:solidFill>
                  <a:srgbClr val="D7DEF5"/>
                </a:solidFill>
                <a:latin typeface="Calibri" pitchFamily="34" charset="0"/>
                <a:ea typeface="Calibri" pitchFamily="34" charset="-122"/>
                <a:cs typeface="Calibri" pitchFamily="34" charset="-120"/>
              </a:rPr>
              <a:t>The algorithm groups customers by similarity, minimizing differences within each cluster.</a:t>
            </a:r>
            <a:endParaRPr lang="en-US" sz="1050" dirty="0"/>
          </a:p>
        </p:txBody>
      </p:sp>
      <p:sp>
        <p:nvSpPr>
          <p:cNvPr id="23" name="Shape 18"/>
          <p:cNvSpPr/>
          <p:nvPr/>
        </p:nvSpPr>
        <p:spPr>
          <a:xfrm>
            <a:off x="7740396" y="3977640"/>
            <a:ext cx="502920" cy="0"/>
          </a:xfrm>
          <a:prstGeom prst="line">
            <a:avLst/>
          </a:prstGeom>
          <a:noFill/>
          <a:ln w="31750">
            <a:solidFill>
              <a:srgbClr val="C7CFE8"/>
            </a:solidFill>
            <a:prstDash val="solid"/>
            <a:tailEnd type="triangle"/>
          </a:ln>
        </p:spPr>
      </p:sp>
      <p:sp>
        <p:nvSpPr>
          <p:cNvPr id="24" name="Shape 19"/>
          <p:cNvSpPr/>
          <p:nvPr/>
        </p:nvSpPr>
        <p:spPr>
          <a:xfrm>
            <a:off x="8334756" y="3063240"/>
            <a:ext cx="3108960" cy="3063240"/>
          </a:xfrm>
          <a:prstGeom prst="roundRect">
            <a:avLst>
              <a:gd name="adj" fmla="val 2985"/>
            </a:avLst>
          </a:prstGeom>
          <a:solidFill>
            <a:srgbClr val="F7F8FC"/>
          </a:solidFill>
          <a:ln/>
          <a:effectLst>
            <a:outerShdw blurRad="88900" dist="25400" dir="5400000" algn="bl" rotWithShape="0">
              <a:srgbClr val="1E2761">
                <a:alpha val="14000"/>
              </a:srgbClr>
            </a:outerShdw>
          </a:effectLst>
        </p:spPr>
      </p:sp>
      <p:sp>
        <p:nvSpPr>
          <p:cNvPr id="25" name="Shape 20"/>
          <p:cNvSpPr/>
          <p:nvPr/>
        </p:nvSpPr>
        <p:spPr>
          <a:xfrm>
            <a:off x="9688068" y="3264408"/>
            <a:ext cx="402336" cy="402336"/>
          </a:xfrm>
          <a:prstGeom prst="ellipse">
            <a:avLst/>
          </a:prstGeom>
          <a:solidFill>
            <a:srgbClr val="1E2761"/>
          </a:solidFill>
          <a:ln/>
        </p:spPr>
      </p:sp>
      <p:sp>
        <p:nvSpPr>
          <p:cNvPr id="26" name="Text 21"/>
          <p:cNvSpPr/>
          <p:nvPr/>
        </p:nvSpPr>
        <p:spPr>
          <a:xfrm>
            <a:off x="9688068" y="326440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Shape 22"/>
          <p:cNvSpPr/>
          <p:nvPr/>
        </p:nvSpPr>
        <p:spPr>
          <a:xfrm>
            <a:off x="9477756" y="3886200"/>
            <a:ext cx="822960" cy="822960"/>
          </a:xfrm>
          <a:prstGeom prst="ellipse">
            <a:avLst/>
          </a:prstGeom>
          <a:solidFill>
            <a:srgbClr val="1E2761"/>
          </a:solidFill>
          <a:ln/>
        </p:spPr>
      </p:sp>
      <p:pic>
        <p:nvPicPr>
          <p:cNvPr id="28" name="Image 3" descr="/home/claude/icons/users_white.png"/>
          <p:cNvPicPr>
            <a:picLocks noChangeAspect="1"/>
          </p:cNvPicPr>
          <p:nvPr/>
        </p:nvPicPr>
        <p:blipFill>
          <a:blip r:embed="rId6"/>
          <a:stretch>
            <a:fillRect/>
          </a:stretch>
        </p:blipFill>
        <p:spPr>
          <a:xfrm>
            <a:off x="9691726" y="4100170"/>
            <a:ext cx="395021" cy="395021"/>
          </a:xfrm>
          <a:prstGeom prst="rect">
            <a:avLst/>
          </a:prstGeom>
        </p:spPr>
      </p:pic>
      <p:sp>
        <p:nvSpPr>
          <p:cNvPr id="29" name="Text 23"/>
          <p:cNvSpPr/>
          <p:nvPr/>
        </p:nvSpPr>
        <p:spPr>
          <a:xfrm>
            <a:off x="8471916" y="4937760"/>
            <a:ext cx="2834640" cy="3657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Customer Groups</a:t>
            </a:r>
            <a:endParaRPr lang="en-US" sz="1500" dirty="0"/>
          </a:p>
        </p:txBody>
      </p:sp>
      <p:sp>
        <p:nvSpPr>
          <p:cNvPr id="30" name="Text 24"/>
          <p:cNvSpPr/>
          <p:nvPr/>
        </p:nvSpPr>
        <p:spPr>
          <a:xfrm>
            <a:off x="8535924" y="5330952"/>
            <a:ext cx="2706624" cy="731520"/>
          </a:xfrm>
          <a:prstGeom prst="rect">
            <a:avLst/>
          </a:prstGeom>
          <a:noFill/>
          <a:ln/>
        </p:spPr>
        <p:txBody>
          <a:bodyPr wrap="square" lIns="0" tIns="0" rIns="0" bIns="0" rtlCol="0" anchor="t"/>
          <a:lstStyle/>
          <a:p>
            <a:pPr marL="0" indent="0" algn="ctr">
              <a:buNone/>
            </a:pPr>
            <a:r>
              <a:rPr lang="en-US" sz="1050" dirty="0">
                <a:solidFill>
                  <a:srgbClr val="6B7280"/>
                </a:solidFill>
                <a:latin typeface="Calibri" pitchFamily="34" charset="0"/>
                <a:ea typeface="Calibri" pitchFamily="34" charset="-122"/>
                <a:cs typeface="Calibri" pitchFamily="34" charset="-120"/>
              </a:rPr>
              <a:t>Four clear segments emerge: Budget, Regular, Premium, and VIP.</a:t>
            </a:r>
            <a:endParaRPr lang="en-US" sz="1050" dirty="0"/>
          </a:p>
        </p:txBody>
      </p:sp>
      <p:sp>
        <p:nvSpPr>
          <p:cNvPr id="31" name="Text 25"/>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2" name="Text 2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Customer Cluster Visualization</a:t>
            </a:r>
            <a:endParaRPr lang="en-US" sz="2800" dirty="0"/>
          </a:p>
        </p:txBody>
      </p:sp>
      <p:sp>
        <p:nvSpPr>
          <p:cNvPr id="3" name="Text 1"/>
          <p:cNvSpPr/>
          <p:nvPr/>
        </p:nvSpPr>
        <p:spPr>
          <a:xfrm>
            <a:off x="548640" y="914400"/>
            <a:ext cx="11064240" cy="3200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Annual Income vs. Spending Score, colored by K-Means cluster — all 200 customers</a:t>
            </a:r>
            <a:endParaRPr lang="en-US" sz="1250" dirty="0"/>
          </a:p>
        </p:txBody>
      </p:sp>
      <p:graphicFrame>
        <p:nvGraphicFramePr>
          <p:cNvPr id="4" name="Chart 0"/>
          <p:cNvGraphicFramePr/>
          <p:nvPr/>
        </p:nvGraphicFramePr>
        <p:xfrm>
          <a:off x="457200" y="1371600"/>
          <a:ext cx="745236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183880" y="1463040"/>
            <a:ext cx="3520440" cy="868680"/>
          </a:xfrm>
          <a:prstGeom prst="roundRect">
            <a:avLst>
              <a:gd name="adj" fmla="val 8421"/>
            </a:avLst>
          </a:prstGeom>
          <a:solidFill>
            <a:srgbClr val="F7F8FC"/>
          </a:solidFill>
          <a:ln/>
        </p:spPr>
      </p:sp>
      <p:sp>
        <p:nvSpPr>
          <p:cNvPr id="6" name="Shape 3"/>
          <p:cNvSpPr/>
          <p:nvPr/>
        </p:nvSpPr>
        <p:spPr>
          <a:xfrm>
            <a:off x="8366760" y="1600200"/>
            <a:ext cx="201168" cy="201168"/>
          </a:xfrm>
          <a:prstGeom prst="rect">
            <a:avLst/>
          </a:prstGeom>
          <a:solidFill>
            <a:srgbClr val="8FA6D6"/>
          </a:solidFill>
          <a:ln/>
        </p:spPr>
      </p:sp>
      <p:sp>
        <p:nvSpPr>
          <p:cNvPr id="7" name="Text 4"/>
          <p:cNvSpPr/>
          <p:nvPr/>
        </p:nvSpPr>
        <p:spPr>
          <a:xfrm>
            <a:off x="8686800" y="1536192"/>
            <a:ext cx="288036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Budget</a:t>
            </a:r>
            <a:endParaRPr lang="en-US" sz="1250" dirty="0"/>
          </a:p>
        </p:txBody>
      </p:sp>
      <p:sp>
        <p:nvSpPr>
          <p:cNvPr id="8" name="Text 5"/>
          <p:cNvSpPr/>
          <p:nvPr/>
        </p:nvSpPr>
        <p:spPr>
          <a:xfrm>
            <a:off x="8366760" y="1847088"/>
            <a:ext cx="3200400" cy="438912"/>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Low income, low spending — bottom-left cluster.</a:t>
            </a:r>
            <a:endParaRPr lang="en-US" sz="950" dirty="0"/>
          </a:p>
        </p:txBody>
      </p:sp>
      <p:sp>
        <p:nvSpPr>
          <p:cNvPr id="9" name="Shape 6"/>
          <p:cNvSpPr/>
          <p:nvPr/>
        </p:nvSpPr>
        <p:spPr>
          <a:xfrm>
            <a:off x="8183880" y="2514600"/>
            <a:ext cx="3520440" cy="868680"/>
          </a:xfrm>
          <a:prstGeom prst="roundRect">
            <a:avLst>
              <a:gd name="adj" fmla="val 8421"/>
            </a:avLst>
          </a:prstGeom>
          <a:solidFill>
            <a:srgbClr val="F7F8FC"/>
          </a:solidFill>
          <a:ln/>
        </p:spPr>
      </p:sp>
      <p:sp>
        <p:nvSpPr>
          <p:cNvPr id="10" name="Shape 7"/>
          <p:cNvSpPr/>
          <p:nvPr/>
        </p:nvSpPr>
        <p:spPr>
          <a:xfrm>
            <a:off x="8366760" y="2651760"/>
            <a:ext cx="201168" cy="201168"/>
          </a:xfrm>
          <a:prstGeom prst="rect">
            <a:avLst/>
          </a:prstGeom>
          <a:solidFill>
            <a:srgbClr val="4A62A8"/>
          </a:solidFill>
          <a:ln/>
        </p:spPr>
      </p:sp>
      <p:sp>
        <p:nvSpPr>
          <p:cNvPr id="11" name="Text 8"/>
          <p:cNvSpPr/>
          <p:nvPr/>
        </p:nvSpPr>
        <p:spPr>
          <a:xfrm>
            <a:off x="8686800" y="2587752"/>
            <a:ext cx="288036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Regular</a:t>
            </a:r>
            <a:endParaRPr lang="en-US" sz="1250" dirty="0"/>
          </a:p>
        </p:txBody>
      </p:sp>
      <p:sp>
        <p:nvSpPr>
          <p:cNvPr id="12" name="Text 9"/>
          <p:cNvSpPr/>
          <p:nvPr/>
        </p:nvSpPr>
        <p:spPr>
          <a:xfrm>
            <a:off x="8366760" y="2898648"/>
            <a:ext cx="3200400" cy="438912"/>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Mid income, moderate spending.</a:t>
            </a:r>
            <a:endParaRPr lang="en-US" sz="950" dirty="0"/>
          </a:p>
        </p:txBody>
      </p:sp>
      <p:sp>
        <p:nvSpPr>
          <p:cNvPr id="13" name="Shape 10"/>
          <p:cNvSpPr/>
          <p:nvPr/>
        </p:nvSpPr>
        <p:spPr>
          <a:xfrm>
            <a:off x="8183880" y="3566160"/>
            <a:ext cx="3520440" cy="868680"/>
          </a:xfrm>
          <a:prstGeom prst="roundRect">
            <a:avLst>
              <a:gd name="adj" fmla="val 8421"/>
            </a:avLst>
          </a:prstGeom>
          <a:solidFill>
            <a:srgbClr val="F7F8FC"/>
          </a:solidFill>
          <a:ln/>
        </p:spPr>
      </p:sp>
      <p:sp>
        <p:nvSpPr>
          <p:cNvPr id="14" name="Shape 11"/>
          <p:cNvSpPr/>
          <p:nvPr/>
        </p:nvSpPr>
        <p:spPr>
          <a:xfrm>
            <a:off x="8366760" y="3703320"/>
            <a:ext cx="201168" cy="201168"/>
          </a:xfrm>
          <a:prstGeom prst="rect">
            <a:avLst/>
          </a:prstGeom>
          <a:solidFill>
            <a:srgbClr val="2A3A82"/>
          </a:solidFill>
          <a:ln/>
        </p:spPr>
      </p:sp>
      <p:sp>
        <p:nvSpPr>
          <p:cNvPr id="15" name="Text 12"/>
          <p:cNvSpPr/>
          <p:nvPr/>
        </p:nvSpPr>
        <p:spPr>
          <a:xfrm>
            <a:off x="8686800" y="3639312"/>
            <a:ext cx="288036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Premium</a:t>
            </a:r>
            <a:endParaRPr lang="en-US" sz="1250" dirty="0"/>
          </a:p>
        </p:txBody>
      </p:sp>
      <p:sp>
        <p:nvSpPr>
          <p:cNvPr id="16" name="Text 13"/>
          <p:cNvSpPr/>
          <p:nvPr/>
        </p:nvSpPr>
        <p:spPr>
          <a:xfrm>
            <a:off x="8366760" y="3950208"/>
            <a:ext cx="3200400" cy="438912"/>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Higher income, above-average spending.</a:t>
            </a:r>
            <a:endParaRPr lang="en-US" sz="950" dirty="0"/>
          </a:p>
        </p:txBody>
      </p:sp>
      <p:sp>
        <p:nvSpPr>
          <p:cNvPr id="17" name="Shape 14"/>
          <p:cNvSpPr/>
          <p:nvPr/>
        </p:nvSpPr>
        <p:spPr>
          <a:xfrm>
            <a:off x="8183880" y="4617720"/>
            <a:ext cx="3520440" cy="868680"/>
          </a:xfrm>
          <a:prstGeom prst="roundRect">
            <a:avLst>
              <a:gd name="adj" fmla="val 8421"/>
            </a:avLst>
          </a:prstGeom>
          <a:solidFill>
            <a:srgbClr val="F7F8FC"/>
          </a:solidFill>
          <a:ln/>
        </p:spPr>
      </p:sp>
      <p:sp>
        <p:nvSpPr>
          <p:cNvPr id="18" name="Shape 15"/>
          <p:cNvSpPr/>
          <p:nvPr/>
        </p:nvSpPr>
        <p:spPr>
          <a:xfrm>
            <a:off x="8366760" y="4754880"/>
            <a:ext cx="201168" cy="201168"/>
          </a:xfrm>
          <a:prstGeom prst="rect">
            <a:avLst/>
          </a:prstGeom>
          <a:solidFill>
            <a:srgbClr val="D4A017"/>
          </a:solidFill>
          <a:ln/>
        </p:spPr>
      </p:sp>
      <p:sp>
        <p:nvSpPr>
          <p:cNvPr id="19" name="Text 16"/>
          <p:cNvSpPr/>
          <p:nvPr/>
        </p:nvSpPr>
        <p:spPr>
          <a:xfrm>
            <a:off x="8686800" y="4690872"/>
            <a:ext cx="288036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VIP</a:t>
            </a:r>
            <a:endParaRPr lang="en-US" sz="1250" dirty="0"/>
          </a:p>
        </p:txBody>
      </p:sp>
      <p:sp>
        <p:nvSpPr>
          <p:cNvPr id="20" name="Text 17"/>
          <p:cNvSpPr/>
          <p:nvPr/>
        </p:nvSpPr>
        <p:spPr>
          <a:xfrm>
            <a:off x="8366760" y="5001768"/>
            <a:ext cx="3200400" cy="438912"/>
          </a:xfrm>
          <a:prstGeom prst="rect">
            <a:avLst/>
          </a:prstGeom>
          <a:noFill/>
          <a:ln/>
        </p:spPr>
        <p:txBody>
          <a:bodyPr wrap="square" lIns="0" tIns="0" rIns="0" bIns="0" rtlCol="0" anchor="t"/>
          <a:lstStyle/>
          <a:p>
            <a:pPr marL="0" indent="0">
              <a:buNone/>
            </a:pPr>
            <a:r>
              <a:rPr lang="en-US" sz="950" dirty="0">
                <a:solidFill>
                  <a:srgbClr val="6B7280"/>
                </a:solidFill>
                <a:latin typeface="Calibri" pitchFamily="34" charset="0"/>
                <a:ea typeface="Calibri" pitchFamily="34" charset="-122"/>
                <a:cs typeface="Calibri" pitchFamily="34" charset="-120"/>
              </a:rPr>
              <a:t>Highest income, highest spending — top-right cluster.</a:t>
            </a:r>
            <a:endParaRPr lang="en-US" sz="950" dirty="0"/>
          </a:p>
        </p:txBody>
      </p:sp>
      <p:sp>
        <p:nvSpPr>
          <p:cNvPr id="21" name="Text 18"/>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22" name="Text 1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Customer Segments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Three value tiers behind the four detailed clusters</a:t>
            </a:r>
            <a:endParaRPr lang="en-US" sz="1300" dirty="0"/>
          </a:p>
        </p:txBody>
      </p:sp>
      <p:sp>
        <p:nvSpPr>
          <p:cNvPr id="4" name="Shape 2"/>
          <p:cNvSpPr/>
          <p:nvPr/>
        </p:nvSpPr>
        <p:spPr>
          <a:xfrm>
            <a:off x="548640" y="1691640"/>
            <a:ext cx="3611880" cy="4434840"/>
          </a:xfrm>
          <a:prstGeom prst="roundRect">
            <a:avLst>
              <a:gd name="adj" fmla="val 2532"/>
            </a:avLst>
          </a:prstGeom>
          <a:solidFill>
            <a:srgbClr val="7C8FC7"/>
          </a:solidFill>
          <a:ln/>
          <a:effectLst>
            <a:outerShdw blurRad="114300" dist="38100" dir="5400000" algn="bl" rotWithShape="0">
              <a:srgbClr val="1E2761">
                <a:alpha val="20000"/>
              </a:srgbClr>
            </a:outerShdw>
          </a:effectLst>
        </p:spPr>
      </p:sp>
      <p:sp>
        <p:nvSpPr>
          <p:cNvPr id="5" name="Shape 3"/>
          <p:cNvSpPr/>
          <p:nvPr/>
        </p:nvSpPr>
        <p:spPr>
          <a:xfrm>
            <a:off x="1920240" y="2148840"/>
            <a:ext cx="868680" cy="868680"/>
          </a:xfrm>
          <a:prstGeom prst="ellipse">
            <a:avLst/>
          </a:prstGeom>
          <a:solidFill>
            <a:srgbClr val="FFFFFF"/>
          </a:solidFill>
          <a:ln/>
        </p:spPr>
      </p:sp>
      <p:pic>
        <p:nvPicPr>
          <p:cNvPr id="6" name="Image 0" descr="/home/claude/icons/card_navy.png"/>
          <p:cNvPicPr>
            <a:picLocks noChangeAspect="1"/>
          </p:cNvPicPr>
          <p:nvPr/>
        </p:nvPicPr>
        <p:blipFill>
          <a:blip r:embed="rId3"/>
          <a:stretch>
            <a:fillRect/>
          </a:stretch>
        </p:blipFill>
        <p:spPr>
          <a:xfrm>
            <a:off x="2103120" y="2331720"/>
            <a:ext cx="502920" cy="502920"/>
          </a:xfrm>
          <a:prstGeom prst="rect">
            <a:avLst/>
          </a:prstGeom>
        </p:spPr>
      </p:pic>
      <p:sp>
        <p:nvSpPr>
          <p:cNvPr id="7" name="Text 4"/>
          <p:cNvSpPr/>
          <p:nvPr/>
        </p:nvSpPr>
        <p:spPr>
          <a:xfrm>
            <a:off x="685800" y="3182112"/>
            <a:ext cx="3337560"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Low-Value</a:t>
            </a:r>
            <a:endParaRPr lang="en-US" sz="1900" dirty="0"/>
          </a:p>
        </p:txBody>
      </p:sp>
      <p:sp>
        <p:nvSpPr>
          <p:cNvPr id="8" name="Shape 5"/>
          <p:cNvSpPr/>
          <p:nvPr/>
        </p:nvSpPr>
        <p:spPr>
          <a:xfrm>
            <a:off x="1005840" y="3639312"/>
            <a:ext cx="2697480" cy="0"/>
          </a:xfrm>
          <a:prstGeom prst="line">
            <a:avLst/>
          </a:prstGeom>
          <a:noFill/>
          <a:ln w="9525">
            <a:solidFill>
              <a:srgbClr val="FFFFFF">
                <a:alpha val="40000"/>
              </a:srgbClr>
            </a:solidFill>
            <a:prstDash val="solid"/>
          </a:ln>
        </p:spPr>
      </p:sp>
      <p:sp>
        <p:nvSpPr>
          <p:cNvPr id="9" name="Text 6"/>
          <p:cNvSpPr/>
          <p:nvPr/>
        </p:nvSpPr>
        <p:spPr>
          <a:xfrm>
            <a:off x="822960" y="3776472"/>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Customers</a:t>
            </a:r>
            <a:endParaRPr lang="en-US" sz="1050" dirty="0"/>
          </a:p>
        </p:txBody>
      </p:sp>
      <p:sp>
        <p:nvSpPr>
          <p:cNvPr id="10" name="Text 7"/>
          <p:cNvSpPr/>
          <p:nvPr/>
        </p:nvSpPr>
        <p:spPr>
          <a:xfrm>
            <a:off x="2535174" y="3776472"/>
            <a:ext cx="1351026" cy="292608"/>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50</a:t>
            </a:r>
            <a:endParaRPr lang="en-US" sz="1250" dirty="0"/>
          </a:p>
        </p:txBody>
      </p:sp>
      <p:sp>
        <p:nvSpPr>
          <p:cNvPr id="11" name="Text 8"/>
          <p:cNvSpPr/>
          <p:nvPr/>
        </p:nvSpPr>
        <p:spPr>
          <a:xfrm>
            <a:off x="822960" y="4105656"/>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Avg. Income</a:t>
            </a:r>
            <a:endParaRPr lang="en-US" sz="1050" dirty="0"/>
          </a:p>
        </p:txBody>
      </p:sp>
      <p:sp>
        <p:nvSpPr>
          <p:cNvPr id="12" name="Text 9"/>
          <p:cNvSpPr/>
          <p:nvPr/>
        </p:nvSpPr>
        <p:spPr>
          <a:xfrm>
            <a:off x="2535174" y="4105656"/>
            <a:ext cx="1351026" cy="292608"/>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$32.1K</a:t>
            </a:r>
            <a:endParaRPr lang="en-US" sz="1250" dirty="0"/>
          </a:p>
        </p:txBody>
      </p:sp>
      <p:sp>
        <p:nvSpPr>
          <p:cNvPr id="13" name="Text 10"/>
          <p:cNvSpPr/>
          <p:nvPr/>
        </p:nvSpPr>
        <p:spPr>
          <a:xfrm>
            <a:off x="822960" y="4434840"/>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Avg. Spend Score</a:t>
            </a:r>
            <a:endParaRPr lang="en-US" sz="1050" dirty="0"/>
          </a:p>
        </p:txBody>
      </p:sp>
      <p:sp>
        <p:nvSpPr>
          <p:cNvPr id="14" name="Text 11"/>
          <p:cNvSpPr/>
          <p:nvPr/>
        </p:nvSpPr>
        <p:spPr>
          <a:xfrm>
            <a:off x="2535174" y="4434840"/>
            <a:ext cx="1351026" cy="292608"/>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24.9</a:t>
            </a:r>
            <a:endParaRPr lang="en-US" sz="1250" dirty="0"/>
          </a:p>
        </p:txBody>
      </p:sp>
      <p:sp>
        <p:nvSpPr>
          <p:cNvPr id="15" name="Text 12"/>
          <p:cNvSpPr/>
          <p:nvPr/>
        </p:nvSpPr>
        <p:spPr>
          <a:xfrm>
            <a:off x="822960" y="4873752"/>
            <a:ext cx="3063240" cy="868680"/>
          </a:xfrm>
          <a:prstGeom prst="rect">
            <a:avLst/>
          </a:prstGeom>
          <a:noFill/>
          <a:ln/>
        </p:spPr>
        <p:txBody>
          <a:bodyPr wrap="square" lIns="0" tIns="0" rIns="0" bIns="0" rtlCol="0" anchor="t"/>
          <a:lstStyle/>
          <a:p>
            <a:pPr marL="0" indent="0">
              <a:buNone/>
            </a:pPr>
            <a:r>
              <a:rPr lang="en-US" sz="1050" dirty="0">
                <a:solidFill>
                  <a:srgbClr val="E6EAF7"/>
                </a:solidFill>
                <a:latin typeface="Calibri" pitchFamily="34" charset="0"/>
                <a:ea typeface="Calibri" pitchFamily="34" charset="-122"/>
                <a:cs typeface="Calibri" pitchFamily="34" charset="-120"/>
              </a:rPr>
              <a:t>Price-sensitive customers with lower income and infrequent purchases.</a:t>
            </a:r>
            <a:endParaRPr lang="en-US" sz="1050" dirty="0"/>
          </a:p>
        </p:txBody>
      </p:sp>
      <p:sp>
        <p:nvSpPr>
          <p:cNvPr id="16" name="Shape 13"/>
          <p:cNvSpPr/>
          <p:nvPr/>
        </p:nvSpPr>
        <p:spPr>
          <a:xfrm>
            <a:off x="4379976" y="1691640"/>
            <a:ext cx="3611880" cy="4434840"/>
          </a:xfrm>
          <a:prstGeom prst="roundRect">
            <a:avLst>
              <a:gd name="adj" fmla="val 2532"/>
            </a:avLst>
          </a:prstGeom>
          <a:solidFill>
            <a:srgbClr val="3F5390"/>
          </a:solidFill>
          <a:ln/>
          <a:effectLst>
            <a:outerShdw blurRad="114300" dist="38100" dir="5400000" algn="bl" rotWithShape="0">
              <a:srgbClr val="1E2761">
                <a:alpha val="20000"/>
              </a:srgbClr>
            </a:outerShdw>
          </a:effectLst>
        </p:spPr>
      </p:sp>
      <p:sp>
        <p:nvSpPr>
          <p:cNvPr id="17" name="Shape 14"/>
          <p:cNvSpPr/>
          <p:nvPr/>
        </p:nvSpPr>
        <p:spPr>
          <a:xfrm>
            <a:off x="5751576" y="2148840"/>
            <a:ext cx="868680" cy="868680"/>
          </a:xfrm>
          <a:prstGeom prst="ellipse">
            <a:avLst/>
          </a:prstGeom>
          <a:solidFill>
            <a:srgbClr val="FFFFFF"/>
          </a:solidFill>
          <a:ln/>
        </p:spPr>
      </p:sp>
      <p:pic>
        <p:nvPicPr>
          <p:cNvPr id="18" name="Image 1" descr="/home/claude/icons/user_navy.png"/>
          <p:cNvPicPr>
            <a:picLocks noChangeAspect="1"/>
          </p:cNvPicPr>
          <p:nvPr/>
        </p:nvPicPr>
        <p:blipFill>
          <a:blip r:embed="rId4"/>
          <a:stretch>
            <a:fillRect/>
          </a:stretch>
        </p:blipFill>
        <p:spPr>
          <a:xfrm>
            <a:off x="5934456" y="2331720"/>
            <a:ext cx="502920" cy="502920"/>
          </a:xfrm>
          <a:prstGeom prst="rect">
            <a:avLst/>
          </a:prstGeom>
        </p:spPr>
      </p:pic>
      <p:sp>
        <p:nvSpPr>
          <p:cNvPr id="19" name="Text 15"/>
          <p:cNvSpPr/>
          <p:nvPr/>
        </p:nvSpPr>
        <p:spPr>
          <a:xfrm>
            <a:off x="4517136" y="3182112"/>
            <a:ext cx="3337560"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Regular</a:t>
            </a:r>
            <a:endParaRPr lang="en-US" sz="1900" dirty="0"/>
          </a:p>
        </p:txBody>
      </p:sp>
      <p:sp>
        <p:nvSpPr>
          <p:cNvPr id="20" name="Shape 16"/>
          <p:cNvSpPr/>
          <p:nvPr/>
        </p:nvSpPr>
        <p:spPr>
          <a:xfrm>
            <a:off x="4837176" y="3639312"/>
            <a:ext cx="2697480" cy="0"/>
          </a:xfrm>
          <a:prstGeom prst="line">
            <a:avLst/>
          </a:prstGeom>
          <a:noFill/>
          <a:ln w="9525">
            <a:solidFill>
              <a:srgbClr val="FFFFFF">
                <a:alpha val="40000"/>
              </a:srgbClr>
            </a:solidFill>
            <a:prstDash val="solid"/>
          </a:ln>
        </p:spPr>
      </p:sp>
      <p:sp>
        <p:nvSpPr>
          <p:cNvPr id="21" name="Text 17"/>
          <p:cNvSpPr/>
          <p:nvPr/>
        </p:nvSpPr>
        <p:spPr>
          <a:xfrm>
            <a:off x="4654296" y="3776472"/>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Customers</a:t>
            </a:r>
            <a:endParaRPr lang="en-US" sz="1050" dirty="0"/>
          </a:p>
        </p:txBody>
      </p:sp>
      <p:sp>
        <p:nvSpPr>
          <p:cNvPr id="22" name="Text 18"/>
          <p:cNvSpPr/>
          <p:nvPr/>
        </p:nvSpPr>
        <p:spPr>
          <a:xfrm>
            <a:off x="6366510" y="3776472"/>
            <a:ext cx="1351026" cy="292608"/>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50</a:t>
            </a:r>
            <a:endParaRPr lang="en-US" sz="1250" dirty="0"/>
          </a:p>
        </p:txBody>
      </p:sp>
      <p:sp>
        <p:nvSpPr>
          <p:cNvPr id="23" name="Text 19"/>
          <p:cNvSpPr/>
          <p:nvPr/>
        </p:nvSpPr>
        <p:spPr>
          <a:xfrm>
            <a:off x="4654296" y="4105656"/>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Avg. Income</a:t>
            </a:r>
            <a:endParaRPr lang="en-US" sz="1050" dirty="0"/>
          </a:p>
        </p:txBody>
      </p:sp>
      <p:sp>
        <p:nvSpPr>
          <p:cNvPr id="24" name="Text 20"/>
          <p:cNvSpPr/>
          <p:nvPr/>
        </p:nvSpPr>
        <p:spPr>
          <a:xfrm>
            <a:off x="6366510" y="4105656"/>
            <a:ext cx="1351026" cy="292608"/>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$57.3K</a:t>
            </a:r>
            <a:endParaRPr lang="en-US" sz="1250" dirty="0"/>
          </a:p>
        </p:txBody>
      </p:sp>
      <p:sp>
        <p:nvSpPr>
          <p:cNvPr id="25" name="Text 21"/>
          <p:cNvSpPr/>
          <p:nvPr/>
        </p:nvSpPr>
        <p:spPr>
          <a:xfrm>
            <a:off x="4654296" y="4434840"/>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Avg. Spend Score</a:t>
            </a:r>
            <a:endParaRPr lang="en-US" sz="1050" dirty="0"/>
          </a:p>
        </p:txBody>
      </p:sp>
      <p:sp>
        <p:nvSpPr>
          <p:cNvPr id="26" name="Text 22"/>
          <p:cNvSpPr/>
          <p:nvPr/>
        </p:nvSpPr>
        <p:spPr>
          <a:xfrm>
            <a:off x="6366510" y="4434840"/>
            <a:ext cx="1351026" cy="292608"/>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49.8</a:t>
            </a:r>
            <a:endParaRPr lang="en-US" sz="1250" dirty="0"/>
          </a:p>
        </p:txBody>
      </p:sp>
      <p:sp>
        <p:nvSpPr>
          <p:cNvPr id="27" name="Text 23"/>
          <p:cNvSpPr/>
          <p:nvPr/>
        </p:nvSpPr>
        <p:spPr>
          <a:xfrm>
            <a:off x="4654296" y="4873752"/>
            <a:ext cx="3063240" cy="868680"/>
          </a:xfrm>
          <a:prstGeom prst="rect">
            <a:avLst/>
          </a:prstGeom>
          <a:noFill/>
          <a:ln/>
        </p:spPr>
        <p:txBody>
          <a:bodyPr wrap="square" lIns="0" tIns="0" rIns="0" bIns="0" rtlCol="0" anchor="t"/>
          <a:lstStyle/>
          <a:p>
            <a:pPr marL="0" indent="0">
              <a:buNone/>
            </a:pPr>
            <a:r>
              <a:rPr lang="en-US" sz="1050" dirty="0">
                <a:solidFill>
                  <a:srgbClr val="E6EAF7"/>
                </a:solidFill>
                <a:latin typeface="Calibri" pitchFamily="34" charset="0"/>
                <a:ea typeface="Calibri" pitchFamily="34" charset="-122"/>
                <a:cs typeface="Calibri" pitchFamily="34" charset="-120"/>
              </a:rPr>
              <a:t>Steady, moderately engaged customers with average purchase habits.</a:t>
            </a:r>
            <a:endParaRPr lang="en-US" sz="1050" dirty="0"/>
          </a:p>
        </p:txBody>
      </p:sp>
      <p:sp>
        <p:nvSpPr>
          <p:cNvPr id="28" name="Shape 24"/>
          <p:cNvSpPr/>
          <p:nvPr/>
        </p:nvSpPr>
        <p:spPr>
          <a:xfrm>
            <a:off x="8211312" y="1691640"/>
            <a:ext cx="3611880" cy="4434840"/>
          </a:xfrm>
          <a:prstGeom prst="roundRect">
            <a:avLst>
              <a:gd name="adj" fmla="val 2532"/>
            </a:avLst>
          </a:prstGeom>
          <a:solidFill>
            <a:srgbClr val="1E2761"/>
          </a:solidFill>
          <a:ln/>
          <a:effectLst>
            <a:outerShdw blurRad="114300" dist="38100" dir="5400000" algn="bl" rotWithShape="0">
              <a:srgbClr val="1E2761">
                <a:alpha val="20000"/>
              </a:srgbClr>
            </a:outerShdw>
          </a:effectLst>
        </p:spPr>
      </p:sp>
      <p:sp>
        <p:nvSpPr>
          <p:cNvPr id="29" name="Shape 25"/>
          <p:cNvSpPr/>
          <p:nvPr/>
        </p:nvSpPr>
        <p:spPr>
          <a:xfrm>
            <a:off x="9148572" y="1892808"/>
            <a:ext cx="1737360" cy="347472"/>
          </a:xfrm>
          <a:prstGeom prst="roundRect">
            <a:avLst>
              <a:gd name="adj" fmla="val 50000"/>
            </a:avLst>
          </a:prstGeom>
          <a:solidFill>
            <a:srgbClr val="D4A017"/>
          </a:solidFill>
          <a:ln/>
        </p:spPr>
      </p:sp>
      <p:sp>
        <p:nvSpPr>
          <p:cNvPr id="30" name="Text 26"/>
          <p:cNvSpPr/>
          <p:nvPr/>
        </p:nvSpPr>
        <p:spPr>
          <a:xfrm>
            <a:off x="9148572" y="1892808"/>
            <a:ext cx="1737360"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TOP TIER</a:t>
            </a:r>
            <a:endParaRPr lang="en-US" sz="1000" dirty="0"/>
          </a:p>
        </p:txBody>
      </p:sp>
      <p:sp>
        <p:nvSpPr>
          <p:cNvPr id="31" name="Shape 27"/>
          <p:cNvSpPr/>
          <p:nvPr/>
        </p:nvSpPr>
        <p:spPr>
          <a:xfrm>
            <a:off x="9582912" y="2423160"/>
            <a:ext cx="868680" cy="868680"/>
          </a:xfrm>
          <a:prstGeom prst="ellipse">
            <a:avLst/>
          </a:prstGeom>
          <a:solidFill>
            <a:srgbClr val="FFFFFF"/>
          </a:solidFill>
          <a:ln/>
        </p:spPr>
      </p:sp>
      <p:pic>
        <p:nvPicPr>
          <p:cNvPr id="32" name="Image 2" descr="/home/claude/icons/award_navy.png"/>
          <p:cNvPicPr>
            <a:picLocks noChangeAspect="1"/>
          </p:cNvPicPr>
          <p:nvPr/>
        </p:nvPicPr>
        <p:blipFill>
          <a:blip r:embed="rId5"/>
          <a:stretch>
            <a:fillRect/>
          </a:stretch>
        </p:blipFill>
        <p:spPr>
          <a:xfrm>
            <a:off x="9765792" y="2606040"/>
            <a:ext cx="502920" cy="502920"/>
          </a:xfrm>
          <a:prstGeom prst="rect">
            <a:avLst/>
          </a:prstGeom>
        </p:spPr>
      </p:pic>
      <p:sp>
        <p:nvSpPr>
          <p:cNvPr id="33" name="Text 28"/>
          <p:cNvSpPr/>
          <p:nvPr/>
        </p:nvSpPr>
        <p:spPr>
          <a:xfrm>
            <a:off x="8348472" y="3456432"/>
            <a:ext cx="3337560" cy="36576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Premium</a:t>
            </a:r>
            <a:endParaRPr lang="en-US" sz="1900" dirty="0"/>
          </a:p>
        </p:txBody>
      </p:sp>
      <p:sp>
        <p:nvSpPr>
          <p:cNvPr id="34" name="Shape 29"/>
          <p:cNvSpPr/>
          <p:nvPr/>
        </p:nvSpPr>
        <p:spPr>
          <a:xfrm>
            <a:off x="8668512" y="3913632"/>
            <a:ext cx="2697480" cy="0"/>
          </a:xfrm>
          <a:prstGeom prst="line">
            <a:avLst/>
          </a:prstGeom>
          <a:noFill/>
          <a:ln w="9525">
            <a:solidFill>
              <a:srgbClr val="FFFFFF">
                <a:alpha val="40000"/>
              </a:srgbClr>
            </a:solidFill>
            <a:prstDash val="solid"/>
          </a:ln>
        </p:spPr>
      </p:sp>
      <p:sp>
        <p:nvSpPr>
          <p:cNvPr id="35" name="Text 30"/>
          <p:cNvSpPr/>
          <p:nvPr/>
        </p:nvSpPr>
        <p:spPr>
          <a:xfrm>
            <a:off x="8485632" y="4050792"/>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Customers</a:t>
            </a:r>
            <a:endParaRPr lang="en-US" sz="1050" dirty="0"/>
          </a:p>
        </p:txBody>
      </p:sp>
      <p:sp>
        <p:nvSpPr>
          <p:cNvPr id="36" name="Text 31"/>
          <p:cNvSpPr/>
          <p:nvPr/>
        </p:nvSpPr>
        <p:spPr>
          <a:xfrm>
            <a:off x="10197846" y="4050792"/>
            <a:ext cx="1351026" cy="292608"/>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100</a:t>
            </a:r>
            <a:endParaRPr lang="en-US" sz="1250" dirty="0"/>
          </a:p>
        </p:txBody>
      </p:sp>
      <p:sp>
        <p:nvSpPr>
          <p:cNvPr id="37" name="Text 32"/>
          <p:cNvSpPr/>
          <p:nvPr/>
        </p:nvSpPr>
        <p:spPr>
          <a:xfrm>
            <a:off x="8485632" y="4379976"/>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Avg. Income</a:t>
            </a:r>
            <a:endParaRPr lang="en-US" sz="1050" dirty="0"/>
          </a:p>
        </p:txBody>
      </p:sp>
      <p:sp>
        <p:nvSpPr>
          <p:cNvPr id="38" name="Text 33"/>
          <p:cNvSpPr/>
          <p:nvPr/>
        </p:nvSpPr>
        <p:spPr>
          <a:xfrm>
            <a:off x="10197846" y="4379976"/>
            <a:ext cx="1351026" cy="292608"/>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$113.6K</a:t>
            </a:r>
            <a:endParaRPr lang="en-US" sz="1250" dirty="0"/>
          </a:p>
        </p:txBody>
      </p:sp>
      <p:sp>
        <p:nvSpPr>
          <p:cNvPr id="39" name="Text 34"/>
          <p:cNvSpPr/>
          <p:nvPr/>
        </p:nvSpPr>
        <p:spPr>
          <a:xfrm>
            <a:off x="8485632" y="4709160"/>
            <a:ext cx="1986534" cy="292608"/>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Avg. Spend Score</a:t>
            </a:r>
            <a:endParaRPr lang="en-US" sz="1050" dirty="0"/>
          </a:p>
        </p:txBody>
      </p:sp>
      <p:sp>
        <p:nvSpPr>
          <p:cNvPr id="40" name="Text 35"/>
          <p:cNvSpPr/>
          <p:nvPr/>
        </p:nvSpPr>
        <p:spPr>
          <a:xfrm>
            <a:off x="10197846" y="4709160"/>
            <a:ext cx="1351026" cy="292608"/>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79.4</a:t>
            </a:r>
            <a:endParaRPr lang="en-US" sz="1250" dirty="0"/>
          </a:p>
        </p:txBody>
      </p:sp>
      <p:sp>
        <p:nvSpPr>
          <p:cNvPr id="41" name="Text 36"/>
          <p:cNvSpPr/>
          <p:nvPr/>
        </p:nvSpPr>
        <p:spPr>
          <a:xfrm>
            <a:off x="8485632" y="5148072"/>
            <a:ext cx="3063240" cy="868680"/>
          </a:xfrm>
          <a:prstGeom prst="rect">
            <a:avLst/>
          </a:prstGeom>
          <a:noFill/>
          <a:ln/>
        </p:spPr>
        <p:txBody>
          <a:bodyPr wrap="square" lIns="0" tIns="0" rIns="0" bIns="0" rtlCol="0" anchor="t"/>
          <a:lstStyle/>
          <a:p>
            <a:pPr marL="0" indent="0">
              <a:buNone/>
            </a:pPr>
            <a:r>
              <a:rPr lang="en-US" sz="1050" dirty="0">
                <a:solidFill>
                  <a:srgbClr val="E6EAF7"/>
                </a:solidFill>
                <a:latin typeface="Calibri" pitchFamily="34" charset="0"/>
                <a:ea typeface="Calibri" pitchFamily="34" charset="-122"/>
                <a:cs typeface="Calibri" pitchFamily="34" charset="-120"/>
              </a:rPr>
              <a:t>High-income, highly engaged customers who drive the most value.</a:t>
            </a:r>
            <a:endParaRPr lang="en-US" sz="1050" dirty="0"/>
          </a:p>
        </p:txBody>
      </p:sp>
      <p:sp>
        <p:nvSpPr>
          <p:cNvPr id="42" name="Text 3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43" name="Text 3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Cluster Insights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How each tier actually behaves, not just what it earns</a:t>
            </a:r>
            <a:endParaRPr lang="en-US" sz="1300" dirty="0"/>
          </a:p>
        </p:txBody>
      </p:sp>
      <p:sp>
        <p:nvSpPr>
          <p:cNvPr id="4" name="Shape 2"/>
          <p:cNvSpPr/>
          <p:nvPr/>
        </p:nvSpPr>
        <p:spPr>
          <a:xfrm>
            <a:off x="548640" y="1691640"/>
            <a:ext cx="3611880" cy="4434840"/>
          </a:xfrm>
          <a:prstGeom prst="roundRect">
            <a:avLst>
              <a:gd name="adj" fmla="val 2532"/>
            </a:avLst>
          </a:prstGeom>
          <a:solidFill>
            <a:srgbClr val="F7F8FC"/>
          </a:solidFill>
          <a:ln/>
          <a:effectLst>
            <a:outerShdw blurRad="76200" dist="25400" dir="5400000" algn="bl" rotWithShape="0">
              <a:srgbClr val="1E2761">
                <a:alpha val="10000"/>
              </a:srgbClr>
            </a:outerShdw>
          </a:effectLst>
        </p:spPr>
      </p:sp>
      <p:sp>
        <p:nvSpPr>
          <p:cNvPr id="5" name="Shape 3"/>
          <p:cNvSpPr/>
          <p:nvPr/>
        </p:nvSpPr>
        <p:spPr>
          <a:xfrm>
            <a:off x="548640" y="1691640"/>
            <a:ext cx="3611880" cy="128016"/>
          </a:xfrm>
          <a:prstGeom prst="roundRect">
            <a:avLst>
              <a:gd name="adj" fmla="val 21429"/>
            </a:avLst>
          </a:prstGeom>
          <a:solidFill>
            <a:srgbClr val="7C8FC7"/>
          </a:solidFill>
          <a:ln/>
        </p:spPr>
      </p:sp>
      <p:sp>
        <p:nvSpPr>
          <p:cNvPr id="6" name="Shape 4"/>
          <p:cNvSpPr/>
          <p:nvPr/>
        </p:nvSpPr>
        <p:spPr>
          <a:xfrm>
            <a:off x="1965960" y="2011680"/>
            <a:ext cx="777240" cy="777240"/>
          </a:xfrm>
          <a:prstGeom prst="ellipse">
            <a:avLst/>
          </a:prstGeom>
          <a:solidFill>
            <a:srgbClr val="7C8FC7"/>
          </a:solidFill>
          <a:ln/>
        </p:spPr>
      </p:sp>
      <p:pic>
        <p:nvPicPr>
          <p:cNvPr id="7" name="Image 0" descr="/home/claude/icons/card_white.png"/>
          <p:cNvPicPr>
            <a:picLocks noChangeAspect="1"/>
          </p:cNvPicPr>
          <p:nvPr/>
        </p:nvPicPr>
        <p:blipFill>
          <a:blip r:embed="rId3"/>
          <a:stretch>
            <a:fillRect/>
          </a:stretch>
        </p:blipFill>
        <p:spPr>
          <a:xfrm>
            <a:off x="2148840" y="2194560"/>
            <a:ext cx="411480" cy="411480"/>
          </a:xfrm>
          <a:prstGeom prst="rect">
            <a:avLst/>
          </a:prstGeom>
        </p:spPr>
      </p:pic>
      <p:sp>
        <p:nvSpPr>
          <p:cNvPr id="8" name="Text 5"/>
          <p:cNvSpPr/>
          <p:nvPr/>
        </p:nvSpPr>
        <p:spPr>
          <a:xfrm>
            <a:off x="685800" y="2926080"/>
            <a:ext cx="3337560" cy="3657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Low-Value</a:t>
            </a:r>
            <a:endParaRPr lang="en-US" sz="1800" dirty="0"/>
          </a:p>
        </p:txBody>
      </p:sp>
      <p:sp>
        <p:nvSpPr>
          <p:cNvPr id="9" name="Shape 6"/>
          <p:cNvSpPr/>
          <p:nvPr/>
        </p:nvSpPr>
        <p:spPr>
          <a:xfrm>
            <a:off x="804672" y="3502152"/>
            <a:ext cx="146304" cy="146304"/>
          </a:xfrm>
          <a:prstGeom prst="ellipse">
            <a:avLst/>
          </a:prstGeom>
          <a:solidFill>
            <a:srgbClr val="7C8FC7"/>
          </a:solidFill>
          <a:ln/>
        </p:spPr>
      </p:sp>
      <p:sp>
        <p:nvSpPr>
          <p:cNvPr id="10" name="Text 7"/>
          <p:cNvSpPr/>
          <p:nvPr/>
        </p:nvSpPr>
        <p:spPr>
          <a:xfrm>
            <a:off x="1078992" y="3401568"/>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Buys rarely — just 5.8 purchases on average, the lowest of any tier.</a:t>
            </a:r>
            <a:endParaRPr lang="en-US" sz="1050" dirty="0"/>
          </a:p>
        </p:txBody>
      </p:sp>
      <p:sp>
        <p:nvSpPr>
          <p:cNvPr id="11" name="Shape 8"/>
          <p:cNvSpPr/>
          <p:nvPr/>
        </p:nvSpPr>
        <p:spPr>
          <a:xfrm>
            <a:off x="804672" y="4343400"/>
            <a:ext cx="146304" cy="146304"/>
          </a:xfrm>
          <a:prstGeom prst="ellipse">
            <a:avLst/>
          </a:prstGeom>
          <a:solidFill>
            <a:srgbClr val="7C8FC7"/>
          </a:solidFill>
          <a:ln/>
        </p:spPr>
      </p:sp>
      <p:sp>
        <p:nvSpPr>
          <p:cNvPr id="12" name="Text 9"/>
          <p:cNvSpPr/>
          <p:nvPr/>
        </p:nvSpPr>
        <p:spPr>
          <a:xfrm>
            <a:off x="1078992" y="4242816"/>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Spending tracks income closely; little discretionary spending beyond needs.</a:t>
            </a:r>
            <a:endParaRPr lang="en-US" sz="1050" dirty="0"/>
          </a:p>
        </p:txBody>
      </p:sp>
      <p:sp>
        <p:nvSpPr>
          <p:cNvPr id="13" name="Shape 10"/>
          <p:cNvSpPr/>
          <p:nvPr/>
        </p:nvSpPr>
        <p:spPr>
          <a:xfrm>
            <a:off x="804672" y="5184648"/>
            <a:ext cx="146304" cy="146304"/>
          </a:xfrm>
          <a:prstGeom prst="ellipse">
            <a:avLst/>
          </a:prstGeom>
          <a:solidFill>
            <a:srgbClr val="7C8FC7"/>
          </a:solidFill>
          <a:ln/>
        </p:spPr>
      </p:sp>
      <p:sp>
        <p:nvSpPr>
          <p:cNvPr id="14" name="Text 11"/>
          <p:cNvSpPr/>
          <p:nvPr/>
        </p:nvSpPr>
        <p:spPr>
          <a:xfrm>
            <a:off x="1078992" y="5084064"/>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Youngest group (avg. age 25.7) — likely early-career or first-time buyers.</a:t>
            </a:r>
            <a:endParaRPr lang="en-US" sz="1050" dirty="0"/>
          </a:p>
        </p:txBody>
      </p:sp>
      <p:sp>
        <p:nvSpPr>
          <p:cNvPr id="15" name="Shape 12"/>
          <p:cNvSpPr/>
          <p:nvPr/>
        </p:nvSpPr>
        <p:spPr>
          <a:xfrm>
            <a:off x="4379976" y="1691640"/>
            <a:ext cx="3611880" cy="4434840"/>
          </a:xfrm>
          <a:prstGeom prst="roundRect">
            <a:avLst>
              <a:gd name="adj" fmla="val 2532"/>
            </a:avLst>
          </a:prstGeom>
          <a:solidFill>
            <a:srgbClr val="F7F8FC"/>
          </a:solidFill>
          <a:ln/>
          <a:effectLst>
            <a:outerShdw blurRad="76200" dist="25400" dir="5400000" algn="bl" rotWithShape="0">
              <a:srgbClr val="1E2761">
                <a:alpha val="10000"/>
              </a:srgbClr>
            </a:outerShdw>
          </a:effectLst>
        </p:spPr>
      </p:sp>
      <p:sp>
        <p:nvSpPr>
          <p:cNvPr id="16" name="Shape 13"/>
          <p:cNvSpPr/>
          <p:nvPr/>
        </p:nvSpPr>
        <p:spPr>
          <a:xfrm>
            <a:off x="4379976" y="1691640"/>
            <a:ext cx="3611880" cy="128016"/>
          </a:xfrm>
          <a:prstGeom prst="roundRect">
            <a:avLst>
              <a:gd name="adj" fmla="val 21429"/>
            </a:avLst>
          </a:prstGeom>
          <a:solidFill>
            <a:srgbClr val="3F5390"/>
          </a:solidFill>
          <a:ln/>
        </p:spPr>
      </p:sp>
      <p:sp>
        <p:nvSpPr>
          <p:cNvPr id="17" name="Shape 14"/>
          <p:cNvSpPr/>
          <p:nvPr/>
        </p:nvSpPr>
        <p:spPr>
          <a:xfrm>
            <a:off x="5797296" y="2011680"/>
            <a:ext cx="777240" cy="777240"/>
          </a:xfrm>
          <a:prstGeom prst="ellipse">
            <a:avLst/>
          </a:prstGeom>
          <a:solidFill>
            <a:srgbClr val="3F5390"/>
          </a:solidFill>
          <a:ln/>
        </p:spPr>
      </p:sp>
      <p:pic>
        <p:nvPicPr>
          <p:cNvPr id="18" name="Image 1" descr="/home/claude/icons/user_white.png"/>
          <p:cNvPicPr>
            <a:picLocks noChangeAspect="1"/>
          </p:cNvPicPr>
          <p:nvPr/>
        </p:nvPicPr>
        <p:blipFill>
          <a:blip r:embed="rId4"/>
          <a:stretch>
            <a:fillRect/>
          </a:stretch>
        </p:blipFill>
        <p:spPr>
          <a:xfrm>
            <a:off x="5980176" y="2194560"/>
            <a:ext cx="411480" cy="411480"/>
          </a:xfrm>
          <a:prstGeom prst="rect">
            <a:avLst/>
          </a:prstGeom>
        </p:spPr>
      </p:pic>
      <p:sp>
        <p:nvSpPr>
          <p:cNvPr id="19" name="Text 15"/>
          <p:cNvSpPr/>
          <p:nvPr/>
        </p:nvSpPr>
        <p:spPr>
          <a:xfrm>
            <a:off x="4517136" y="2926080"/>
            <a:ext cx="3337560" cy="3657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Regular</a:t>
            </a:r>
            <a:endParaRPr lang="en-US" sz="1800" dirty="0"/>
          </a:p>
        </p:txBody>
      </p:sp>
      <p:sp>
        <p:nvSpPr>
          <p:cNvPr id="20" name="Shape 16"/>
          <p:cNvSpPr/>
          <p:nvPr/>
        </p:nvSpPr>
        <p:spPr>
          <a:xfrm>
            <a:off x="4636008" y="3502152"/>
            <a:ext cx="146304" cy="146304"/>
          </a:xfrm>
          <a:prstGeom prst="ellipse">
            <a:avLst/>
          </a:prstGeom>
          <a:solidFill>
            <a:srgbClr val="3F5390"/>
          </a:solidFill>
          <a:ln/>
        </p:spPr>
      </p:sp>
      <p:sp>
        <p:nvSpPr>
          <p:cNvPr id="21" name="Text 17"/>
          <p:cNvSpPr/>
          <p:nvPr/>
        </p:nvSpPr>
        <p:spPr>
          <a:xfrm>
            <a:off x="4910328" y="3401568"/>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Steady, moderate cadence — about 14.5 purchases on average.</a:t>
            </a:r>
            <a:endParaRPr lang="en-US" sz="1050" dirty="0"/>
          </a:p>
        </p:txBody>
      </p:sp>
      <p:sp>
        <p:nvSpPr>
          <p:cNvPr id="22" name="Shape 18"/>
          <p:cNvSpPr/>
          <p:nvPr/>
        </p:nvSpPr>
        <p:spPr>
          <a:xfrm>
            <a:off x="4636008" y="4343400"/>
            <a:ext cx="146304" cy="146304"/>
          </a:xfrm>
          <a:prstGeom prst="ellipse">
            <a:avLst/>
          </a:prstGeom>
          <a:solidFill>
            <a:srgbClr val="3F5390"/>
          </a:solidFill>
          <a:ln/>
        </p:spPr>
      </p:sp>
      <p:sp>
        <p:nvSpPr>
          <p:cNvPr id="23" name="Text 19"/>
          <p:cNvSpPr/>
          <p:nvPr/>
        </p:nvSpPr>
        <p:spPr>
          <a:xfrm>
            <a:off x="4910328" y="4242816"/>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Spending sits mid-range relative to income — neither frugal nor lavish.</a:t>
            </a:r>
            <a:endParaRPr lang="en-US" sz="1050" dirty="0"/>
          </a:p>
        </p:txBody>
      </p:sp>
      <p:sp>
        <p:nvSpPr>
          <p:cNvPr id="24" name="Shape 20"/>
          <p:cNvSpPr/>
          <p:nvPr/>
        </p:nvSpPr>
        <p:spPr>
          <a:xfrm>
            <a:off x="4636008" y="5184648"/>
            <a:ext cx="146304" cy="146304"/>
          </a:xfrm>
          <a:prstGeom prst="ellipse">
            <a:avLst/>
          </a:prstGeom>
          <a:solidFill>
            <a:srgbClr val="3F5390"/>
          </a:solidFill>
          <a:ln/>
        </p:spPr>
      </p:sp>
      <p:sp>
        <p:nvSpPr>
          <p:cNvPr id="25" name="Text 21"/>
          <p:cNvSpPr/>
          <p:nvPr/>
        </p:nvSpPr>
        <p:spPr>
          <a:xfrm>
            <a:off x="4910328" y="5084064"/>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The most ‘typical’ customer profile, sitting between the other two tiers.</a:t>
            </a:r>
            <a:endParaRPr lang="en-US" sz="1050" dirty="0"/>
          </a:p>
        </p:txBody>
      </p:sp>
      <p:sp>
        <p:nvSpPr>
          <p:cNvPr id="26" name="Shape 22"/>
          <p:cNvSpPr/>
          <p:nvPr/>
        </p:nvSpPr>
        <p:spPr>
          <a:xfrm>
            <a:off x="8211312" y="1691640"/>
            <a:ext cx="3611880" cy="4434840"/>
          </a:xfrm>
          <a:prstGeom prst="roundRect">
            <a:avLst>
              <a:gd name="adj" fmla="val 2532"/>
            </a:avLst>
          </a:prstGeom>
          <a:solidFill>
            <a:srgbClr val="F7F8FC"/>
          </a:solidFill>
          <a:ln/>
          <a:effectLst>
            <a:outerShdw blurRad="76200" dist="25400" dir="5400000" algn="bl" rotWithShape="0">
              <a:srgbClr val="1E2761">
                <a:alpha val="10000"/>
              </a:srgbClr>
            </a:outerShdw>
          </a:effectLst>
        </p:spPr>
      </p:sp>
      <p:sp>
        <p:nvSpPr>
          <p:cNvPr id="27" name="Shape 23"/>
          <p:cNvSpPr/>
          <p:nvPr/>
        </p:nvSpPr>
        <p:spPr>
          <a:xfrm>
            <a:off x="8211312" y="1691640"/>
            <a:ext cx="3611880" cy="128016"/>
          </a:xfrm>
          <a:prstGeom prst="roundRect">
            <a:avLst>
              <a:gd name="adj" fmla="val 21429"/>
            </a:avLst>
          </a:prstGeom>
          <a:solidFill>
            <a:srgbClr val="1E2761"/>
          </a:solidFill>
          <a:ln/>
        </p:spPr>
      </p:sp>
      <p:sp>
        <p:nvSpPr>
          <p:cNvPr id="28" name="Shape 24"/>
          <p:cNvSpPr/>
          <p:nvPr/>
        </p:nvSpPr>
        <p:spPr>
          <a:xfrm>
            <a:off x="9628632" y="2011680"/>
            <a:ext cx="777240" cy="777240"/>
          </a:xfrm>
          <a:prstGeom prst="ellipse">
            <a:avLst/>
          </a:prstGeom>
          <a:solidFill>
            <a:srgbClr val="1E2761"/>
          </a:solidFill>
          <a:ln/>
        </p:spPr>
      </p:sp>
      <p:pic>
        <p:nvPicPr>
          <p:cNvPr id="29" name="Image 2" descr="/home/claude/icons/award_white.png"/>
          <p:cNvPicPr>
            <a:picLocks noChangeAspect="1"/>
          </p:cNvPicPr>
          <p:nvPr/>
        </p:nvPicPr>
        <p:blipFill>
          <a:blip r:embed="rId5"/>
          <a:stretch>
            <a:fillRect/>
          </a:stretch>
        </p:blipFill>
        <p:spPr>
          <a:xfrm>
            <a:off x="9811512" y="2194560"/>
            <a:ext cx="411480" cy="411480"/>
          </a:xfrm>
          <a:prstGeom prst="rect">
            <a:avLst/>
          </a:prstGeom>
        </p:spPr>
      </p:pic>
      <p:sp>
        <p:nvSpPr>
          <p:cNvPr id="30" name="Text 25"/>
          <p:cNvSpPr/>
          <p:nvPr/>
        </p:nvSpPr>
        <p:spPr>
          <a:xfrm>
            <a:off x="8348472" y="2926080"/>
            <a:ext cx="3337560" cy="365760"/>
          </a:xfrm>
          <a:prstGeom prst="rect">
            <a:avLst/>
          </a:prstGeom>
          <a:noFill/>
          <a:ln/>
        </p:spPr>
        <p:txBody>
          <a:bodyPr wrap="square" lIns="0" tIns="0" rIns="0" bIns="0" rtlCol="0" anchor="ctr"/>
          <a:lstStyle/>
          <a:p>
            <a:pPr marL="0" indent="0" algn="ctr">
              <a:buNone/>
            </a:pPr>
            <a:r>
              <a:rPr lang="en-US" sz="1800" b="1" dirty="0">
                <a:solidFill>
                  <a:srgbClr val="1E2761"/>
                </a:solidFill>
                <a:latin typeface="Cambria" pitchFamily="34" charset="0"/>
                <a:ea typeface="Cambria" pitchFamily="34" charset="-122"/>
                <a:cs typeface="Cambria" pitchFamily="34" charset="-120"/>
              </a:rPr>
              <a:t>Premium</a:t>
            </a:r>
            <a:endParaRPr lang="en-US" sz="1800" dirty="0"/>
          </a:p>
        </p:txBody>
      </p:sp>
      <p:sp>
        <p:nvSpPr>
          <p:cNvPr id="31" name="Shape 26"/>
          <p:cNvSpPr/>
          <p:nvPr/>
        </p:nvSpPr>
        <p:spPr>
          <a:xfrm>
            <a:off x="8467344" y="3502152"/>
            <a:ext cx="146304" cy="146304"/>
          </a:xfrm>
          <a:prstGeom prst="ellipse">
            <a:avLst/>
          </a:prstGeom>
          <a:solidFill>
            <a:srgbClr val="1E2761"/>
          </a:solidFill>
          <a:ln/>
        </p:spPr>
      </p:sp>
      <p:sp>
        <p:nvSpPr>
          <p:cNvPr id="32" name="Text 27"/>
          <p:cNvSpPr/>
          <p:nvPr/>
        </p:nvSpPr>
        <p:spPr>
          <a:xfrm>
            <a:off x="8741664" y="3401568"/>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Buys often — 31.8 purchases on average, over 5x the Low-Value tier.</a:t>
            </a:r>
            <a:endParaRPr lang="en-US" sz="1050" dirty="0"/>
          </a:p>
        </p:txBody>
      </p:sp>
      <p:sp>
        <p:nvSpPr>
          <p:cNvPr id="33" name="Shape 28"/>
          <p:cNvSpPr/>
          <p:nvPr/>
        </p:nvSpPr>
        <p:spPr>
          <a:xfrm>
            <a:off x="8467344" y="4343400"/>
            <a:ext cx="146304" cy="146304"/>
          </a:xfrm>
          <a:prstGeom prst="ellipse">
            <a:avLst/>
          </a:prstGeom>
          <a:solidFill>
            <a:srgbClr val="1E2761"/>
          </a:solidFill>
          <a:ln/>
        </p:spPr>
      </p:sp>
      <p:sp>
        <p:nvSpPr>
          <p:cNvPr id="34" name="Text 29"/>
          <p:cNvSpPr/>
          <p:nvPr/>
        </p:nvSpPr>
        <p:spPr>
          <a:xfrm>
            <a:off x="8741664" y="4242816"/>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Spending scales strongly with income — most responsive to offers.</a:t>
            </a:r>
            <a:endParaRPr lang="en-US" sz="1050" dirty="0"/>
          </a:p>
        </p:txBody>
      </p:sp>
      <p:sp>
        <p:nvSpPr>
          <p:cNvPr id="35" name="Shape 30"/>
          <p:cNvSpPr/>
          <p:nvPr/>
        </p:nvSpPr>
        <p:spPr>
          <a:xfrm>
            <a:off x="8467344" y="5184648"/>
            <a:ext cx="146304" cy="146304"/>
          </a:xfrm>
          <a:prstGeom prst="ellipse">
            <a:avLst/>
          </a:prstGeom>
          <a:solidFill>
            <a:srgbClr val="1E2761"/>
          </a:solidFill>
          <a:ln/>
        </p:spPr>
      </p:sp>
      <p:sp>
        <p:nvSpPr>
          <p:cNvPr id="36" name="Text 31"/>
          <p:cNvSpPr/>
          <p:nvPr/>
        </p:nvSpPr>
        <p:spPr>
          <a:xfrm>
            <a:off x="8741664" y="5084064"/>
            <a:ext cx="2834640" cy="777240"/>
          </a:xfrm>
          <a:prstGeom prst="rect">
            <a:avLst/>
          </a:prstGeom>
          <a:noFill/>
          <a:ln/>
        </p:spPr>
        <p:txBody>
          <a:bodyPr wrap="square" lIns="0" tIns="0" rIns="0" bIns="0" rtlCol="0" anchor="t"/>
          <a:lstStyle/>
          <a:p>
            <a:pPr marL="0" indent="0">
              <a:buNone/>
            </a:pPr>
            <a:r>
              <a:rPr lang="en-US" sz="1050" dirty="0">
                <a:solidFill>
                  <a:srgbClr val="333333"/>
                </a:solidFill>
                <a:latin typeface="Calibri" pitchFamily="34" charset="0"/>
                <a:ea typeface="Calibri" pitchFamily="34" charset="-122"/>
                <a:cs typeface="Calibri" pitchFamily="34" charset="-120"/>
              </a:rPr>
              <a:t>Oldest, most established group (avg. age 44) and the highest lifetime value.</a:t>
            </a:r>
            <a:endParaRPr lang="en-US" sz="1050" dirty="0"/>
          </a:p>
        </p:txBody>
      </p:sp>
      <p:sp>
        <p:nvSpPr>
          <p:cNvPr id="37" name="Text 3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8" name="Text 3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Member 4 – Marketing &amp; Profit Analysis</a:t>
            </a:r>
            <a:endParaRPr lang="en-US" sz="28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Turning customer segments into targeted strategy and business impact</a:t>
            </a:r>
            <a:endParaRPr lang="en-US" sz="1300" dirty="0"/>
          </a:p>
        </p:txBody>
      </p:sp>
      <p:sp>
        <p:nvSpPr>
          <p:cNvPr id="4" name="Shape 2"/>
          <p:cNvSpPr/>
          <p:nvPr/>
        </p:nvSpPr>
        <p:spPr>
          <a:xfrm>
            <a:off x="548640" y="1691640"/>
            <a:ext cx="3749040" cy="4617720"/>
          </a:xfrm>
          <a:prstGeom prst="roundRect">
            <a:avLst>
              <a:gd name="adj" fmla="val 2439"/>
            </a:avLst>
          </a:prstGeom>
          <a:solidFill>
            <a:srgbClr val="1E2761"/>
          </a:solidFill>
          <a:ln/>
          <a:effectLst>
            <a:outerShdw blurRad="127000" dist="38100" dir="5400000" algn="bl" rotWithShape="0">
              <a:srgbClr val="1E2761">
                <a:alpha val="18000"/>
              </a:srgbClr>
            </a:outerShdw>
          </a:effectLst>
        </p:spPr>
      </p:sp>
      <p:sp>
        <p:nvSpPr>
          <p:cNvPr id="5" name="Shape 3"/>
          <p:cNvSpPr/>
          <p:nvPr/>
        </p:nvSpPr>
        <p:spPr>
          <a:xfrm>
            <a:off x="1737360" y="2194560"/>
            <a:ext cx="1371600" cy="1371600"/>
          </a:xfrm>
          <a:prstGeom prst="ellipse">
            <a:avLst/>
          </a:prstGeom>
          <a:solidFill>
            <a:srgbClr val="2A3A82"/>
          </a:solidFill>
          <a:ln w="25400">
            <a:solidFill>
              <a:srgbClr val="D4A017"/>
            </a:solidFill>
            <a:prstDash val="solid"/>
          </a:ln>
        </p:spPr>
      </p:sp>
      <p:pic>
        <p:nvPicPr>
          <p:cNvPr id="6" name="Image 0" descr="/home/claude/icons/user_gold.png"/>
          <p:cNvPicPr>
            <a:picLocks noChangeAspect="1"/>
          </p:cNvPicPr>
          <p:nvPr/>
        </p:nvPicPr>
        <p:blipFill>
          <a:blip r:embed="rId3"/>
          <a:stretch>
            <a:fillRect/>
          </a:stretch>
        </p:blipFill>
        <p:spPr>
          <a:xfrm>
            <a:off x="2034540" y="2491740"/>
            <a:ext cx="777240" cy="777240"/>
          </a:xfrm>
          <a:prstGeom prst="rect">
            <a:avLst/>
          </a:prstGeom>
        </p:spPr>
      </p:pic>
      <p:sp>
        <p:nvSpPr>
          <p:cNvPr id="7" name="Text 4"/>
          <p:cNvSpPr/>
          <p:nvPr/>
        </p:nvSpPr>
        <p:spPr>
          <a:xfrm>
            <a:off x="731520" y="3794760"/>
            <a:ext cx="33832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Member 4 Name</a:t>
            </a:r>
            <a:endParaRPr lang="en-US" sz="1800" dirty="0"/>
          </a:p>
        </p:txBody>
      </p:sp>
      <p:sp>
        <p:nvSpPr>
          <p:cNvPr id="8" name="Text 5"/>
          <p:cNvSpPr/>
          <p:nvPr/>
        </p:nvSpPr>
        <p:spPr>
          <a:xfrm>
            <a:off x="731520" y="4178808"/>
            <a:ext cx="3383280" cy="320040"/>
          </a:xfrm>
          <a:prstGeom prst="rect">
            <a:avLst/>
          </a:prstGeom>
          <a:noFill/>
          <a:ln/>
        </p:spPr>
        <p:txBody>
          <a:bodyPr wrap="square" lIns="0" tIns="0" rIns="0" bIns="0" rtlCol="0" anchor="ctr"/>
          <a:lstStyle/>
          <a:p>
            <a:pPr marL="0" indent="0" algn="ctr">
              <a:buNone/>
            </a:pPr>
            <a:r>
              <a:rPr lang="en-US" sz="1250" i="1" dirty="0">
                <a:solidFill>
                  <a:srgbClr val="D4A017"/>
                </a:solidFill>
                <a:latin typeface="Calibri" pitchFamily="34" charset="0"/>
                <a:ea typeface="Calibri" pitchFamily="34" charset="-122"/>
                <a:cs typeface="Calibri" pitchFamily="34" charset="-120"/>
              </a:rPr>
              <a:t>Marketing &amp; Profit Analysis</a:t>
            </a:r>
            <a:endParaRPr lang="en-US" sz="1250" dirty="0"/>
          </a:p>
        </p:txBody>
      </p:sp>
      <p:sp>
        <p:nvSpPr>
          <p:cNvPr id="9" name="Shape 6"/>
          <p:cNvSpPr/>
          <p:nvPr/>
        </p:nvSpPr>
        <p:spPr>
          <a:xfrm>
            <a:off x="1371600" y="4663440"/>
            <a:ext cx="2103120" cy="0"/>
          </a:xfrm>
          <a:prstGeom prst="line">
            <a:avLst/>
          </a:prstGeom>
          <a:noFill/>
          <a:ln w="12700">
            <a:solidFill>
              <a:srgbClr val="3A4A9E"/>
            </a:solidFill>
            <a:prstDash val="solid"/>
          </a:ln>
        </p:spPr>
      </p:sp>
      <p:sp>
        <p:nvSpPr>
          <p:cNvPr id="10" name="Shape 7"/>
          <p:cNvSpPr/>
          <p:nvPr/>
        </p:nvSpPr>
        <p:spPr>
          <a:xfrm>
            <a:off x="868680" y="4892040"/>
            <a:ext cx="329184" cy="329184"/>
          </a:xfrm>
          <a:prstGeom prst="ellipse">
            <a:avLst/>
          </a:prstGeom>
          <a:solidFill>
            <a:srgbClr val="2A3A82"/>
          </a:solidFill>
          <a:ln/>
        </p:spPr>
      </p:sp>
      <p:pic>
        <p:nvPicPr>
          <p:cNvPr id="11" name="Image 1" descr="/home/claude/icons/check_gold.png"/>
          <p:cNvPicPr>
            <a:picLocks noChangeAspect="1"/>
          </p:cNvPicPr>
          <p:nvPr/>
        </p:nvPicPr>
        <p:blipFill>
          <a:blip r:embed="rId4"/>
          <a:stretch>
            <a:fillRect/>
          </a:stretch>
        </p:blipFill>
        <p:spPr>
          <a:xfrm>
            <a:off x="954268" y="4977628"/>
            <a:ext cx="158008" cy="158008"/>
          </a:xfrm>
          <a:prstGeom prst="rect">
            <a:avLst/>
          </a:prstGeom>
        </p:spPr>
      </p:pic>
      <p:sp>
        <p:nvSpPr>
          <p:cNvPr id="12" name="Text 8"/>
          <p:cNvSpPr/>
          <p:nvPr/>
        </p:nvSpPr>
        <p:spPr>
          <a:xfrm>
            <a:off x="1325880" y="48737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Segment Targeting</a:t>
            </a:r>
            <a:endParaRPr lang="en-US" sz="1150" dirty="0"/>
          </a:p>
        </p:txBody>
      </p:sp>
      <p:sp>
        <p:nvSpPr>
          <p:cNvPr id="13" name="Shape 9"/>
          <p:cNvSpPr/>
          <p:nvPr/>
        </p:nvSpPr>
        <p:spPr>
          <a:xfrm>
            <a:off x="868680" y="5349240"/>
            <a:ext cx="329184" cy="329184"/>
          </a:xfrm>
          <a:prstGeom prst="ellipse">
            <a:avLst/>
          </a:prstGeom>
          <a:solidFill>
            <a:srgbClr val="2A3A82"/>
          </a:solidFill>
          <a:ln/>
        </p:spPr>
      </p:sp>
      <p:pic>
        <p:nvPicPr>
          <p:cNvPr id="14" name="Image 2" descr="/home/claude/icons/check_gold.png"/>
          <p:cNvPicPr>
            <a:picLocks noChangeAspect="1"/>
          </p:cNvPicPr>
          <p:nvPr/>
        </p:nvPicPr>
        <p:blipFill>
          <a:blip r:embed="rId4"/>
          <a:stretch>
            <a:fillRect/>
          </a:stretch>
        </p:blipFill>
        <p:spPr>
          <a:xfrm>
            <a:off x="954268" y="5434828"/>
            <a:ext cx="158008" cy="158008"/>
          </a:xfrm>
          <a:prstGeom prst="rect">
            <a:avLst/>
          </a:prstGeom>
        </p:spPr>
      </p:pic>
      <p:sp>
        <p:nvSpPr>
          <p:cNvPr id="15" name="Text 10"/>
          <p:cNvSpPr/>
          <p:nvPr/>
        </p:nvSpPr>
        <p:spPr>
          <a:xfrm>
            <a:off x="1325880" y="53309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Campaign Strategy</a:t>
            </a:r>
            <a:endParaRPr lang="en-US" sz="1150" dirty="0"/>
          </a:p>
        </p:txBody>
      </p:sp>
      <p:sp>
        <p:nvSpPr>
          <p:cNvPr id="16" name="Shape 11"/>
          <p:cNvSpPr/>
          <p:nvPr/>
        </p:nvSpPr>
        <p:spPr>
          <a:xfrm>
            <a:off x="868680" y="5806440"/>
            <a:ext cx="329184" cy="329184"/>
          </a:xfrm>
          <a:prstGeom prst="ellipse">
            <a:avLst/>
          </a:prstGeom>
          <a:solidFill>
            <a:srgbClr val="2A3A82"/>
          </a:solidFill>
          <a:ln/>
        </p:spPr>
      </p:sp>
      <p:pic>
        <p:nvPicPr>
          <p:cNvPr id="17" name="Image 3" descr="/home/claude/icons/check_gold.png"/>
          <p:cNvPicPr>
            <a:picLocks noChangeAspect="1"/>
          </p:cNvPicPr>
          <p:nvPr/>
        </p:nvPicPr>
        <p:blipFill>
          <a:blip r:embed="rId4"/>
          <a:stretch>
            <a:fillRect/>
          </a:stretch>
        </p:blipFill>
        <p:spPr>
          <a:xfrm>
            <a:off x="954268" y="5892028"/>
            <a:ext cx="158008" cy="158008"/>
          </a:xfrm>
          <a:prstGeom prst="rect">
            <a:avLst/>
          </a:prstGeom>
        </p:spPr>
      </p:pic>
      <p:sp>
        <p:nvSpPr>
          <p:cNvPr id="18" name="Text 12"/>
          <p:cNvSpPr/>
          <p:nvPr/>
        </p:nvSpPr>
        <p:spPr>
          <a:xfrm>
            <a:off x="1325880" y="57881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Profit Analysis</a:t>
            </a:r>
            <a:endParaRPr lang="en-US" sz="1150" dirty="0"/>
          </a:p>
        </p:txBody>
      </p:sp>
      <p:sp>
        <p:nvSpPr>
          <p:cNvPr id="19" name="Text 13"/>
          <p:cNvSpPr/>
          <p:nvPr/>
        </p:nvSpPr>
        <p:spPr>
          <a:xfrm>
            <a:off x="4709160" y="1691640"/>
            <a:ext cx="6931152"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Role Summary</a:t>
            </a:r>
            <a:endParaRPr lang="en-US" sz="1400" dirty="0"/>
          </a:p>
        </p:txBody>
      </p:sp>
      <p:sp>
        <p:nvSpPr>
          <p:cNvPr id="20" name="Text 14"/>
          <p:cNvSpPr/>
          <p:nvPr/>
        </p:nvSpPr>
        <p:spPr>
          <a:xfrm>
            <a:off x="4709160" y="2029968"/>
            <a:ext cx="6931152" cy="68580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Converts the four customer segments into practical marketing decisions — deciding who to target, how, and estimating what each strategy is worth in terms of profit and return.</a:t>
            </a:r>
            <a:endParaRPr lang="en-US" sz="1200" dirty="0"/>
          </a:p>
        </p:txBody>
      </p:sp>
      <p:sp>
        <p:nvSpPr>
          <p:cNvPr id="21" name="Shape 15"/>
          <p:cNvSpPr/>
          <p:nvPr/>
        </p:nvSpPr>
        <p:spPr>
          <a:xfrm>
            <a:off x="4709160" y="2880360"/>
            <a:ext cx="6931152" cy="960120"/>
          </a:xfrm>
          <a:prstGeom prst="roundRect">
            <a:avLst>
              <a:gd name="adj" fmla="val 7619"/>
            </a:avLst>
          </a:prstGeom>
          <a:solidFill>
            <a:srgbClr val="F7F8FC"/>
          </a:solidFill>
          <a:ln/>
        </p:spPr>
      </p:sp>
      <p:sp>
        <p:nvSpPr>
          <p:cNvPr id="22" name="Shape 16"/>
          <p:cNvSpPr/>
          <p:nvPr/>
        </p:nvSpPr>
        <p:spPr>
          <a:xfrm>
            <a:off x="4910328" y="3081528"/>
            <a:ext cx="548640" cy="548640"/>
          </a:xfrm>
          <a:prstGeom prst="ellipse">
            <a:avLst/>
          </a:prstGeom>
          <a:solidFill>
            <a:srgbClr val="1E2761"/>
          </a:solidFill>
          <a:ln/>
        </p:spPr>
      </p:sp>
      <p:pic>
        <p:nvPicPr>
          <p:cNvPr id="23" name="Image 4" descr="/home/claude/icons/target_white.png"/>
          <p:cNvPicPr>
            <a:picLocks noChangeAspect="1"/>
          </p:cNvPicPr>
          <p:nvPr/>
        </p:nvPicPr>
        <p:blipFill>
          <a:blip r:embed="rId5"/>
          <a:stretch>
            <a:fillRect/>
          </a:stretch>
        </p:blipFill>
        <p:spPr>
          <a:xfrm>
            <a:off x="5052974" y="3224174"/>
            <a:ext cx="263347" cy="263347"/>
          </a:xfrm>
          <a:prstGeom prst="rect">
            <a:avLst/>
          </a:prstGeom>
        </p:spPr>
      </p:pic>
      <p:sp>
        <p:nvSpPr>
          <p:cNvPr id="24" name="Text 17"/>
          <p:cNvSpPr/>
          <p:nvPr/>
        </p:nvSpPr>
        <p:spPr>
          <a:xfrm>
            <a:off x="5669280" y="299923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Segment Targeting</a:t>
            </a:r>
            <a:endParaRPr lang="en-US" sz="1300" dirty="0"/>
          </a:p>
        </p:txBody>
      </p:sp>
      <p:sp>
        <p:nvSpPr>
          <p:cNvPr id="25" name="Text 18"/>
          <p:cNvSpPr/>
          <p:nvPr/>
        </p:nvSpPr>
        <p:spPr>
          <a:xfrm>
            <a:off x="5669280" y="331012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Identified which segments (e.g. VIP, Premium) offer the highest marketing return and priority.</a:t>
            </a:r>
            <a:endParaRPr lang="en-US" sz="1050" dirty="0"/>
          </a:p>
        </p:txBody>
      </p:sp>
      <p:sp>
        <p:nvSpPr>
          <p:cNvPr id="26" name="Shape 19"/>
          <p:cNvSpPr/>
          <p:nvPr/>
        </p:nvSpPr>
        <p:spPr>
          <a:xfrm>
            <a:off x="4709160" y="3977640"/>
            <a:ext cx="6931152" cy="960120"/>
          </a:xfrm>
          <a:prstGeom prst="roundRect">
            <a:avLst>
              <a:gd name="adj" fmla="val 7619"/>
            </a:avLst>
          </a:prstGeom>
          <a:solidFill>
            <a:srgbClr val="F7F8FC"/>
          </a:solidFill>
          <a:ln/>
        </p:spPr>
      </p:sp>
      <p:sp>
        <p:nvSpPr>
          <p:cNvPr id="27" name="Shape 20"/>
          <p:cNvSpPr/>
          <p:nvPr/>
        </p:nvSpPr>
        <p:spPr>
          <a:xfrm>
            <a:off x="4910328" y="4178808"/>
            <a:ext cx="548640" cy="548640"/>
          </a:xfrm>
          <a:prstGeom prst="ellipse">
            <a:avLst/>
          </a:prstGeom>
          <a:solidFill>
            <a:srgbClr val="1E2761"/>
          </a:solidFill>
          <a:ln/>
        </p:spPr>
      </p:sp>
      <p:pic>
        <p:nvPicPr>
          <p:cNvPr id="28" name="Image 5" descr="/home/claude/icons/trending_white.png"/>
          <p:cNvPicPr>
            <a:picLocks noChangeAspect="1"/>
          </p:cNvPicPr>
          <p:nvPr/>
        </p:nvPicPr>
        <p:blipFill>
          <a:blip r:embed="rId6"/>
          <a:stretch>
            <a:fillRect/>
          </a:stretch>
        </p:blipFill>
        <p:spPr>
          <a:xfrm>
            <a:off x="5052974" y="4321454"/>
            <a:ext cx="263347" cy="263347"/>
          </a:xfrm>
          <a:prstGeom prst="rect">
            <a:avLst/>
          </a:prstGeom>
        </p:spPr>
      </p:pic>
      <p:sp>
        <p:nvSpPr>
          <p:cNvPr id="29" name="Text 21"/>
          <p:cNvSpPr/>
          <p:nvPr/>
        </p:nvSpPr>
        <p:spPr>
          <a:xfrm>
            <a:off x="5669280" y="409651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Campaign Strategy</a:t>
            </a:r>
            <a:endParaRPr lang="en-US" sz="1300" dirty="0"/>
          </a:p>
        </p:txBody>
      </p:sp>
      <p:sp>
        <p:nvSpPr>
          <p:cNvPr id="30" name="Text 22"/>
          <p:cNvSpPr/>
          <p:nvPr/>
        </p:nvSpPr>
        <p:spPr>
          <a:xfrm>
            <a:off x="5669280" y="440740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Shaped messaging and offers tailored to each segment's income, engagement, and purchase behavior.</a:t>
            </a:r>
            <a:endParaRPr lang="en-US" sz="1050" dirty="0"/>
          </a:p>
        </p:txBody>
      </p:sp>
      <p:sp>
        <p:nvSpPr>
          <p:cNvPr id="31" name="Shape 23"/>
          <p:cNvSpPr/>
          <p:nvPr/>
        </p:nvSpPr>
        <p:spPr>
          <a:xfrm>
            <a:off x="4709160" y="5074920"/>
            <a:ext cx="6931152" cy="960120"/>
          </a:xfrm>
          <a:prstGeom prst="roundRect">
            <a:avLst>
              <a:gd name="adj" fmla="val 7619"/>
            </a:avLst>
          </a:prstGeom>
          <a:solidFill>
            <a:srgbClr val="F7F8FC"/>
          </a:solidFill>
          <a:ln/>
        </p:spPr>
      </p:sp>
      <p:sp>
        <p:nvSpPr>
          <p:cNvPr id="32" name="Shape 24"/>
          <p:cNvSpPr/>
          <p:nvPr/>
        </p:nvSpPr>
        <p:spPr>
          <a:xfrm>
            <a:off x="4910328" y="5276088"/>
            <a:ext cx="548640" cy="548640"/>
          </a:xfrm>
          <a:prstGeom prst="ellipse">
            <a:avLst/>
          </a:prstGeom>
          <a:solidFill>
            <a:srgbClr val="1E2761"/>
          </a:solidFill>
          <a:ln/>
        </p:spPr>
      </p:sp>
      <p:pic>
        <p:nvPicPr>
          <p:cNvPr id="33" name="Image 6" descr="/home/claude/icons/dollar_white.png"/>
          <p:cNvPicPr>
            <a:picLocks noChangeAspect="1"/>
          </p:cNvPicPr>
          <p:nvPr/>
        </p:nvPicPr>
        <p:blipFill>
          <a:blip r:embed="rId7"/>
          <a:stretch>
            <a:fillRect/>
          </a:stretch>
        </p:blipFill>
        <p:spPr>
          <a:xfrm>
            <a:off x="5052974" y="5418734"/>
            <a:ext cx="263347" cy="263347"/>
          </a:xfrm>
          <a:prstGeom prst="rect">
            <a:avLst/>
          </a:prstGeom>
        </p:spPr>
      </p:pic>
      <p:sp>
        <p:nvSpPr>
          <p:cNvPr id="34" name="Text 25"/>
          <p:cNvSpPr/>
          <p:nvPr/>
        </p:nvSpPr>
        <p:spPr>
          <a:xfrm>
            <a:off x="5669280" y="519379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Profit Analysis</a:t>
            </a:r>
            <a:endParaRPr lang="en-US" sz="1300" dirty="0"/>
          </a:p>
        </p:txBody>
      </p:sp>
      <p:sp>
        <p:nvSpPr>
          <p:cNvPr id="35" name="Text 26"/>
          <p:cNvSpPr/>
          <p:nvPr/>
        </p:nvSpPr>
        <p:spPr>
          <a:xfrm>
            <a:off x="5669280" y="550468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Estimated the revenue and profit impact of targeting each segment to guide budget allocation.</a:t>
            </a:r>
            <a:endParaRPr lang="en-US" sz="1050" dirty="0"/>
          </a:p>
        </p:txBody>
      </p:sp>
      <p:sp>
        <p:nvSpPr>
          <p:cNvPr id="36" name="Text 2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7" name="Text 2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Personalized Marketing Strategies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One targeted strategy for each of the four customer segments</a:t>
            </a:r>
            <a:endParaRPr lang="en-US" sz="1300" dirty="0"/>
          </a:p>
        </p:txBody>
      </p:sp>
      <p:sp>
        <p:nvSpPr>
          <p:cNvPr id="4" name="Shape 2"/>
          <p:cNvSpPr/>
          <p:nvPr/>
        </p:nvSpPr>
        <p:spPr>
          <a:xfrm>
            <a:off x="548640" y="1783080"/>
            <a:ext cx="5349240" cy="2057400"/>
          </a:xfrm>
          <a:prstGeom prst="roundRect">
            <a:avLst>
              <a:gd name="adj" fmla="val 4000"/>
            </a:avLst>
          </a:prstGeom>
          <a:solidFill>
            <a:srgbClr val="8FA6D6"/>
          </a:solidFill>
          <a:ln/>
          <a:effectLst>
            <a:outerShdw blurRad="101600" dist="38100" dir="5400000" algn="bl" rotWithShape="0">
              <a:srgbClr val="1E2761">
                <a:alpha val="18000"/>
              </a:srgbClr>
            </a:outerShdw>
          </a:effectLst>
        </p:spPr>
      </p:sp>
      <p:sp>
        <p:nvSpPr>
          <p:cNvPr id="5" name="Shape 3"/>
          <p:cNvSpPr/>
          <p:nvPr/>
        </p:nvSpPr>
        <p:spPr>
          <a:xfrm>
            <a:off x="804672" y="2039112"/>
            <a:ext cx="594360" cy="594360"/>
          </a:xfrm>
          <a:prstGeom prst="ellipse">
            <a:avLst/>
          </a:prstGeom>
          <a:solidFill>
            <a:srgbClr val="FFFFFF"/>
          </a:solidFill>
          <a:ln/>
        </p:spPr>
      </p:sp>
      <p:pic>
        <p:nvPicPr>
          <p:cNvPr id="6" name="Image 0" descr="/home/claude/icons/card_navy.png"/>
          <p:cNvPicPr>
            <a:picLocks noChangeAspect="1"/>
          </p:cNvPicPr>
          <p:nvPr/>
        </p:nvPicPr>
        <p:blipFill>
          <a:blip r:embed="rId3"/>
          <a:stretch>
            <a:fillRect/>
          </a:stretch>
        </p:blipFill>
        <p:spPr>
          <a:xfrm>
            <a:off x="923544" y="2157984"/>
            <a:ext cx="356616" cy="356616"/>
          </a:xfrm>
          <a:prstGeom prst="rect">
            <a:avLst/>
          </a:prstGeom>
        </p:spPr>
      </p:pic>
      <p:sp>
        <p:nvSpPr>
          <p:cNvPr id="7" name="Text 4"/>
          <p:cNvSpPr/>
          <p:nvPr/>
        </p:nvSpPr>
        <p:spPr>
          <a:xfrm>
            <a:off x="1554480" y="2039112"/>
            <a:ext cx="4114800" cy="256032"/>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BUDGET</a:t>
            </a:r>
            <a:endParaRPr lang="en-US" sz="1000" dirty="0"/>
          </a:p>
        </p:txBody>
      </p:sp>
      <p:sp>
        <p:nvSpPr>
          <p:cNvPr id="8" name="Text 5"/>
          <p:cNvSpPr/>
          <p:nvPr/>
        </p:nvSpPr>
        <p:spPr>
          <a:xfrm>
            <a:off x="1554480" y="2276856"/>
            <a:ext cx="4114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Convert With Value Messaging</a:t>
            </a:r>
            <a:endParaRPr lang="en-US" sz="1450" dirty="0"/>
          </a:p>
        </p:txBody>
      </p:sp>
      <p:sp>
        <p:nvSpPr>
          <p:cNvPr id="9" name="Text 6"/>
          <p:cNvSpPr/>
          <p:nvPr/>
        </p:nvSpPr>
        <p:spPr>
          <a:xfrm>
            <a:off x="841248" y="2834640"/>
            <a:ext cx="4764024" cy="914400"/>
          </a:xfrm>
          <a:prstGeom prst="rect">
            <a:avLst/>
          </a:prstGeom>
          <a:noFill/>
          <a:ln/>
        </p:spPr>
        <p:txBody>
          <a:bodyPr wrap="square" lIns="0" tIns="0" rIns="0" bIns="0" rtlCol="0" anchor="t"/>
          <a:lstStyle/>
          <a:p>
            <a:pPr marL="0" indent="0">
              <a:buNone/>
            </a:pPr>
            <a:r>
              <a:rPr lang="en-US" sz="1100" dirty="0">
                <a:solidFill>
                  <a:srgbClr val="F0F2FA"/>
                </a:solidFill>
                <a:latin typeface="Calibri" pitchFamily="34" charset="0"/>
                <a:ea typeface="Calibri" pitchFamily="34" charset="-122"/>
                <a:cs typeface="Calibri" pitchFamily="34" charset="-120"/>
              </a:rPr>
              <a:t>Offer entry-level bundles, first-purchase discounts, and flexible payment options to build loyalty early.</a:t>
            </a:r>
            <a:endParaRPr lang="en-US" sz="1100" dirty="0"/>
          </a:p>
        </p:txBody>
      </p:sp>
      <p:sp>
        <p:nvSpPr>
          <p:cNvPr id="10" name="Shape 7"/>
          <p:cNvSpPr/>
          <p:nvPr/>
        </p:nvSpPr>
        <p:spPr>
          <a:xfrm>
            <a:off x="6153912" y="1783080"/>
            <a:ext cx="5349240" cy="2057400"/>
          </a:xfrm>
          <a:prstGeom prst="roundRect">
            <a:avLst>
              <a:gd name="adj" fmla="val 4000"/>
            </a:avLst>
          </a:prstGeom>
          <a:solidFill>
            <a:srgbClr val="4A62A8"/>
          </a:solidFill>
          <a:ln/>
          <a:effectLst>
            <a:outerShdw blurRad="101600" dist="38100" dir="5400000" algn="bl" rotWithShape="0">
              <a:srgbClr val="1E2761">
                <a:alpha val="18000"/>
              </a:srgbClr>
            </a:outerShdw>
          </a:effectLst>
        </p:spPr>
      </p:sp>
      <p:sp>
        <p:nvSpPr>
          <p:cNvPr id="11" name="Shape 8"/>
          <p:cNvSpPr/>
          <p:nvPr/>
        </p:nvSpPr>
        <p:spPr>
          <a:xfrm>
            <a:off x="6409944" y="2039112"/>
            <a:ext cx="594360" cy="594360"/>
          </a:xfrm>
          <a:prstGeom prst="ellipse">
            <a:avLst/>
          </a:prstGeom>
          <a:solidFill>
            <a:srgbClr val="FFFFFF"/>
          </a:solidFill>
          <a:ln/>
        </p:spPr>
      </p:sp>
      <p:pic>
        <p:nvPicPr>
          <p:cNvPr id="12" name="Image 1" descr="/home/claude/icons/user_navy.png"/>
          <p:cNvPicPr>
            <a:picLocks noChangeAspect="1"/>
          </p:cNvPicPr>
          <p:nvPr/>
        </p:nvPicPr>
        <p:blipFill>
          <a:blip r:embed="rId4"/>
          <a:stretch>
            <a:fillRect/>
          </a:stretch>
        </p:blipFill>
        <p:spPr>
          <a:xfrm>
            <a:off x="6528816" y="2157984"/>
            <a:ext cx="356616" cy="356616"/>
          </a:xfrm>
          <a:prstGeom prst="rect">
            <a:avLst/>
          </a:prstGeom>
        </p:spPr>
      </p:pic>
      <p:sp>
        <p:nvSpPr>
          <p:cNvPr id="13" name="Text 9"/>
          <p:cNvSpPr/>
          <p:nvPr/>
        </p:nvSpPr>
        <p:spPr>
          <a:xfrm>
            <a:off x="7159752" y="2039112"/>
            <a:ext cx="4114800" cy="256032"/>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REGULAR</a:t>
            </a:r>
            <a:endParaRPr lang="en-US" sz="1000" dirty="0"/>
          </a:p>
        </p:txBody>
      </p:sp>
      <p:sp>
        <p:nvSpPr>
          <p:cNvPr id="14" name="Text 10"/>
          <p:cNvSpPr/>
          <p:nvPr/>
        </p:nvSpPr>
        <p:spPr>
          <a:xfrm>
            <a:off x="7159752" y="2276856"/>
            <a:ext cx="4114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Increase Engagement Frequency</a:t>
            </a:r>
            <a:endParaRPr lang="en-US" sz="1450" dirty="0"/>
          </a:p>
        </p:txBody>
      </p:sp>
      <p:sp>
        <p:nvSpPr>
          <p:cNvPr id="15" name="Text 11"/>
          <p:cNvSpPr/>
          <p:nvPr/>
        </p:nvSpPr>
        <p:spPr>
          <a:xfrm>
            <a:off x="6446520" y="2834640"/>
            <a:ext cx="4764024" cy="914400"/>
          </a:xfrm>
          <a:prstGeom prst="rect">
            <a:avLst/>
          </a:prstGeom>
          <a:noFill/>
          <a:ln/>
        </p:spPr>
        <p:txBody>
          <a:bodyPr wrap="square" lIns="0" tIns="0" rIns="0" bIns="0" rtlCol="0" anchor="t"/>
          <a:lstStyle/>
          <a:p>
            <a:pPr marL="0" indent="0">
              <a:buNone/>
            </a:pPr>
            <a:r>
              <a:rPr lang="en-US" sz="1100" dirty="0">
                <a:solidFill>
                  <a:srgbClr val="F0F2FA"/>
                </a:solidFill>
                <a:latin typeface="Calibri" pitchFamily="34" charset="0"/>
                <a:ea typeface="Calibri" pitchFamily="34" charset="-122"/>
                <a:cs typeface="Calibri" pitchFamily="34" charset="-120"/>
              </a:rPr>
              <a:t>Use lifecycle email campaigns and personalized recommendations to lift purchase frequency over time.</a:t>
            </a:r>
            <a:endParaRPr lang="en-US" sz="1100" dirty="0"/>
          </a:p>
        </p:txBody>
      </p:sp>
      <p:sp>
        <p:nvSpPr>
          <p:cNvPr id="16" name="Shape 12"/>
          <p:cNvSpPr/>
          <p:nvPr/>
        </p:nvSpPr>
        <p:spPr>
          <a:xfrm>
            <a:off x="548640" y="4114800"/>
            <a:ext cx="5349240" cy="2057400"/>
          </a:xfrm>
          <a:prstGeom prst="roundRect">
            <a:avLst>
              <a:gd name="adj" fmla="val 4000"/>
            </a:avLst>
          </a:prstGeom>
          <a:solidFill>
            <a:srgbClr val="2A3A82"/>
          </a:solidFill>
          <a:ln/>
          <a:effectLst>
            <a:outerShdw blurRad="101600" dist="38100" dir="5400000" algn="bl" rotWithShape="0">
              <a:srgbClr val="1E2761">
                <a:alpha val="18000"/>
              </a:srgbClr>
            </a:outerShdw>
          </a:effectLst>
        </p:spPr>
      </p:sp>
      <p:sp>
        <p:nvSpPr>
          <p:cNvPr id="17" name="Shape 13"/>
          <p:cNvSpPr/>
          <p:nvPr/>
        </p:nvSpPr>
        <p:spPr>
          <a:xfrm>
            <a:off x="804672" y="4370832"/>
            <a:ext cx="594360" cy="594360"/>
          </a:xfrm>
          <a:prstGeom prst="ellipse">
            <a:avLst/>
          </a:prstGeom>
          <a:solidFill>
            <a:srgbClr val="FFFFFF"/>
          </a:solidFill>
          <a:ln/>
        </p:spPr>
      </p:sp>
      <p:pic>
        <p:nvPicPr>
          <p:cNvPr id="18" name="Image 2" descr="/home/claude/icons/star_navy.png"/>
          <p:cNvPicPr>
            <a:picLocks noChangeAspect="1"/>
          </p:cNvPicPr>
          <p:nvPr/>
        </p:nvPicPr>
        <p:blipFill>
          <a:blip r:embed="rId5"/>
          <a:stretch>
            <a:fillRect/>
          </a:stretch>
        </p:blipFill>
        <p:spPr>
          <a:xfrm>
            <a:off x="923544" y="4489704"/>
            <a:ext cx="356616" cy="356616"/>
          </a:xfrm>
          <a:prstGeom prst="rect">
            <a:avLst/>
          </a:prstGeom>
        </p:spPr>
      </p:pic>
      <p:sp>
        <p:nvSpPr>
          <p:cNvPr id="19" name="Text 14"/>
          <p:cNvSpPr/>
          <p:nvPr/>
        </p:nvSpPr>
        <p:spPr>
          <a:xfrm>
            <a:off x="1554480" y="4370832"/>
            <a:ext cx="4114800" cy="256032"/>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PREMIUM</a:t>
            </a:r>
            <a:endParaRPr lang="en-US" sz="1000" dirty="0"/>
          </a:p>
        </p:txBody>
      </p:sp>
      <p:sp>
        <p:nvSpPr>
          <p:cNvPr id="20" name="Text 15"/>
          <p:cNvSpPr/>
          <p:nvPr/>
        </p:nvSpPr>
        <p:spPr>
          <a:xfrm>
            <a:off x="1554480" y="4608576"/>
            <a:ext cx="4114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Grow Toward VIP</a:t>
            </a:r>
            <a:endParaRPr lang="en-US" sz="1450" dirty="0"/>
          </a:p>
        </p:txBody>
      </p:sp>
      <p:sp>
        <p:nvSpPr>
          <p:cNvPr id="21" name="Text 16"/>
          <p:cNvSpPr/>
          <p:nvPr/>
        </p:nvSpPr>
        <p:spPr>
          <a:xfrm>
            <a:off x="841248" y="5166360"/>
            <a:ext cx="4764024" cy="914400"/>
          </a:xfrm>
          <a:prstGeom prst="rect">
            <a:avLst/>
          </a:prstGeom>
          <a:noFill/>
          <a:ln/>
        </p:spPr>
        <p:txBody>
          <a:bodyPr wrap="square" lIns="0" tIns="0" rIns="0" bIns="0" rtlCol="0" anchor="t"/>
          <a:lstStyle/>
          <a:p>
            <a:pPr marL="0" indent="0">
              <a:buNone/>
            </a:pPr>
            <a:r>
              <a:rPr lang="en-US" sz="1100" dirty="0">
                <a:solidFill>
                  <a:srgbClr val="F0F2FA"/>
                </a:solidFill>
                <a:latin typeface="Calibri" pitchFamily="34" charset="0"/>
                <a:ea typeface="Calibri" pitchFamily="34" charset="-122"/>
                <a:cs typeface="Calibri" pitchFamily="34" charset="-120"/>
              </a:rPr>
              <a:t>Deploy targeted upsell offers and bundle incentives to migrate Premium customers toward VIP behavior.</a:t>
            </a:r>
            <a:endParaRPr lang="en-US" sz="1100" dirty="0"/>
          </a:p>
        </p:txBody>
      </p:sp>
      <p:sp>
        <p:nvSpPr>
          <p:cNvPr id="22" name="Shape 17"/>
          <p:cNvSpPr/>
          <p:nvPr/>
        </p:nvSpPr>
        <p:spPr>
          <a:xfrm>
            <a:off x="6153912" y="4114800"/>
            <a:ext cx="5349240" cy="2057400"/>
          </a:xfrm>
          <a:prstGeom prst="roundRect">
            <a:avLst>
              <a:gd name="adj" fmla="val 4000"/>
            </a:avLst>
          </a:prstGeom>
          <a:solidFill>
            <a:srgbClr val="D4A017"/>
          </a:solidFill>
          <a:ln/>
          <a:effectLst>
            <a:outerShdw blurRad="101600" dist="38100" dir="5400000" algn="bl" rotWithShape="0">
              <a:srgbClr val="1E2761">
                <a:alpha val="18000"/>
              </a:srgbClr>
            </a:outerShdw>
          </a:effectLst>
        </p:spPr>
      </p:sp>
      <p:sp>
        <p:nvSpPr>
          <p:cNvPr id="23" name="Shape 18"/>
          <p:cNvSpPr/>
          <p:nvPr/>
        </p:nvSpPr>
        <p:spPr>
          <a:xfrm>
            <a:off x="6409944" y="4370832"/>
            <a:ext cx="594360" cy="594360"/>
          </a:xfrm>
          <a:prstGeom prst="ellipse">
            <a:avLst/>
          </a:prstGeom>
          <a:solidFill>
            <a:srgbClr val="FFFFFF"/>
          </a:solidFill>
          <a:ln/>
        </p:spPr>
      </p:sp>
      <p:pic>
        <p:nvPicPr>
          <p:cNvPr id="24" name="Image 3" descr="/home/claude/icons/award_navy.png"/>
          <p:cNvPicPr>
            <a:picLocks noChangeAspect="1"/>
          </p:cNvPicPr>
          <p:nvPr/>
        </p:nvPicPr>
        <p:blipFill>
          <a:blip r:embed="rId6"/>
          <a:stretch>
            <a:fillRect/>
          </a:stretch>
        </p:blipFill>
        <p:spPr>
          <a:xfrm>
            <a:off x="6528816" y="4489704"/>
            <a:ext cx="356616" cy="356616"/>
          </a:xfrm>
          <a:prstGeom prst="rect">
            <a:avLst/>
          </a:prstGeom>
        </p:spPr>
      </p:pic>
      <p:sp>
        <p:nvSpPr>
          <p:cNvPr id="25" name="Text 19"/>
          <p:cNvSpPr/>
          <p:nvPr/>
        </p:nvSpPr>
        <p:spPr>
          <a:xfrm>
            <a:off x="7159752" y="4370832"/>
            <a:ext cx="4114800" cy="256032"/>
          </a:xfrm>
          <a:prstGeom prst="rect">
            <a:avLst/>
          </a:prstGeom>
          <a:noFill/>
          <a:ln/>
        </p:spPr>
        <p:txBody>
          <a:bodyPr wrap="square" lIns="0" tIns="0" rIns="0" bIns="0" rtlCol="0" anchor="ctr"/>
          <a:lstStyle/>
          <a:p>
            <a:pPr marL="0" indent="0">
              <a:buNone/>
            </a:pPr>
            <a:r>
              <a:rPr lang="en-US" sz="1000" b="1" kern="0" spc="100" dirty="0">
                <a:solidFill>
                  <a:srgbClr val="1E2761"/>
                </a:solidFill>
                <a:latin typeface="Calibri" pitchFamily="34" charset="0"/>
                <a:ea typeface="Calibri" pitchFamily="34" charset="-122"/>
                <a:cs typeface="Calibri" pitchFamily="34" charset="-120"/>
              </a:rPr>
              <a:t>VIP</a:t>
            </a:r>
            <a:endParaRPr lang="en-US" sz="1000" dirty="0"/>
          </a:p>
        </p:txBody>
      </p:sp>
      <p:sp>
        <p:nvSpPr>
          <p:cNvPr id="26" name="Text 20"/>
          <p:cNvSpPr/>
          <p:nvPr/>
        </p:nvSpPr>
        <p:spPr>
          <a:xfrm>
            <a:off x="7159752" y="4608576"/>
            <a:ext cx="4114800" cy="384048"/>
          </a:xfrm>
          <a:prstGeom prst="rect">
            <a:avLst/>
          </a:prstGeom>
          <a:noFill/>
          <a:ln/>
        </p:spPr>
        <p:txBody>
          <a:bodyPr wrap="square" lIns="0" tIns="0" rIns="0" bIns="0"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Protect &amp; Reward Loyalty</a:t>
            </a:r>
            <a:endParaRPr lang="en-US" sz="1450" dirty="0"/>
          </a:p>
        </p:txBody>
      </p:sp>
      <p:sp>
        <p:nvSpPr>
          <p:cNvPr id="27" name="Text 21"/>
          <p:cNvSpPr/>
          <p:nvPr/>
        </p:nvSpPr>
        <p:spPr>
          <a:xfrm>
            <a:off x="6446520" y="5166360"/>
            <a:ext cx="4764024" cy="914400"/>
          </a:xfrm>
          <a:prstGeom prst="rect">
            <a:avLst/>
          </a:prstGeom>
          <a:noFill/>
          <a:ln/>
        </p:spPr>
        <p:txBody>
          <a:bodyPr wrap="square" lIns="0" tIns="0" rIns="0" bIns="0" rtlCol="0" anchor="t"/>
          <a:lstStyle/>
          <a:p>
            <a:pPr marL="0" indent="0">
              <a:buNone/>
            </a:pPr>
            <a:r>
              <a:rPr lang="en-US" sz="1100" dirty="0">
                <a:solidFill>
                  <a:srgbClr val="2A2A2A"/>
                </a:solidFill>
                <a:latin typeface="Calibri" pitchFamily="34" charset="0"/>
                <a:ea typeface="Calibri" pitchFamily="34" charset="-122"/>
                <a:cs typeface="Calibri" pitchFamily="34" charset="-120"/>
              </a:rPr>
              <a:t>Build a dedicated loyalty tier with early access and concierge service — retention here has the highest impact.</a:t>
            </a:r>
            <a:endParaRPr lang="en-US" sz="1100" dirty="0"/>
          </a:p>
        </p:txBody>
      </p:sp>
      <p:sp>
        <p:nvSpPr>
          <p:cNvPr id="28" name="Text 22"/>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29" name="Text 2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Profit Analysis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Estimated spending power by segment (Annual Income × Spending Score)</a:t>
            </a:r>
            <a:endParaRPr lang="en-US" sz="1300" dirty="0"/>
          </a:p>
        </p:txBody>
      </p:sp>
      <p:graphicFrame>
        <p:nvGraphicFramePr>
          <p:cNvPr id="4" name="Chart 0"/>
          <p:cNvGraphicFramePr/>
          <p:nvPr/>
        </p:nvGraphicFramePr>
        <p:xfrm>
          <a:off x="457200" y="1600200"/>
          <a:ext cx="65379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0" y="1645920"/>
            <a:ext cx="4343400" cy="1371600"/>
          </a:xfrm>
          <a:prstGeom prst="roundRect">
            <a:avLst>
              <a:gd name="adj" fmla="val 5333"/>
            </a:avLst>
          </a:prstGeom>
          <a:solidFill>
            <a:srgbClr val="F7F8FC"/>
          </a:solidFill>
          <a:ln/>
          <a:effectLst>
            <a:outerShdw blurRad="63500" dist="25400" dir="5400000" algn="bl" rotWithShape="0">
              <a:srgbClr val="1E2761">
                <a:alpha val="10000"/>
              </a:srgbClr>
            </a:outerShdw>
          </a:effectLst>
        </p:spPr>
      </p:sp>
      <p:sp>
        <p:nvSpPr>
          <p:cNvPr id="6" name="Shape 3"/>
          <p:cNvSpPr/>
          <p:nvPr/>
        </p:nvSpPr>
        <p:spPr>
          <a:xfrm>
            <a:off x="7498080" y="1965960"/>
            <a:ext cx="731520" cy="731520"/>
          </a:xfrm>
          <a:prstGeom prst="ellipse">
            <a:avLst/>
          </a:prstGeom>
          <a:solidFill>
            <a:srgbClr val="1E2761"/>
          </a:solidFill>
          <a:ln/>
        </p:spPr>
      </p:sp>
      <p:pic>
        <p:nvPicPr>
          <p:cNvPr id="7" name="Image 0" descr="/home/claude/icons/award_white.png"/>
          <p:cNvPicPr>
            <a:picLocks noChangeAspect="1"/>
          </p:cNvPicPr>
          <p:nvPr/>
        </p:nvPicPr>
        <p:blipFill>
          <a:blip r:embed="rId4"/>
          <a:stretch>
            <a:fillRect/>
          </a:stretch>
        </p:blipFill>
        <p:spPr>
          <a:xfrm>
            <a:off x="7688275" y="2156155"/>
            <a:ext cx="351130" cy="351130"/>
          </a:xfrm>
          <a:prstGeom prst="rect">
            <a:avLst/>
          </a:prstGeom>
        </p:spPr>
      </p:pic>
      <p:sp>
        <p:nvSpPr>
          <p:cNvPr id="8" name="Text 4"/>
          <p:cNvSpPr/>
          <p:nvPr/>
        </p:nvSpPr>
        <p:spPr>
          <a:xfrm>
            <a:off x="8366760" y="1783080"/>
            <a:ext cx="3154680" cy="45720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VIP Drives Over Half the Value</a:t>
            </a:r>
            <a:endParaRPr lang="en-US" sz="1300" dirty="0"/>
          </a:p>
        </p:txBody>
      </p:sp>
      <p:sp>
        <p:nvSpPr>
          <p:cNvPr id="9" name="Text 5"/>
          <p:cNvSpPr/>
          <p:nvPr/>
        </p:nvSpPr>
        <p:spPr>
          <a:xfrm>
            <a:off x="8366760" y="2212848"/>
            <a:ext cx="3154680" cy="73152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VIP customers are just 25% of the base but generate 55.8% of estimated spending power ($6.2M of $11.1M total).</a:t>
            </a:r>
            <a:endParaRPr lang="en-US" sz="1050" dirty="0"/>
          </a:p>
        </p:txBody>
      </p:sp>
      <p:sp>
        <p:nvSpPr>
          <p:cNvPr id="10" name="Shape 6"/>
          <p:cNvSpPr/>
          <p:nvPr/>
        </p:nvSpPr>
        <p:spPr>
          <a:xfrm>
            <a:off x="7315200" y="3182112"/>
            <a:ext cx="4343400" cy="1371600"/>
          </a:xfrm>
          <a:prstGeom prst="roundRect">
            <a:avLst>
              <a:gd name="adj" fmla="val 5333"/>
            </a:avLst>
          </a:prstGeom>
          <a:solidFill>
            <a:srgbClr val="F7F8FC"/>
          </a:solidFill>
          <a:ln/>
          <a:effectLst>
            <a:outerShdw blurRad="63500" dist="25400" dir="5400000" algn="bl" rotWithShape="0">
              <a:srgbClr val="1E2761">
                <a:alpha val="10000"/>
              </a:srgbClr>
            </a:outerShdw>
          </a:effectLst>
        </p:spPr>
      </p:sp>
      <p:sp>
        <p:nvSpPr>
          <p:cNvPr id="11" name="Shape 7"/>
          <p:cNvSpPr/>
          <p:nvPr/>
        </p:nvSpPr>
        <p:spPr>
          <a:xfrm>
            <a:off x="7498080" y="3502152"/>
            <a:ext cx="731520" cy="731520"/>
          </a:xfrm>
          <a:prstGeom prst="ellipse">
            <a:avLst/>
          </a:prstGeom>
          <a:solidFill>
            <a:srgbClr val="1E2761"/>
          </a:solidFill>
          <a:ln/>
        </p:spPr>
      </p:sp>
      <p:pic>
        <p:nvPicPr>
          <p:cNvPr id="12" name="Image 1" descr="/home/claude/icons/trending_white.png"/>
          <p:cNvPicPr>
            <a:picLocks noChangeAspect="1"/>
          </p:cNvPicPr>
          <p:nvPr/>
        </p:nvPicPr>
        <p:blipFill>
          <a:blip r:embed="rId5"/>
          <a:stretch>
            <a:fillRect/>
          </a:stretch>
        </p:blipFill>
        <p:spPr>
          <a:xfrm>
            <a:off x="7688275" y="3692347"/>
            <a:ext cx="351130" cy="351130"/>
          </a:xfrm>
          <a:prstGeom prst="rect">
            <a:avLst/>
          </a:prstGeom>
        </p:spPr>
      </p:pic>
      <p:sp>
        <p:nvSpPr>
          <p:cNvPr id="13" name="Text 8"/>
          <p:cNvSpPr/>
          <p:nvPr/>
        </p:nvSpPr>
        <p:spPr>
          <a:xfrm>
            <a:off x="8366760" y="3319272"/>
            <a:ext cx="3154680" cy="45720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Top Two Tiers Dominate</a:t>
            </a:r>
            <a:endParaRPr lang="en-US" sz="1300" dirty="0"/>
          </a:p>
        </p:txBody>
      </p:sp>
      <p:sp>
        <p:nvSpPr>
          <p:cNvPr id="14" name="Text 9"/>
          <p:cNvSpPr/>
          <p:nvPr/>
        </p:nvSpPr>
        <p:spPr>
          <a:xfrm>
            <a:off x="8366760" y="3749040"/>
            <a:ext cx="3154680" cy="73152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Premium and VIP together account for 83.5% of estimated spending power from only half of all customers.</a:t>
            </a:r>
            <a:endParaRPr lang="en-US" sz="1050" dirty="0"/>
          </a:p>
        </p:txBody>
      </p:sp>
      <p:sp>
        <p:nvSpPr>
          <p:cNvPr id="15" name="Shape 10"/>
          <p:cNvSpPr/>
          <p:nvPr/>
        </p:nvSpPr>
        <p:spPr>
          <a:xfrm>
            <a:off x="7315200" y="4718304"/>
            <a:ext cx="4343400" cy="1371600"/>
          </a:xfrm>
          <a:prstGeom prst="roundRect">
            <a:avLst>
              <a:gd name="adj" fmla="val 5333"/>
            </a:avLst>
          </a:prstGeom>
          <a:solidFill>
            <a:srgbClr val="F7F8FC"/>
          </a:solidFill>
          <a:ln/>
          <a:effectLst>
            <a:outerShdw blurRad="63500" dist="25400" dir="5400000" algn="bl" rotWithShape="0">
              <a:srgbClr val="1E2761">
                <a:alpha val="10000"/>
              </a:srgbClr>
            </a:outerShdw>
          </a:effectLst>
        </p:spPr>
      </p:sp>
      <p:sp>
        <p:nvSpPr>
          <p:cNvPr id="16" name="Shape 11"/>
          <p:cNvSpPr/>
          <p:nvPr/>
        </p:nvSpPr>
        <p:spPr>
          <a:xfrm>
            <a:off x="7498080" y="5038344"/>
            <a:ext cx="731520" cy="731520"/>
          </a:xfrm>
          <a:prstGeom prst="ellipse">
            <a:avLst/>
          </a:prstGeom>
          <a:solidFill>
            <a:srgbClr val="1E2761"/>
          </a:solidFill>
          <a:ln/>
        </p:spPr>
      </p:sp>
      <p:pic>
        <p:nvPicPr>
          <p:cNvPr id="17" name="Image 2" descr="/home/claude/icons/card_white.png"/>
          <p:cNvPicPr>
            <a:picLocks noChangeAspect="1"/>
          </p:cNvPicPr>
          <p:nvPr/>
        </p:nvPicPr>
        <p:blipFill>
          <a:blip r:embed="rId6"/>
          <a:stretch>
            <a:fillRect/>
          </a:stretch>
        </p:blipFill>
        <p:spPr>
          <a:xfrm>
            <a:off x="7688275" y="5228539"/>
            <a:ext cx="351130" cy="351130"/>
          </a:xfrm>
          <a:prstGeom prst="rect">
            <a:avLst/>
          </a:prstGeom>
        </p:spPr>
      </p:pic>
      <p:sp>
        <p:nvSpPr>
          <p:cNvPr id="18" name="Text 12"/>
          <p:cNvSpPr/>
          <p:nvPr/>
        </p:nvSpPr>
        <p:spPr>
          <a:xfrm>
            <a:off x="8366760" y="4855464"/>
            <a:ext cx="3154680" cy="457200"/>
          </a:xfrm>
          <a:prstGeom prst="rect">
            <a:avLst/>
          </a:prstGeom>
          <a:noFill/>
          <a:ln/>
        </p:spPr>
        <p:txBody>
          <a:bodyPr wrap="square" lIns="0" tIns="0" rIns="0" bIns="0"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Budget Needs a Different Play</a:t>
            </a:r>
            <a:endParaRPr lang="en-US" sz="1300" dirty="0"/>
          </a:p>
        </p:txBody>
      </p:sp>
      <p:sp>
        <p:nvSpPr>
          <p:cNvPr id="19" name="Text 13"/>
          <p:cNvSpPr/>
          <p:nvPr/>
        </p:nvSpPr>
        <p:spPr>
          <a:xfrm>
            <a:off x="8366760" y="5285232"/>
            <a:ext cx="3154680" cy="73152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Budget customers contribute just 3.6% of spending power — better suited to low-cost, high-volume tactics than heavy discounting.</a:t>
            </a:r>
            <a:endParaRPr lang="en-US" sz="1050" dirty="0"/>
          </a:p>
        </p:txBody>
      </p:sp>
      <p:sp>
        <p:nvSpPr>
          <p:cNvPr id="20" name="Text 14"/>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21" name="Text 15"/>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Customer Profiles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Real sample customers representing each value tier</a:t>
            </a:r>
            <a:endParaRPr lang="en-US" sz="1300" dirty="0"/>
          </a:p>
        </p:txBody>
      </p:sp>
      <p:sp>
        <p:nvSpPr>
          <p:cNvPr id="4" name="Shape 2"/>
          <p:cNvSpPr/>
          <p:nvPr/>
        </p:nvSpPr>
        <p:spPr>
          <a:xfrm>
            <a:off x="548640" y="1691640"/>
            <a:ext cx="3611880" cy="4434840"/>
          </a:xfrm>
          <a:prstGeom prst="roundRect">
            <a:avLst>
              <a:gd name="adj" fmla="val 2532"/>
            </a:avLst>
          </a:prstGeom>
          <a:solidFill>
            <a:srgbClr val="7C8FC7"/>
          </a:solidFill>
          <a:ln/>
          <a:effectLst>
            <a:outerShdw blurRad="114300" dist="38100" dir="5400000" algn="bl" rotWithShape="0">
              <a:srgbClr val="1E2761">
                <a:alpha val="20000"/>
              </a:srgbClr>
            </a:outerShdw>
          </a:effectLst>
        </p:spPr>
      </p:sp>
      <p:sp>
        <p:nvSpPr>
          <p:cNvPr id="5" name="Shape 3"/>
          <p:cNvSpPr/>
          <p:nvPr/>
        </p:nvSpPr>
        <p:spPr>
          <a:xfrm>
            <a:off x="1920240" y="2148840"/>
            <a:ext cx="868680" cy="868680"/>
          </a:xfrm>
          <a:prstGeom prst="ellipse">
            <a:avLst/>
          </a:prstGeom>
          <a:solidFill>
            <a:srgbClr val="FFFFFF"/>
          </a:solidFill>
          <a:ln/>
        </p:spPr>
      </p:sp>
      <p:pic>
        <p:nvPicPr>
          <p:cNvPr id="6" name="Image 0" descr="/home/claude/icons/card_navy.png"/>
          <p:cNvPicPr>
            <a:picLocks noChangeAspect="1"/>
          </p:cNvPicPr>
          <p:nvPr/>
        </p:nvPicPr>
        <p:blipFill>
          <a:blip r:embed="rId3"/>
          <a:stretch>
            <a:fillRect/>
          </a:stretch>
        </p:blipFill>
        <p:spPr>
          <a:xfrm>
            <a:off x="2103120" y="2331720"/>
            <a:ext cx="502920" cy="502920"/>
          </a:xfrm>
          <a:prstGeom prst="rect">
            <a:avLst/>
          </a:prstGeom>
        </p:spPr>
      </p:pic>
      <p:sp>
        <p:nvSpPr>
          <p:cNvPr id="7" name="Text 4"/>
          <p:cNvSpPr/>
          <p:nvPr/>
        </p:nvSpPr>
        <p:spPr>
          <a:xfrm>
            <a:off x="685800" y="3163824"/>
            <a:ext cx="33375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CUST025</a:t>
            </a:r>
            <a:endParaRPr lang="en-US" sz="1800" dirty="0"/>
          </a:p>
        </p:txBody>
      </p:sp>
      <p:sp>
        <p:nvSpPr>
          <p:cNvPr id="8" name="Text 5"/>
          <p:cNvSpPr/>
          <p:nvPr/>
        </p:nvSpPr>
        <p:spPr>
          <a:xfrm>
            <a:off x="685800" y="3520440"/>
            <a:ext cx="3337560" cy="274320"/>
          </a:xfrm>
          <a:prstGeom prst="rect">
            <a:avLst/>
          </a:prstGeom>
          <a:noFill/>
          <a:ln/>
        </p:spPr>
        <p:txBody>
          <a:bodyPr wrap="square" lIns="0" tIns="0" rIns="0" bIns="0" rtlCol="0" anchor="ctr"/>
          <a:lstStyle/>
          <a:p>
            <a:pPr marL="0" indent="0" algn="ctr">
              <a:buNone/>
            </a:pPr>
            <a:r>
              <a:rPr lang="en-US" sz="1150" i="1" dirty="0">
                <a:solidFill>
                  <a:srgbClr val="1B2340"/>
                </a:solidFill>
                <a:latin typeface="Calibri" pitchFamily="34" charset="0"/>
                <a:ea typeface="Calibri" pitchFamily="34" charset="-122"/>
                <a:cs typeface="Calibri" pitchFamily="34" charset="-120"/>
              </a:rPr>
              <a:t>Low-Value Customer</a:t>
            </a:r>
            <a:endParaRPr lang="en-US" sz="1150" dirty="0"/>
          </a:p>
        </p:txBody>
      </p:sp>
      <p:sp>
        <p:nvSpPr>
          <p:cNvPr id="9" name="Shape 6"/>
          <p:cNvSpPr/>
          <p:nvPr/>
        </p:nvSpPr>
        <p:spPr>
          <a:xfrm>
            <a:off x="1005840" y="3977640"/>
            <a:ext cx="2697480" cy="0"/>
          </a:xfrm>
          <a:prstGeom prst="line">
            <a:avLst/>
          </a:prstGeom>
          <a:noFill/>
          <a:ln w="9525">
            <a:solidFill>
              <a:srgbClr val="FFFFFF">
                <a:alpha val="40000"/>
              </a:srgbClr>
            </a:solidFill>
            <a:prstDash val="solid"/>
          </a:ln>
        </p:spPr>
      </p:sp>
      <p:sp>
        <p:nvSpPr>
          <p:cNvPr id="10" name="Text 7"/>
          <p:cNvSpPr/>
          <p:nvPr/>
        </p:nvSpPr>
        <p:spPr>
          <a:xfrm>
            <a:off x="822960" y="414223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Age</a:t>
            </a:r>
            <a:endParaRPr lang="en-US" sz="1050" dirty="0"/>
          </a:p>
        </p:txBody>
      </p:sp>
      <p:sp>
        <p:nvSpPr>
          <p:cNvPr id="11" name="Text 8"/>
          <p:cNvSpPr/>
          <p:nvPr/>
        </p:nvSpPr>
        <p:spPr>
          <a:xfrm>
            <a:off x="2535174" y="414223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28</a:t>
            </a:r>
            <a:endParaRPr lang="en-US" sz="1250" dirty="0"/>
          </a:p>
        </p:txBody>
      </p:sp>
      <p:sp>
        <p:nvSpPr>
          <p:cNvPr id="12" name="Text 9"/>
          <p:cNvSpPr/>
          <p:nvPr/>
        </p:nvSpPr>
        <p:spPr>
          <a:xfrm>
            <a:off x="822960" y="450799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Annual Income</a:t>
            </a:r>
            <a:endParaRPr lang="en-US" sz="1050" dirty="0"/>
          </a:p>
        </p:txBody>
      </p:sp>
      <p:sp>
        <p:nvSpPr>
          <p:cNvPr id="13" name="Text 10"/>
          <p:cNvSpPr/>
          <p:nvPr/>
        </p:nvSpPr>
        <p:spPr>
          <a:xfrm>
            <a:off x="2535174" y="450799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$31,145</a:t>
            </a:r>
            <a:endParaRPr lang="en-US" sz="1250" dirty="0"/>
          </a:p>
        </p:txBody>
      </p:sp>
      <p:sp>
        <p:nvSpPr>
          <p:cNvPr id="14" name="Text 11"/>
          <p:cNvSpPr/>
          <p:nvPr/>
        </p:nvSpPr>
        <p:spPr>
          <a:xfrm>
            <a:off x="822960" y="487375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Purchase History</a:t>
            </a:r>
            <a:endParaRPr lang="en-US" sz="1050" dirty="0"/>
          </a:p>
        </p:txBody>
      </p:sp>
      <p:sp>
        <p:nvSpPr>
          <p:cNvPr id="15" name="Text 12"/>
          <p:cNvSpPr/>
          <p:nvPr/>
        </p:nvSpPr>
        <p:spPr>
          <a:xfrm>
            <a:off x="2535174" y="487375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6</a:t>
            </a:r>
            <a:endParaRPr lang="en-US" sz="1250" dirty="0"/>
          </a:p>
        </p:txBody>
      </p:sp>
      <p:sp>
        <p:nvSpPr>
          <p:cNvPr id="16" name="Text 13"/>
          <p:cNvSpPr/>
          <p:nvPr/>
        </p:nvSpPr>
        <p:spPr>
          <a:xfrm>
            <a:off x="822960" y="523951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Spending Score</a:t>
            </a:r>
            <a:endParaRPr lang="en-US" sz="1050" dirty="0"/>
          </a:p>
        </p:txBody>
      </p:sp>
      <p:sp>
        <p:nvSpPr>
          <p:cNvPr id="17" name="Text 14"/>
          <p:cNvSpPr/>
          <p:nvPr/>
        </p:nvSpPr>
        <p:spPr>
          <a:xfrm>
            <a:off x="2535174" y="523951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29</a:t>
            </a:r>
            <a:endParaRPr lang="en-US" sz="1250" dirty="0"/>
          </a:p>
        </p:txBody>
      </p:sp>
      <p:sp>
        <p:nvSpPr>
          <p:cNvPr id="18" name="Shape 15"/>
          <p:cNvSpPr/>
          <p:nvPr/>
        </p:nvSpPr>
        <p:spPr>
          <a:xfrm>
            <a:off x="4379976" y="1691640"/>
            <a:ext cx="3611880" cy="4434840"/>
          </a:xfrm>
          <a:prstGeom prst="roundRect">
            <a:avLst>
              <a:gd name="adj" fmla="val 2532"/>
            </a:avLst>
          </a:prstGeom>
          <a:solidFill>
            <a:srgbClr val="3F5390"/>
          </a:solidFill>
          <a:ln/>
          <a:effectLst>
            <a:outerShdw blurRad="114300" dist="38100" dir="5400000" algn="bl" rotWithShape="0">
              <a:srgbClr val="1E2761">
                <a:alpha val="20000"/>
              </a:srgbClr>
            </a:outerShdw>
          </a:effectLst>
        </p:spPr>
      </p:sp>
      <p:sp>
        <p:nvSpPr>
          <p:cNvPr id="19" name="Shape 16"/>
          <p:cNvSpPr/>
          <p:nvPr/>
        </p:nvSpPr>
        <p:spPr>
          <a:xfrm>
            <a:off x="5751576" y="2148840"/>
            <a:ext cx="868680" cy="868680"/>
          </a:xfrm>
          <a:prstGeom prst="ellipse">
            <a:avLst/>
          </a:prstGeom>
          <a:solidFill>
            <a:srgbClr val="FFFFFF"/>
          </a:solidFill>
          <a:ln/>
        </p:spPr>
      </p:sp>
      <p:pic>
        <p:nvPicPr>
          <p:cNvPr id="20" name="Image 1" descr="/home/claude/icons/user_navy.png"/>
          <p:cNvPicPr>
            <a:picLocks noChangeAspect="1"/>
          </p:cNvPicPr>
          <p:nvPr/>
        </p:nvPicPr>
        <p:blipFill>
          <a:blip r:embed="rId4"/>
          <a:stretch>
            <a:fillRect/>
          </a:stretch>
        </p:blipFill>
        <p:spPr>
          <a:xfrm>
            <a:off x="5934456" y="2331720"/>
            <a:ext cx="502920" cy="502920"/>
          </a:xfrm>
          <a:prstGeom prst="rect">
            <a:avLst/>
          </a:prstGeom>
        </p:spPr>
      </p:pic>
      <p:sp>
        <p:nvSpPr>
          <p:cNvPr id="21" name="Text 17"/>
          <p:cNvSpPr/>
          <p:nvPr/>
        </p:nvSpPr>
        <p:spPr>
          <a:xfrm>
            <a:off x="4517136" y="3163824"/>
            <a:ext cx="33375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CUST075</a:t>
            </a:r>
            <a:endParaRPr lang="en-US" sz="1800" dirty="0"/>
          </a:p>
        </p:txBody>
      </p:sp>
      <p:sp>
        <p:nvSpPr>
          <p:cNvPr id="22" name="Text 18"/>
          <p:cNvSpPr/>
          <p:nvPr/>
        </p:nvSpPr>
        <p:spPr>
          <a:xfrm>
            <a:off x="4517136" y="3520440"/>
            <a:ext cx="3337560" cy="274320"/>
          </a:xfrm>
          <a:prstGeom prst="rect">
            <a:avLst/>
          </a:prstGeom>
          <a:noFill/>
          <a:ln/>
        </p:spPr>
        <p:txBody>
          <a:bodyPr wrap="square" lIns="0" tIns="0" rIns="0" bIns="0" rtlCol="0" anchor="ctr"/>
          <a:lstStyle/>
          <a:p>
            <a:pPr marL="0" indent="0" algn="ctr">
              <a:buNone/>
            </a:pPr>
            <a:r>
              <a:rPr lang="en-US" sz="1150" i="1" dirty="0">
                <a:solidFill>
                  <a:srgbClr val="D4A017"/>
                </a:solidFill>
                <a:latin typeface="Calibri" pitchFamily="34" charset="0"/>
                <a:ea typeface="Calibri" pitchFamily="34" charset="-122"/>
                <a:cs typeface="Calibri" pitchFamily="34" charset="-120"/>
              </a:rPr>
              <a:t>Regular Customer</a:t>
            </a:r>
            <a:endParaRPr lang="en-US" sz="1150" dirty="0"/>
          </a:p>
        </p:txBody>
      </p:sp>
      <p:sp>
        <p:nvSpPr>
          <p:cNvPr id="23" name="Shape 19"/>
          <p:cNvSpPr/>
          <p:nvPr/>
        </p:nvSpPr>
        <p:spPr>
          <a:xfrm>
            <a:off x="4837176" y="3977640"/>
            <a:ext cx="2697480" cy="0"/>
          </a:xfrm>
          <a:prstGeom prst="line">
            <a:avLst/>
          </a:prstGeom>
          <a:noFill/>
          <a:ln w="9525">
            <a:solidFill>
              <a:srgbClr val="FFFFFF">
                <a:alpha val="40000"/>
              </a:srgbClr>
            </a:solidFill>
            <a:prstDash val="solid"/>
          </a:ln>
        </p:spPr>
      </p:sp>
      <p:sp>
        <p:nvSpPr>
          <p:cNvPr id="24" name="Text 20"/>
          <p:cNvSpPr/>
          <p:nvPr/>
        </p:nvSpPr>
        <p:spPr>
          <a:xfrm>
            <a:off x="4654296" y="414223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Age</a:t>
            </a:r>
            <a:endParaRPr lang="en-US" sz="1050" dirty="0"/>
          </a:p>
        </p:txBody>
      </p:sp>
      <p:sp>
        <p:nvSpPr>
          <p:cNvPr id="25" name="Text 21"/>
          <p:cNvSpPr/>
          <p:nvPr/>
        </p:nvSpPr>
        <p:spPr>
          <a:xfrm>
            <a:off x="6366510" y="414223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37</a:t>
            </a:r>
            <a:endParaRPr lang="en-US" sz="1250" dirty="0"/>
          </a:p>
        </p:txBody>
      </p:sp>
      <p:sp>
        <p:nvSpPr>
          <p:cNvPr id="26" name="Text 22"/>
          <p:cNvSpPr/>
          <p:nvPr/>
        </p:nvSpPr>
        <p:spPr>
          <a:xfrm>
            <a:off x="4654296" y="450799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Annual Income</a:t>
            </a:r>
            <a:endParaRPr lang="en-US" sz="1050" dirty="0"/>
          </a:p>
        </p:txBody>
      </p:sp>
      <p:sp>
        <p:nvSpPr>
          <p:cNvPr id="27" name="Text 23"/>
          <p:cNvSpPr/>
          <p:nvPr/>
        </p:nvSpPr>
        <p:spPr>
          <a:xfrm>
            <a:off x="6366510" y="450799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$53,062</a:t>
            </a:r>
            <a:endParaRPr lang="en-US" sz="1250" dirty="0"/>
          </a:p>
        </p:txBody>
      </p:sp>
      <p:sp>
        <p:nvSpPr>
          <p:cNvPr id="28" name="Text 24"/>
          <p:cNvSpPr/>
          <p:nvPr/>
        </p:nvSpPr>
        <p:spPr>
          <a:xfrm>
            <a:off x="4654296" y="487375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Purchase History</a:t>
            </a:r>
            <a:endParaRPr lang="en-US" sz="1050" dirty="0"/>
          </a:p>
        </p:txBody>
      </p:sp>
      <p:sp>
        <p:nvSpPr>
          <p:cNvPr id="29" name="Text 25"/>
          <p:cNvSpPr/>
          <p:nvPr/>
        </p:nvSpPr>
        <p:spPr>
          <a:xfrm>
            <a:off x="6366510" y="487375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15</a:t>
            </a:r>
            <a:endParaRPr lang="en-US" sz="1250" dirty="0"/>
          </a:p>
        </p:txBody>
      </p:sp>
      <p:sp>
        <p:nvSpPr>
          <p:cNvPr id="30" name="Text 26"/>
          <p:cNvSpPr/>
          <p:nvPr/>
        </p:nvSpPr>
        <p:spPr>
          <a:xfrm>
            <a:off x="4654296" y="523951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Spending Score</a:t>
            </a:r>
            <a:endParaRPr lang="en-US" sz="1050" dirty="0"/>
          </a:p>
        </p:txBody>
      </p:sp>
      <p:sp>
        <p:nvSpPr>
          <p:cNvPr id="31" name="Text 27"/>
          <p:cNvSpPr/>
          <p:nvPr/>
        </p:nvSpPr>
        <p:spPr>
          <a:xfrm>
            <a:off x="6366510" y="5239512"/>
            <a:ext cx="1351026" cy="310896"/>
          </a:xfrm>
          <a:prstGeom prst="rect">
            <a:avLst/>
          </a:prstGeom>
          <a:noFill/>
          <a:ln/>
        </p:spPr>
        <p:txBody>
          <a:bodyPr wrap="square" lIns="0" tIns="0" rIns="0" bIns="0" rtlCol="0" anchor="ctr"/>
          <a:lstStyle/>
          <a:p>
            <a:pPr marL="0" indent="0" algn="r">
              <a:buNone/>
            </a:pPr>
            <a:r>
              <a:rPr lang="en-US" sz="1250" b="1" dirty="0">
                <a:solidFill>
                  <a:srgbClr val="FFFFFF"/>
                </a:solidFill>
                <a:latin typeface="Calibri" pitchFamily="34" charset="0"/>
                <a:ea typeface="Calibri" pitchFamily="34" charset="-122"/>
                <a:cs typeface="Calibri" pitchFamily="34" charset="-120"/>
              </a:rPr>
              <a:t>45</a:t>
            </a:r>
            <a:endParaRPr lang="en-US" sz="1250" dirty="0"/>
          </a:p>
        </p:txBody>
      </p:sp>
      <p:sp>
        <p:nvSpPr>
          <p:cNvPr id="32" name="Shape 28"/>
          <p:cNvSpPr/>
          <p:nvPr/>
        </p:nvSpPr>
        <p:spPr>
          <a:xfrm>
            <a:off x="8211312" y="1691640"/>
            <a:ext cx="3611880" cy="4434840"/>
          </a:xfrm>
          <a:prstGeom prst="roundRect">
            <a:avLst>
              <a:gd name="adj" fmla="val 2532"/>
            </a:avLst>
          </a:prstGeom>
          <a:solidFill>
            <a:srgbClr val="1E2761"/>
          </a:solidFill>
          <a:ln/>
          <a:effectLst>
            <a:outerShdw blurRad="114300" dist="38100" dir="5400000" algn="bl" rotWithShape="0">
              <a:srgbClr val="1E2761">
                <a:alpha val="20000"/>
              </a:srgbClr>
            </a:outerShdw>
          </a:effectLst>
        </p:spPr>
      </p:sp>
      <p:sp>
        <p:nvSpPr>
          <p:cNvPr id="33" name="Shape 29"/>
          <p:cNvSpPr/>
          <p:nvPr/>
        </p:nvSpPr>
        <p:spPr>
          <a:xfrm>
            <a:off x="9148572" y="1892808"/>
            <a:ext cx="1737360" cy="347472"/>
          </a:xfrm>
          <a:prstGeom prst="roundRect">
            <a:avLst>
              <a:gd name="adj" fmla="val 50000"/>
            </a:avLst>
          </a:prstGeom>
          <a:solidFill>
            <a:srgbClr val="D4A017"/>
          </a:solidFill>
          <a:ln/>
        </p:spPr>
      </p:sp>
      <p:sp>
        <p:nvSpPr>
          <p:cNvPr id="34" name="Text 30"/>
          <p:cNvSpPr/>
          <p:nvPr/>
        </p:nvSpPr>
        <p:spPr>
          <a:xfrm>
            <a:off x="9148572" y="1892808"/>
            <a:ext cx="1737360" cy="347472"/>
          </a:xfrm>
          <a:prstGeom prst="rect">
            <a:avLst/>
          </a:prstGeom>
          <a:noFill/>
          <a:ln/>
        </p:spPr>
        <p:txBody>
          <a:bodyPr wrap="square" lIns="0" tIns="0" rIns="0" bIns="0" rtlCol="0" anchor="ctr"/>
          <a:lstStyle/>
          <a:p>
            <a:pPr marL="0" indent="0" algn="ctr">
              <a:buNone/>
            </a:pPr>
            <a:r>
              <a:rPr lang="en-US" sz="1000" b="1" dirty="0">
                <a:solidFill>
                  <a:srgbClr val="1E2761"/>
                </a:solidFill>
                <a:latin typeface="Calibri" pitchFamily="34" charset="0"/>
                <a:ea typeface="Calibri" pitchFamily="34" charset="-122"/>
                <a:cs typeface="Calibri" pitchFamily="34" charset="-120"/>
              </a:rPr>
              <a:t>TOP TIER</a:t>
            </a:r>
            <a:endParaRPr lang="en-US" sz="1000" dirty="0"/>
          </a:p>
        </p:txBody>
      </p:sp>
      <p:sp>
        <p:nvSpPr>
          <p:cNvPr id="35" name="Shape 31"/>
          <p:cNvSpPr/>
          <p:nvPr/>
        </p:nvSpPr>
        <p:spPr>
          <a:xfrm>
            <a:off x="9582912" y="2423160"/>
            <a:ext cx="868680" cy="868680"/>
          </a:xfrm>
          <a:prstGeom prst="ellipse">
            <a:avLst/>
          </a:prstGeom>
          <a:solidFill>
            <a:srgbClr val="FFFFFF"/>
          </a:solidFill>
          <a:ln/>
        </p:spPr>
      </p:sp>
      <p:pic>
        <p:nvPicPr>
          <p:cNvPr id="36" name="Image 2" descr="/home/claude/icons/award_navy.png"/>
          <p:cNvPicPr>
            <a:picLocks noChangeAspect="1"/>
          </p:cNvPicPr>
          <p:nvPr/>
        </p:nvPicPr>
        <p:blipFill>
          <a:blip r:embed="rId5"/>
          <a:stretch>
            <a:fillRect/>
          </a:stretch>
        </p:blipFill>
        <p:spPr>
          <a:xfrm>
            <a:off x="9765792" y="2606040"/>
            <a:ext cx="502920" cy="502920"/>
          </a:xfrm>
          <a:prstGeom prst="rect">
            <a:avLst/>
          </a:prstGeom>
        </p:spPr>
      </p:pic>
      <p:sp>
        <p:nvSpPr>
          <p:cNvPr id="37" name="Text 32"/>
          <p:cNvSpPr/>
          <p:nvPr/>
        </p:nvSpPr>
        <p:spPr>
          <a:xfrm>
            <a:off x="8348472" y="3438144"/>
            <a:ext cx="333756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CUST141</a:t>
            </a:r>
            <a:endParaRPr lang="en-US" sz="1800" dirty="0"/>
          </a:p>
        </p:txBody>
      </p:sp>
      <p:sp>
        <p:nvSpPr>
          <p:cNvPr id="38" name="Text 33"/>
          <p:cNvSpPr/>
          <p:nvPr/>
        </p:nvSpPr>
        <p:spPr>
          <a:xfrm>
            <a:off x="8348472" y="3794760"/>
            <a:ext cx="3337560" cy="274320"/>
          </a:xfrm>
          <a:prstGeom prst="rect">
            <a:avLst/>
          </a:prstGeom>
          <a:noFill/>
          <a:ln/>
        </p:spPr>
        <p:txBody>
          <a:bodyPr wrap="square" lIns="0" tIns="0" rIns="0" bIns="0" rtlCol="0" anchor="ctr"/>
          <a:lstStyle/>
          <a:p>
            <a:pPr marL="0" indent="0" algn="ctr">
              <a:buNone/>
            </a:pPr>
            <a:r>
              <a:rPr lang="en-US" sz="1150" i="1" dirty="0">
                <a:solidFill>
                  <a:srgbClr val="D4A017"/>
                </a:solidFill>
                <a:latin typeface="Calibri" pitchFamily="34" charset="0"/>
                <a:ea typeface="Calibri" pitchFamily="34" charset="-122"/>
                <a:cs typeface="Calibri" pitchFamily="34" charset="-120"/>
              </a:rPr>
              <a:t>Premium Customer</a:t>
            </a:r>
            <a:endParaRPr lang="en-US" sz="1150" dirty="0"/>
          </a:p>
        </p:txBody>
      </p:sp>
      <p:sp>
        <p:nvSpPr>
          <p:cNvPr id="39" name="Shape 34"/>
          <p:cNvSpPr/>
          <p:nvPr/>
        </p:nvSpPr>
        <p:spPr>
          <a:xfrm>
            <a:off x="8668512" y="4251960"/>
            <a:ext cx="2697480" cy="0"/>
          </a:xfrm>
          <a:prstGeom prst="line">
            <a:avLst/>
          </a:prstGeom>
          <a:noFill/>
          <a:ln w="9525">
            <a:solidFill>
              <a:srgbClr val="FFFFFF">
                <a:alpha val="40000"/>
              </a:srgbClr>
            </a:solidFill>
            <a:prstDash val="solid"/>
          </a:ln>
        </p:spPr>
      </p:sp>
      <p:sp>
        <p:nvSpPr>
          <p:cNvPr id="40" name="Text 35"/>
          <p:cNvSpPr/>
          <p:nvPr/>
        </p:nvSpPr>
        <p:spPr>
          <a:xfrm>
            <a:off x="8485632" y="441655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Age</a:t>
            </a:r>
            <a:endParaRPr lang="en-US" sz="1050" dirty="0"/>
          </a:p>
        </p:txBody>
      </p:sp>
      <p:sp>
        <p:nvSpPr>
          <p:cNvPr id="41" name="Text 36"/>
          <p:cNvSpPr/>
          <p:nvPr/>
        </p:nvSpPr>
        <p:spPr>
          <a:xfrm>
            <a:off x="10197846" y="4416552"/>
            <a:ext cx="1351026" cy="310896"/>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43</a:t>
            </a:r>
            <a:endParaRPr lang="en-US" sz="1250" dirty="0"/>
          </a:p>
        </p:txBody>
      </p:sp>
      <p:sp>
        <p:nvSpPr>
          <p:cNvPr id="42" name="Text 37"/>
          <p:cNvSpPr/>
          <p:nvPr/>
        </p:nvSpPr>
        <p:spPr>
          <a:xfrm>
            <a:off x="8485632" y="478231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Annual Income</a:t>
            </a:r>
            <a:endParaRPr lang="en-US" sz="1050" dirty="0"/>
          </a:p>
        </p:txBody>
      </p:sp>
      <p:sp>
        <p:nvSpPr>
          <p:cNvPr id="43" name="Text 38"/>
          <p:cNvSpPr/>
          <p:nvPr/>
        </p:nvSpPr>
        <p:spPr>
          <a:xfrm>
            <a:off x="10197846" y="4782312"/>
            <a:ext cx="1351026" cy="310896"/>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$113,025</a:t>
            </a:r>
            <a:endParaRPr lang="en-US" sz="1250" dirty="0"/>
          </a:p>
        </p:txBody>
      </p:sp>
      <p:sp>
        <p:nvSpPr>
          <p:cNvPr id="44" name="Text 39"/>
          <p:cNvSpPr/>
          <p:nvPr/>
        </p:nvSpPr>
        <p:spPr>
          <a:xfrm>
            <a:off x="8485632" y="514807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Purchase History</a:t>
            </a:r>
            <a:endParaRPr lang="en-US" sz="1050" dirty="0"/>
          </a:p>
        </p:txBody>
      </p:sp>
      <p:sp>
        <p:nvSpPr>
          <p:cNvPr id="45" name="Text 40"/>
          <p:cNvSpPr/>
          <p:nvPr/>
        </p:nvSpPr>
        <p:spPr>
          <a:xfrm>
            <a:off x="10197846" y="5148072"/>
            <a:ext cx="1351026" cy="310896"/>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30</a:t>
            </a:r>
            <a:endParaRPr lang="en-US" sz="1250" dirty="0"/>
          </a:p>
        </p:txBody>
      </p:sp>
      <p:sp>
        <p:nvSpPr>
          <p:cNvPr id="46" name="Text 41"/>
          <p:cNvSpPr/>
          <p:nvPr/>
        </p:nvSpPr>
        <p:spPr>
          <a:xfrm>
            <a:off x="8485632" y="5513832"/>
            <a:ext cx="1986534" cy="310896"/>
          </a:xfrm>
          <a:prstGeom prst="rect">
            <a:avLst/>
          </a:prstGeom>
          <a:noFill/>
          <a:ln/>
        </p:spPr>
        <p:txBody>
          <a:bodyPr wrap="square" lIns="0" tIns="0" rIns="0" bIns="0" rtlCol="0" anchor="ctr"/>
          <a:lstStyle/>
          <a:p>
            <a:pPr marL="0" indent="0">
              <a:buNone/>
            </a:pPr>
            <a:r>
              <a:rPr lang="en-US" sz="1050" dirty="0">
                <a:solidFill>
                  <a:srgbClr val="C9D1EC"/>
                </a:solidFill>
                <a:latin typeface="Calibri" pitchFamily="34" charset="0"/>
                <a:ea typeface="Calibri" pitchFamily="34" charset="-122"/>
                <a:cs typeface="Calibri" pitchFamily="34" charset="-120"/>
              </a:rPr>
              <a:t>Spending Score</a:t>
            </a:r>
            <a:endParaRPr lang="en-US" sz="1050" dirty="0"/>
          </a:p>
        </p:txBody>
      </p:sp>
      <p:sp>
        <p:nvSpPr>
          <p:cNvPr id="47" name="Text 42"/>
          <p:cNvSpPr/>
          <p:nvPr/>
        </p:nvSpPr>
        <p:spPr>
          <a:xfrm>
            <a:off x="10197846" y="5513832"/>
            <a:ext cx="1351026" cy="310896"/>
          </a:xfrm>
          <a:prstGeom prst="rect">
            <a:avLst/>
          </a:prstGeom>
          <a:noFill/>
          <a:ln/>
        </p:spPr>
        <p:txBody>
          <a:bodyPr wrap="square" lIns="0" tIns="0" rIns="0" bIns="0" rtlCol="0" anchor="ctr"/>
          <a:lstStyle/>
          <a:p>
            <a:pPr marL="0" indent="0" algn="r">
              <a:buNone/>
            </a:pPr>
            <a:r>
              <a:rPr lang="en-US" sz="1250" b="1" dirty="0">
                <a:solidFill>
                  <a:srgbClr val="D4A017"/>
                </a:solidFill>
                <a:latin typeface="Calibri" pitchFamily="34" charset="0"/>
                <a:ea typeface="Calibri" pitchFamily="34" charset="-122"/>
                <a:cs typeface="Calibri" pitchFamily="34" charset="-120"/>
              </a:rPr>
              <a:t>77</a:t>
            </a:r>
            <a:endParaRPr lang="en-US" sz="1250" dirty="0"/>
          </a:p>
        </p:txBody>
      </p:sp>
      <p:sp>
        <p:nvSpPr>
          <p:cNvPr id="48" name="Text 43"/>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49" name="Text 4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Member 5 – Frontend &amp; Integration</a:t>
            </a:r>
            <a:endParaRPr lang="en-US" sz="28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Bringing every piece together into one working product</a:t>
            </a:r>
            <a:endParaRPr lang="en-US" sz="1300" dirty="0"/>
          </a:p>
        </p:txBody>
      </p:sp>
      <p:sp>
        <p:nvSpPr>
          <p:cNvPr id="4" name="Shape 2"/>
          <p:cNvSpPr/>
          <p:nvPr/>
        </p:nvSpPr>
        <p:spPr>
          <a:xfrm>
            <a:off x="548640" y="1691640"/>
            <a:ext cx="3749040" cy="4617720"/>
          </a:xfrm>
          <a:prstGeom prst="roundRect">
            <a:avLst>
              <a:gd name="adj" fmla="val 2439"/>
            </a:avLst>
          </a:prstGeom>
          <a:solidFill>
            <a:srgbClr val="1E2761"/>
          </a:solidFill>
          <a:ln/>
          <a:effectLst>
            <a:outerShdw blurRad="127000" dist="38100" dir="5400000" algn="bl" rotWithShape="0">
              <a:srgbClr val="1E2761">
                <a:alpha val="18000"/>
              </a:srgbClr>
            </a:outerShdw>
          </a:effectLst>
        </p:spPr>
      </p:sp>
      <p:sp>
        <p:nvSpPr>
          <p:cNvPr id="5" name="Shape 3"/>
          <p:cNvSpPr/>
          <p:nvPr/>
        </p:nvSpPr>
        <p:spPr>
          <a:xfrm>
            <a:off x="1737360" y="2194560"/>
            <a:ext cx="1371600" cy="1371600"/>
          </a:xfrm>
          <a:prstGeom prst="ellipse">
            <a:avLst/>
          </a:prstGeom>
          <a:solidFill>
            <a:srgbClr val="2A3A82"/>
          </a:solidFill>
          <a:ln w="25400">
            <a:solidFill>
              <a:srgbClr val="D4A017"/>
            </a:solidFill>
            <a:prstDash val="solid"/>
          </a:ln>
        </p:spPr>
      </p:sp>
      <p:pic>
        <p:nvPicPr>
          <p:cNvPr id="6" name="Image 0" descr="/home/claude/icons/user_gold.png"/>
          <p:cNvPicPr>
            <a:picLocks noChangeAspect="1"/>
          </p:cNvPicPr>
          <p:nvPr/>
        </p:nvPicPr>
        <p:blipFill>
          <a:blip r:embed="rId3"/>
          <a:stretch>
            <a:fillRect/>
          </a:stretch>
        </p:blipFill>
        <p:spPr>
          <a:xfrm>
            <a:off x="2034540" y="2491740"/>
            <a:ext cx="777240" cy="777240"/>
          </a:xfrm>
          <a:prstGeom prst="rect">
            <a:avLst/>
          </a:prstGeom>
        </p:spPr>
      </p:pic>
      <p:sp>
        <p:nvSpPr>
          <p:cNvPr id="7" name="Text 4"/>
          <p:cNvSpPr/>
          <p:nvPr/>
        </p:nvSpPr>
        <p:spPr>
          <a:xfrm>
            <a:off x="731520" y="3794760"/>
            <a:ext cx="3383280" cy="36576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Member 5 Name</a:t>
            </a:r>
            <a:endParaRPr lang="en-US" sz="1800" dirty="0"/>
          </a:p>
        </p:txBody>
      </p:sp>
      <p:sp>
        <p:nvSpPr>
          <p:cNvPr id="8" name="Text 5"/>
          <p:cNvSpPr/>
          <p:nvPr/>
        </p:nvSpPr>
        <p:spPr>
          <a:xfrm>
            <a:off x="731520" y="4178808"/>
            <a:ext cx="3383280" cy="320040"/>
          </a:xfrm>
          <a:prstGeom prst="rect">
            <a:avLst/>
          </a:prstGeom>
          <a:noFill/>
          <a:ln/>
        </p:spPr>
        <p:txBody>
          <a:bodyPr wrap="square" lIns="0" tIns="0" rIns="0" bIns="0" rtlCol="0" anchor="ctr"/>
          <a:lstStyle/>
          <a:p>
            <a:pPr marL="0" indent="0" algn="ctr">
              <a:buNone/>
            </a:pPr>
            <a:r>
              <a:rPr lang="en-US" sz="1250" i="1" dirty="0">
                <a:solidFill>
                  <a:srgbClr val="D4A017"/>
                </a:solidFill>
                <a:latin typeface="Calibri" pitchFamily="34" charset="0"/>
                <a:ea typeface="Calibri" pitchFamily="34" charset="-122"/>
                <a:cs typeface="Calibri" pitchFamily="34" charset="-120"/>
              </a:rPr>
              <a:t>Frontend &amp; Integration</a:t>
            </a:r>
            <a:endParaRPr lang="en-US" sz="1250" dirty="0"/>
          </a:p>
        </p:txBody>
      </p:sp>
      <p:sp>
        <p:nvSpPr>
          <p:cNvPr id="9" name="Shape 6"/>
          <p:cNvSpPr/>
          <p:nvPr/>
        </p:nvSpPr>
        <p:spPr>
          <a:xfrm>
            <a:off x="1371600" y="4663440"/>
            <a:ext cx="2103120" cy="0"/>
          </a:xfrm>
          <a:prstGeom prst="line">
            <a:avLst/>
          </a:prstGeom>
          <a:noFill/>
          <a:ln w="12700">
            <a:solidFill>
              <a:srgbClr val="3A4A9E"/>
            </a:solidFill>
            <a:prstDash val="solid"/>
          </a:ln>
        </p:spPr>
      </p:sp>
      <p:sp>
        <p:nvSpPr>
          <p:cNvPr id="10" name="Shape 7"/>
          <p:cNvSpPr/>
          <p:nvPr/>
        </p:nvSpPr>
        <p:spPr>
          <a:xfrm>
            <a:off x="868680" y="4892040"/>
            <a:ext cx="329184" cy="329184"/>
          </a:xfrm>
          <a:prstGeom prst="ellipse">
            <a:avLst/>
          </a:prstGeom>
          <a:solidFill>
            <a:srgbClr val="2A3A82"/>
          </a:solidFill>
          <a:ln/>
        </p:spPr>
      </p:sp>
      <p:pic>
        <p:nvPicPr>
          <p:cNvPr id="11" name="Image 1" descr="/home/claude/icons/check_gold.png"/>
          <p:cNvPicPr>
            <a:picLocks noChangeAspect="1"/>
          </p:cNvPicPr>
          <p:nvPr/>
        </p:nvPicPr>
        <p:blipFill>
          <a:blip r:embed="rId4"/>
          <a:stretch>
            <a:fillRect/>
          </a:stretch>
        </p:blipFill>
        <p:spPr>
          <a:xfrm>
            <a:off x="954268" y="4977628"/>
            <a:ext cx="158008" cy="158008"/>
          </a:xfrm>
          <a:prstGeom prst="rect">
            <a:avLst/>
          </a:prstGeom>
        </p:spPr>
      </p:pic>
      <p:sp>
        <p:nvSpPr>
          <p:cNvPr id="12" name="Text 8"/>
          <p:cNvSpPr/>
          <p:nvPr/>
        </p:nvSpPr>
        <p:spPr>
          <a:xfrm>
            <a:off x="1325880" y="48737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UI Design</a:t>
            </a:r>
            <a:endParaRPr lang="en-US" sz="1150" dirty="0"/>
          </a:p>
        </p:txBody>
      </p:sp>
      <p:sp>
        <p:nvSpPr>
          <p:cNvPr id="13" name="Shape 9"/>
          <p:cNvSpPr/>
          <p:nvPr/>
        </p:nvSpPr>
        <p:spPr>
          <a:xfrm>
            <a:off x="868680" y="5349240"/>
            <a:ext cx="329184" cy="329184"/>
          </a:xfrm>
          <a:prstGeom prst="ellipse">
            <a:avLst/>
          </a:prstGeom>
          <a:solidFill>
            <a:srgbClr val="2A3A82"/>
          </a:solidFill>
          <a:ln/>
        </p:spPr>
      </p:sp>
      <p:pic>
        <p:nvPicPr>
          <p:cNvPr id="14" name="Image 2" descr="/home/claude/icons/check_gold.png"/>
          <p:cNvPicPr>
            <a:picLocks noChangeAspect="1"/>
          </p:cNvPicPr>
          <p:nvPr/>
        </p:nvPicPr>
        <p:blipFill>
          <a:blip r:embed="rId4"/>
          <a:stretch>
            <a:fillRect/>
          </a:stretch>
        </p:blipFill>
        <p:spPr>
          <a:xfrm>
            <a:off x="954268" y="5434828"/>
            <a:ext cx="158008" cy="158008"/>
          </a:xfrm>
          <a:prstGeom prst="rect">
            <a:avLst/>
          </a:prstGeom>
        </p:spPr>
      </p:pic>
      <p:sp>
        <p:nvSpPr>
          <p:cNvPr id="15" name="Text 10"/>
          <p:cNvSpPr/>
          <p:nvPr/>
        </p:nvSpPr>
        <p:spPr>
          <a:xfrm>
            <a:off x="1325880" y="53309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System Integration</a:t>
            </a:r>
            <a:endParaRPr lang="en-US" sz="1150" dirty="0"/>
          </a:p>
        </p:txBody>
      </p:sp>
      <p:sp>
        <p:nvSpPr>
          <p:cNvPr id="16" name="Shape 11"/>
          <p:cNvSpPr/>
          <p:nvPr/>
        </p:nvSpPr>
        <p:spPr>
          <a:xfrm>
            <a:off x="868680" y="5806440"/>
            <a:ext cx="329184" cy="329184"/>
          </a:xfrm>
          <a:prstGeom prst="ellipse">
            <a:avLst/>
          </a:prstGeom>
          <a:solidFill>
            <a:srgbClr val="2A3A82"/>
          </a:solidFill>
          <a:ln/>
        </p:spPr>
      </p:sp>
      <p:pic>
        <p:nvPicPr>
          <p:cNvPr id="17" name="Image 3" descr="/home/claude/icons/check_gold.png"/>
          <p:cNvPicPr>
            <a:picLocks noChangeAspect="1"/>
          </p:cNvPicPr>
          <p:nvPr/>
        </p:nvPicPr>
        <p:blipFill>
          <a:blip r:embed="rId4"/>
          <a:stretch>
            <a:fillRect/>
          </a:stretch>
        </p:blipFill>
        <p:spPr>
          <a:xfrm>
            <a:off x="954268" y="5892028"/>
            <a:ext cx="158008" cy="158008"/>
          </a:xfrm>
          <a:prstGeom prst="rect">
            <a:avLst/>
          </a:prstGeom>
        </p:spPr>
      </p:pic>
      <p:sp>
        <p:nvSpPr>
          <p:cNvPr id="18" name="Text 12"/>
          <p:cNvSpPr/>
          <p:nvPr/>
        </p:nvSpPr>
        <p:spPr>
          <a:xfrm>
            <a:off x="1325880" y="5788152"/>
            <a:ext cx="2743200" cy="365760"/>
          </a:xfrm>
          <a:prstGeom prst="rect">
            <a:avLst/>
          </a:prstGeom>
          <a:noFill/>
          <a:ln/>
        </p:spPr>
        <p:txBody>
          <a:bodyPr wrap="square" lIns="0" tIns="0" rIns="0" bIns="0" rtlCol="0" anchor="ctr"/>
          <a:lstStyle/>
          <a:p>
            <a:pPr marL="0" indent="0">
              <a:buNone/>
            </a:pPr>
            <a:r>
              <a:rPr lang="en-US" sz="1150" dirty="0">
                <a:solidFill>
                  <a:srgbClr val="E6EAF7"/>
                </a:solidFill>
                <a:latin typeface="Calibri" pitchFamily="34" charset="0"/>
                <a:ea typeface="Calibri" pitchFamily="34" charset="-122"/>
                <a:cs typeface="Calibri" pitchFamily="34" charset="-120"/>
              </a:rPr>
              <a:t>Deployment</a:t>
            </a:r>
            <a:endParaRPr lang="en-US" sz="1150" dirty="0"/>
          </a:p>
        </p:txBody>
      </p:sp>
      <p:sp>
        <p:nvSpPr>
          <p:cNvPr id="19" name="Text 13"/>
          <p:cNvSpPr/>
          <p:nvPr/>
        </p:nvSpPr>
        <p:spPr>
          <a:xfrm>
            <a:off x="4709160" y="1691640"/>
            <a:ext cx="6931152"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Role Summary</a:t>
            </a:r>
            <a:endParaRPr lang="en-US" sz="1400" dirty="0"/>
          </a:p>
        </p:txBody>
      </p:sp>
      <p:sp>
        <p:nvSpPr>
          <p:cNvPr id="20" name="Text 14"/>
          <p:cNvSpPr/>
          <p:nvPr/>
        </p:nvSpPr>
        <p:spPr>
          <a:xfrm>
            <a:off x="4709160" y="2029968"/>
            <a:ext cx="6931152" cy="68580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Connects the data pipeline, clustering model, and marketing analysis into a single, presentable experience — making the team's work usable and easy to explore.</a:t>
            </a:r>
            <a:endParaRPr lang="en-US" sz="1200" dirty="0"/>
          </a:p>
        </p:txBody>
      </p:sp>
      <p:sp>
        <p:nvSpPr>
          <p:cNvPr id="21" name="Shape 15"/>
          <p:cNvSpPr/>
          <p:nvPr/>
        </p:nvSpPr>
        <p:spPr>
          <a:xfrm>
            <a:off x="4709160" y="2880360"/>
            <a:ext cx="6931152" cy="960120"/>
          </a:xfrm>
          <a:prstGeom prst="roundRect">
            <a:avLst>
              <a:gd name="adj" fmla="val 7619"/>
            </a:avLst>
          </a:prstGeom>
          <a:solidFill>
            <a:srgbClr val="F7F8FC"/>
          </a:solidFill>
          <a:ln/>
        </p:spPr>
      </p:sp>
      <p:sp>
        <p:nvSpPr>
          <p:cNvPr id="22" name="Shape 16"/>
          <p:cNvSpPr/>
          <p:nvPr/>
        </p:nvSpPr>
        <p:spPr>
          <a:xfrm>
            <a:off x="4910328" y="3081528"/>
            <a:ext cx="548640" cy="548640"/>
          </a:xfrm>
          <a:prstGeom prst="ellipse">
            <a:avLst/>
          </a:prstGeom>
          <a:solidFill>
            <a:srgbClr val="1E2761"/>
          </a:solidFill>
          <a:ln/>
        </p:spPr>
      </p:sp>
      <p:pic>
        <p:nvPicPr>
          <p:cNvPr id="23" name="Image 4" descr="/home/claude/icons/grid_white.png"/>
          <p:cNvPicPr>
            <a:picLocks noChangeAspect="1"/>
          </p:cNvPicPr>
          <p:nvPr/>
        </p:nvPicPr>
        <p:blipFill>
          <a:blip r:embed="rId5"/>
          <a:stretch>
            <a:fillRect/>
          </a:stretch>
        </p:blipFill>
        <p:spPr>
          <a:xfrm>
            <a:off x="5052974" y="3224174"/>
            <a:ext cx="263347" cy="263347"/>
          </a:xfrm>
          <a:prstGeom prst="rect">
            <a:avLst/>
          </a:prstGeom>
        </p:spPr>
      </p:pic>
      <p:sp>
        <p:nvSpPr>
          <p:cNvPr id="24" name="Text 17"/>
          <p:cNvSpPr/>
          <p:nvPr/>
        </p:nvSpPr>
        <p:spPr>
          <a:xfrm>
            <a:off x="5669280" y="299923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UI Design</a:t>
            </a:r>
            <a:endParaRPr lang="en-US" sz="1300" dirty="0"/>
          </a:p>
        </p:txBody>
      </p:sp>
      <p:sp>
        <p:nvSpPr>
          <p:cNvPr id="25" name="Text 18"/>
          <p:cNvSpPr/>
          <p:nvPr/>
        </p:nvSpPr>
        <p:spPr>
          <a:xfrm>
            <a:off x="5669280" y="331012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Designed a clean, intuitive interface for exploring customer segments and insights.</a:t>
            </a:r>
            <a:endParaRPr lang="en-US" sz="1050" dirty="0"/>
          </a:p>
        </p:txBody>
      </p:sp>
      <p:sp>
        <p:nvSpPr>
          <p:cNvPr id="26" name="Shape 19"/>
          <p:cNvSpPr/>
          <p:nvPr/>
        </p:nvSpPr>
        <p:spPr>
          <a:xfrm>
            <a:off x="4709160" y="3977640"/>
            <a:ext cx="6931152" cy="960120"/>
          </a:xfrm>
          <a:prstGeom prst="roundRect">
            <a:avLst>
              <a:gd name="adj" fmla="val 7619"/>
            </a:avLst>
          </a:prstGeom>
          <a:solidFill>
            <a:srgbClr val="F7F8FC"/>
          </a:solidFill>
          <a:ln/>
        </p:spPr>
      </p:sp>
      <p:sp>
        <p:nvSpPr>
          <p:cNvPr id="27" name="Shape 20"/>
          <p:cNvSpPr/>
          <p:nvPr/>
        </p:nvSpPr>
        <p:spPr>
          <a:xfrm>
            <a:off x="4910328" y="4178808"/>
            <a:ext cx="548640" cy="548640"/>
          </a:xfrm>
          <a:prstGeom prst="ellipse">
            <a:avLst/>
          </a:prstGeom>
          <a:solidFill>
            <a:srgbClr val="1E2761"/>
          </a:solidFill>
          <a:ln/>
        </p:spPr>
      </p:sp>
      <p:pic>
        <p:nvPicPr>
          <p:cNvPr id="28" name="Image 5" descr="/home/claude/icons/database_white.png"/>
          <p:cNvPicPr>
            <a:picLocks noChangeAspect="1"/>
          </p:cNvPicPr>
          <p:nvPr/>
        </p:nvPicPr>
        <p:blipFill>
          <a:blip r:embed="rId6"/>
          <a:stretch>
            <a:fillRect/>
          </a:stretch>
        </p:blipFill>
        <p:spPr>
          <a:xfrm>
            <a:off x="5052974" y="4321454"/>
            <a:ext cx="263347" cy="263347"/>
          </a:xfrm>
          <a:prstGeom prst="rect">
            <a:avLst/>
          </a:prstGeom>
        </p:spPr>
      </p:pic>
      <p:sp>
        <p:nvSpPr>
          <p:cNvPr id="29" name="Text 21"/>
          <p:cNvSpPr/>
          <p:nvPr/>
        </p:nvSpPr>
        <p:spPr>
          <a:xfrm>
            <a:off x="5669280" y="409651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System Integration</a:t>
            </a:r>
            <a:endParaRPr lang="en-US" sz="1300" dirty="0"/>
          </a:p>
        </p:txBody>
      </p:sp>
      <p:sp>
        <p:nvSpPr>
          <p:cNvPr id="30" name="Text 22"/>
          <p:cNvSpPr/>
          <p:nvPr/>
        </p:nvSpPr>
        <p:spPr>
          <a:xfrm>
            <a:off x="5669280" y="440740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Connected the database, clustering model, and marketing outputs into one cohesive workflow.</a:t>
            </a:r>
            <a:endParaRPr lang="en-US" sz="1050" dirty="0"/>
          </a:p>
        </p:txBody>
      </p:sp>
      <p:sp>
        <p:nvSpPr>
          <p:cNvPr id="31" name="Shape 23"/>
          <p:cNvSpPr/>
          <p:nvPr/>
        </p:nvSpPr>
        <p:spPr>
          <a:xfrm>
            <a:off x="4709160" y="5074920"/>
            <a:ext cx="6931152" cy="960120"/>
          </a:xfrm>
          <a:prstGeom prst="roundRect">
            <a:avLst>
              <a:gd name="adj" fmla="val 7619"/>
            </a:avLst>
          </a:prstGeom>
          <a:solidFill>
            <a:srgbClr val="F7F8FC"/>
          </a:solidFill>
          <a:ln/>
        </p:spPr>
      </p:sp>
      <p:sp>
        <p:nvSpPr>
          <p:cNvPr id="32" name="Shape 24"/>
          <p:cNvSpPr/>
          <p:nvPr/>
        </p:nvSpPr>
        <p:spPr>
          <a:xfrm>
            <a:off x="4910328" y="5276088"/>
            <a:ext cx="548640" cy="548640"/>
          </a:xfrm>
          <a:prstGeom prst="ellipse">
            <a:avLst/>
          </a:prstGeom>
          <a:solidFill>
            <a:srgbClr val="1E2761"/>
          </a:solidFill>
          <a:ln/>
        </p:spPr>
      </p:sp>
      <p:pic>
        <p:nvPicPr>
          <p:cNvPr id="33" name="Image 6" descr="/home/claude/icons/check_white.png"/>
          <p:cNvPicPr>
            <a:picLocks noChangeAspect="1"/>
          </p:cNvPicPr>
          <p:nvPr/>
        </p:nvPicPr>
        <p:blipFill>
          <a:blip r:embed="rId7"/>
          <a:stretch>
            <a:fillRect/>
          </a:stretch>
        </p:blipFill>
        <p:spPr>
          <a:xfrm>
            <a:off x="5052974" y="5418734"/>
            <a:ext cx="263347" cy="263347"/>
          </a:xfrm>
          <a:prstGeom prst="rect">
            <a:avLst/>
          </a:prstGeom>
        </p:spPr>
      </p:pic>
      <p:sp>
        <p:nvSpPr>
          <p:cNvPr id="34" name="Text 25"/>
          <p:cNvSpPr/>
          <p:nvPr/>
        </p:nvSpPr>
        <p:spPr>
          <a:xfrm>
            <a:off x="5669280" y="5193792"/>
            <a:ext cx="5788152"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Deployment &amp; Presentation</a:t>
            </a:r>
            <a:endParaRPr lang="en-US" sz="1300" dirty="0"/>
          </a:p>
        </p:txBody>
      </p:sp>
      <p:sp>
        <p:nvSpPr>
          <p:cNvPr id="35" name="Text 26"/>
          <p:cNvSpPr/>
          <p:nvPr/>
        </p:nvSpPr>
        <p:spPr>
          <a:xfrm>
            <a:off x="5669280" y="5504688"/>
            <a:ext cx="5788152" cy="457200"/>
          </a:xfrm>
          <a:prstGeom prst="rect">
            <a:avLst/>
          </a:prstGeom>
          <a:noFill/>
          <a:ln/>
        </p:spPr>
        <p:txBody>
          <a:bodyPr wrap="square" lIns="0" tIns="0" rIns="0" bIns="0" rtlCol="0" anchor="t"/>
          <a:lstStyle/>
          <a:p>
            <a:pPr marL="0" indent="0">
              <a:buNone/>
            </a:pPr>
            <a:r>
              <a:rPr lang="en-US" sz="1050" dirty="0">
                <a:solidFill>
                  <a:srgbClr val="6B7280"/>
                </a:solidFill>
                <a:latin typeface="Calibri" pitchFamily="34" charset="0"/>
                <a:ea typeface="Calibri" pitchFamily="34" charset="-122"/>
                <a:cs typeface="Calibri" pitchFamily="34" charset="-120"/>
              </a:rPr>
              <a:t>Packaged the final product for demonstration, ensuring everything runs smoothly end to end.</a:t>
            </a:r>
            <a:endParaRPr lang="en-US" sz="1050" dirty="0"/>
          </a:p>
        </p:txBody>
      </p:sp>
      <p:sp>
        <p:nvSpPr>
          <p:cNvPr id="36" name="Text 27"/>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37" name="Text 28"/>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1F8"/>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Dashboard Design</a:t>
            </a:r>
            <a:endParaRPr lang="en-US" sz="2800" dirty="0"/>
          </a:p>
        </p:txBody>
      </p:sp>
      <p:sp>
        <p:nvSpPr>
          <p:cNvPr id="3" name="Text 1"/>
          <p:cNvSpPr/>
          <p:nvPr/>
        </p:nvSpPr>
        <p:spPr>
          <a:xfrm>
            <a:off x="548640" y="914400"/>
            <a:ext cx="11064240" cy="3200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 single view combining segmentation, spending behavior, and next actions</a:t>
            </a:r>
            <a:endParaRPr lang="en-US" sz="1250" dirty="0"/>
          </a:p>
        </p:txBody>
      </p:sp>
      <p:sp>
        <p:nvSpPr>
          <p:cNvPr id="4" name="Shape 2"/>
          <p:cNvSpPr/>
          <p:nvPr/>
        </p:nvSpPr>
        <p:spPr>
          <a:xfrm>
            <a:off x="457200" y="1371600"/>
            <a:ext cx="11274552" cy="5166360"/>
          </a:xfrm>
          <a:prstGeom prst="roundRect">
            <a:avLst>
              <a:gd name="adj" fmla="val 1416"/>
            </a:avLst>
          </a:prstGeom>
          <a:solidFill>
            <a:srgbClr val="FFFFFF"/>
          </a:solidFill>
          <a:ln w="12700">
            <a:solidFill>
              <a:srgbClr val="E2E6F2"/>
            </a:solidFill>
            <a:prstDash val="solid"/>
          </a:ln>
          <a:effectLst>
            <a:outerShdw blurRad="127000" dist="38100" dir="5400000" algn="bl" rotWithShape="0">
              <a:srgbClr val="1E2761">
                <a:alpha val="15000"/>
              </a:srgbClr>
            </a:outerShdw>
          </a:effectLst>
        </p:spPr>
      </p:sp>
      <p:sp>
        <p:nvSpPr>
          <p:cNvPr id="5" name="Shape 3"/>
          <p:cNvSpPr/>
          <p:nvPr/>
        </p:nvSpPr>
        <p:spPr>
          <a:xfrm>
            <a:off x="457200" y="1371600"/>
            <a:ext cx="11274552" cy="347472"/>
          </a:xfrm>
          <a:prstGeom prst="roundRect">
            <a:avLst>
              <a:gd name="adj" fmla="val 21053"/>
            </a:avLst>
          </a:prstGeom>
          <a:solidFill>
            <a:srgbClr val="1E2761"/>
          </a:solidFill>
          <a:ln/>
        </p:spPr>
      </p:sp>
      <p:sp>
        <p:nvSpPr>
          <p:cNvPr id="6" name="Shape 4"/>
          <p:cNvSpPr/>
          <p:nvPr/>
        </p:nvSpPr>
        <p:spPr>
          <a:xfrm>
            <a:off x="457200" y="1545336"/>
            <a:ext cx="11274552" cy="173736"/>
          </a:xfrm>
          <a:prstGeom prst="rect">
            <a:avLst/>
          </a:prstGeom>
          <a:solidFill>
            <a:srgbClr val="1E2761"/>
          </a:solidFill>
          <a:ln/>
        </p:spPr>
      </p:sp>
      <p:sp>
        <p:nvSpPr>
          <p:cNvPr id="7" name="Shape 5"/>
          <p:cNvSpPr/>
          <p:nvPr/>
        </p:nvSpPr>
        <p:spPr>
          <a:xfrm>
            <a:off x="621792" y="1490472"/>
            <a:ext cx="109728" cy="109728"/>
          </a:xfrm>
          <a:prstGeom prst="ellipse">
            <a:avLst/>
          </a:prstGeom>
          <a:solidFill>
            <a:srgbClr val="E05252"/>
          </a:solidFill>
          <a:ln/>
        </p:spPr>
      </p:sp>
      <p:sp>
        <p:nvSpPr>
          <p:cNvPr id="8" name="Shape 6"/>
          <p:cNvSpPr/>
          <p:nvPr/>
        </p:nvSpPr>
        <p:spPr>
          <a:xfrm>
            <a:off x="822960" y="1490472"/>
            <a:ext cx="109728" cy="109728"/>
          </a:xfrm>
          <a:prstGeom prst="ellipse">
            <a:avLst/>
          </a:prstGeom>
          <a:solidFill>
            <a:srgbClr val="E8B84B"/>
          </a:solidFill>
          <a:ln/>
        </p:spPr>
      </p:sp>
      <p:sp>
        <p:nvSpPr>
          <p:cNvPr id="9" name="Shape 7"/>
          <p:cNvSpPr/>
          <p:nvPr/>
        </p:nvSpPr>
        <p:spPr>
          <a:xfrm>
            <a:off x="1024128" y="1490472"/>
            <a:ext cx="109728" cy="109728"/>
          </a:xfrm>
          <a:prstGeom prst="ellipse">
            <a:avLst/>
          </a:prstGeom>
          <a:solidFill>
            <a:srgbClr val="5CB85C"/>
          </a:solidFill>
          <a:ln/>
        </p:spPr>
      </p:sp>
      <p:sp>
        <p:nvSpPr>
          <p:cNvPr id="10" name="Text 8"/>
          <p:cNvSpPr/>
          <p:nvPr/>
        </p:nvSpPr>
        <p:spPr>
          <a:xfrm>
            <a:off x="1371600" y="1371600"/>
            <a:ext cx="5486400" cy="347472"/>
          </a:xfrm>
          <a:prstGeom prst="rect">
            <a:avLst/>
          </a:prstGeom>
          <a:noFill/>
          <a:ln/>
        </p:spPr>
        <p:txBody>
          <a:bodyPr wrap="square" lIns="0" tIns="0" rIns="0" bIns="0" rtlCol="0" anchor="ctr"/>
          <a:lstStyle/>
          <a:p>
            <a:pPr marL="0" indent="0">
              <a:buNone/>
            </a:pPr>
            <a:r>
              <a:rPr lang="en-US" sz="1000" dirty="0">
                <a:solidFill>
                  <a:srgbClr val="C9D1EC"/>
                </a:solidFill>
                <a:latin typeface="Calibri" pitchFamily="34" charset="0"/>
                <a:ea typeface="Calibri" pitchFamily="34" charset="-122"/>
                <a:cs typeface="Calibri" pitchFamily="34" charset="-120"/>
              </a:rPr>
              <a:t>Customer Segmentation Dashboard</a:t>
            </a:r>
            <a:endParaRPr lang="en-US" sz="1000" dirty="0"/>
          </a:p>
        </p:txBody>
      </p:sp>
      <p:sp>
        <p:nvSpPr>
          <p:cNvPr id="11" name="Shape 9"/>
          <p:cNvSpPr/>
          <p:nvPr/>
        </p:nvSpPr>
        <p:spPr>
          <a:xfrm>
            <a:off x="621792" y="1883664"/>
            <a:ext cx="2331720" cy="1824228"/>
          </a:xfrm>
          <a:prstGeom prst="roundRect">
            <a:avLst>
              <a:gd name="adj" fmla="val 3008"/>
            </a:avLst>
          </a:prstGeom>
          <a:solidFill>
            <a:srgbClr val="F7F8FC"/>
          </a:solidFill>
          <a:ln/>
        </p:spPr>
      </p:sp>
      <p:sp>
        <p:nvSpPr>
          <p:cNvPr id="12" name="Shape 10"/>
          <p:cNvSpPr/>
          <p:nvPr/>
        </p:nvSpPr>
        <p:spPr>
          <a:xfrm>
            <a:off x="1531620" y="2029968"/>
            <a:ext cx="512064" cy="512064"/>
          </a:xfrm>
          <a:prstGeom prst="ellipse">
            <a:avLst/>
          </a:prstGeom>
          <a:solidFill>
            <a:srgbClr val="1E2761"/>
          </a:solidFill>
          <a:ln/>
        </p:spPr>
      </p:sp>
      <p:pic>
        <p:nvPicPr>
          <p:cNvPr id="13" name="Image 0" descr="/home/claude/icons/users_white.png"/>
          <p:cNvPicPr>
            <a:picLocks noChangeAspect="1"/>
          </p:cNvPicPr>
          <p:nvPr/>
        </p:nvPicPr>
        <p:blipFill>
          <a:blip r:embed="rId3"/>
          <a:stretch>
            <a:fillRect/>
          </a:stretch>
        </p:blipFill>
        <p:spPr>
          <a:xfrm>
            <a:off x="1664757" y="2163105"/>
            <a:ext cx="245791" cy="245791"/>
          </a:xfrm>
          <a:prstGeom prst="rect">
            <a:avLst/>
          </a:prstGeom>
        </p:spPr>
      </p:pic>
      <p:sp>
        <p:nvSpPr>
          <p:cNvPr id="14" name="Text 11"/>
          <p:cNvSpPr/>
          <p:nvPr/>
        </p:nvSpPr>
        <p:spPr>
          <a:xfrm>
            <a:off x="621792" y="2615184"/>
            <a:ext cx="2331720" cy="502920"/>
          </a:xfrm>
          <a:prstGeom prst="rect">
            <a:avLst/>
          </a:prstGeom>
          <a:noFill/>
          <a:ln/>
        </p:spPr>
        <p:txBody>
          <a:bodyPr wrap="square" lIns="0" tIns="0" rIns="0" bIns="0" rtlCol="0" anchor="ctr"/>
          <a:lstStyle/>
          <a:p>
            <a:pPr marL="0" indent="0" algn="ctr">
              <a:buNone/>
            </a:pPr>
            <a:r>
              <a:rPr lang="en-US" sz="3000" b="1" dirty="0">
                <a:solidFill>
                  <a:srgbClr val="1E2761"/>
                </a:solidFill>
                <a:latin typeface="Cambria" pitchFamily="34" charset="0"/>
                <a:ea typeface="Cambria" pitchFamily="34" charset="-122"/>
                <a:cs typeface="Cambria" pitchFamily="34" charset="-120"/>
              </a:rPr>
              <a:t>200</a:t>
            </a:r>
            <a:endParaRPr lang="en-US" sz="3000" dirty="0"/>
          </a:p>
        </p:txBody>
      </p:sp>
      <p:sp>
        <p:nvSpPr>
          <p:cNvPr id="15" name="Text 12"/>
          <p:cNvSpPr/>
          <p:nvPr/>
        </p:nvSpPr>
        <p:spPr>
          <a:xfrm>
            <a:off x="621792" y="3118104"/>
            <a:ext cx="2331720" cy="27432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Customer Count</a:t>
            </a:r>
            <a:endParaRPr lang="en-US" sz="1050" dirty="0"/>
          </a:p>
        </p:txBody>
      </p:sp>
      <p:sp>
        <p:nvSpPr>
          <p:cNvPr id="16" name="Shape 13"/>
          <p:cNvSpPr/>
          <p:nvPr/>
        </p:nvSpPr>
        <p:spPr>
          <a:xfrm>
            <a:off x="621792" y="3854196"/>
            <a:ext cx="2331720" cy="2519172"/>
          </a:xfrm>
          <a:prstGeom prst="roundRect">
            <a:avLst>
              <a:gd name="adj" fmla="val 2353"/>
            </a:avLst>
          </a:prstGeom>
          <a:solidFill>
            <a:srgbClr val="F7F8FC"/>
          </a:solidFill>
          <a:ln/>
        </p:spPr>
      </p:sp>
      <p:sp>
        <p:nvSpPr>
          <p:cNvPr id="17" name="Text 14"/>
          <p:cNvSpPr/>
          <p:nvPr/>
        </p:nvSpPr>
        <p:spPr>
          <a:xfrm>
            <a:off x="621792" y="3963924"/>
            <a:ext cx="2331720" cy="256032"/>
          </a:xfrm>
          <a:prstGeom prst="rect">
            <a:avLst/>
          </a:prstGeom>
          <a:noFill/>
          <a:ln/>
        </p:spPr>
        <p:txBody>
          <a:bodyPr wrap="square" lIns="0" tIns="0" rIns="0" bIns="0" rtlCol="0" anchor="ctr"/>
          <a:lstStyle/>
          <a:p>
            <a:pPr marL="0" indent="0" algn="ctr">
              <a:buNone/>
            </a:pPr>
            <a:r>
              <a:rPr lang="en-US" sz="1050" b="1" dirty="0">
                <a:solidFill>
                  <a:srgbClr val="161C4D"/>
                </a:solidFill>
                <a:latin typeface="Calibri" pitchFamily="34" charset="0"/>
                <a:ea typeface="Calibri" pitchFamily="34" charset="-122"/>
                <a:cs typeface="Calibri" pitchFamily="34" charset="-120"/>
              </a:rPr>
              <a:t>Spending Score</a:t>
            </a:r>
            <a:endParaRPr lang="en-US" sz="1050" dirty="0"/>
          </a:p>
        </p:txBody>
      </p:sp>
      <p:graphicFrame>
        <p:nvGraphicFramePr>
          <p:cNvPr id="18" name="Chart 0"/>
          <p:cNvGraphicFramePr/>
          <p:nvPr/>
        </p:nvGraphicFramePr>
        <p:xfrm>
          <a:off x="941832" y="4238244"/>
          <a:ext cx="1691640" cy="1691640"/>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15"/>
          <p:cNvSpPr/>
          <p:nvPr/>
        </p:nvSpPr>
        <p:spPr>
          <a:xfrm>
            <a:off x="621792" y="4882896"/>
            <a:ext cx="2331720" cy="402336"/>
          </a:xfrm>
          <a:prstGeom prst="rect">
            <a:avLst/>
          </a:prstGeom>
          <a:noFill/>
          <a:ln/>
        </p:spPr>
        <p:txBody>
          <a:bodyPr wrap="square" lIns="0" tIns="0" rIns="0" bIns="0" rtlCol="0" anchor="ctr"/>
          <a:lstStyle/>
          <a:p>
            <a:pPr marL="0" indent="0" algn="ctr">
              <a:buNone/>
            </a:pPr>
            <a:r>
              <a:rPr lang="en-US" sz="1700" b="1" dirty="0">
                <a:solidFill>
                  <a:srgbClr val="1E2761"/>
                </a:solidFill>
                <a:latin typeface="Cambria" pitchFamily="34" charset="0"/>
                <a:ea typeface="Cambria" pitchFamily="34" charset="-122"/>
                <a:cs typeface="Cambria" pitchFamily="34" charset="-120"/>
              </a:rPr>
              <a:t>58.4</a:t>
            </a:r>
            <a:endParaRPr lang="en-US" sz="1700" dirty="0"/>
          </a:p>
        </p:txBody>
      </p:sp>
      <p:sp>
        <p:nvSpPr>
          <p:cNvPr id="20" name="Text 16"/>
          <p:cNvSpPr/>
          <p:nvPr/>
        </p:nvSpPr>
        <p:spPr>
          <a:xfrm>
            <a:off x="621792" y="6080760"/>
            <a:ext cx="2331720" cy="237744"/>
          </a:xfrm>
          <a:prstGeom prst="rect">
            <a:avLst/>
          </a:prstGeom>
          <a:noFill/>
          <a:ln/>
        </p:spPr>
        <p:txBody>
          <a:bodyPr wrap="square" lIns="0" tIns="0" rIns="0" bIns="0"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Avg. score / 100</a:t>
            </a:r>
            <a:endParaRPr lang="en-US" sz="850" dirty="0"/>
          </a:p>
        </p:txBody>
      </p:sp>
      <p:sp>
        <p:nvSpPr>
          <p:cNvPr id="21" name="Shape 17"/>
          <p:cNvSpPr/>
          <p:nvPr/>
        </p:nvSpPr>
        <p:spPr>
          <a:xfrm>
            <a:off x="3118104" y="1883664"/>
            <a:ext cx="4160520" cy="1997964"/>
          </a:xfrm>
          <a:prstGeom prst="roundRect">
            <a:avLst>
              <a:gd name="adj" fmla="val 2746"/>
            </a:avLst>
          </a:prstGeom>
          <a:solidFill>
            <a:srgbClr val="F7F8FC"/>
          </a:solidFill>
          <a:ln/>
        </p:spPr>
      </p:sp>
      <p:sp>
        <p:nvSpPr>
          <p:cNvPr id="22" name="Text 18"/>
          <p:cNvSpPr/>
          <p:nvPr/>
        </p:nvSpPr>
        <p:spPr>
          <a:xfrm>
            <a:off x="3255264" y="1975104"/>
            <a:ext cx="3886200" cy="237744"/>
          </a:xfrm>
          <a:prstGeom prst="rect">
            <a:avLst/>
          </a:prstGeom>
          <a:noFill/>
          <a:ln/>
        </p:spPr>
        <p:txBody>
          <a:bodyPr wrap="square" lIns="0" tIns="0" rIns="0" bIns="0" rtlCol="0" anchor="ctr"/>
          <a:lstStyle/>
          <a:p>
            <a:pPr marL="0" indent="0">
              <a:buNone/>
            </a:pPr>
            <a:r>
              <a:rPr lang="en-US" sz="1050" b="1" dirty="0">
                <a:solidFill>
                  <a:srgbClr val="161C4D"/>
                </a:solidFill>
                <a:latin typeface="Calibri" pitchFamily="34" charset="0"/>
                <a:ea typeface="Calibri" pitchFamily="34" charset="-122"/>
                <a:cs typeface="Calibri" pitchFamily="34" charset="-120"/>
              </a:rPr>
              <a:t>Cluster Distribution</a:t>
            </a:r>
            <a:endParaRPr lang="en-US" sz="1050" dirty="0"/>
          </a:p>
        </p:txBody>
      </p:sp>
      <p:graphicFrame>
        <p:nvGraphicFramePr>
          <p:cNvPr id="23" name="Chart 1"/>
          <p:cNvGraphicFramePr/>
          <p:nvPr/>
        </p:nvGraphicFramePr>
        <p:xfrm>
          <a:off x="3209544" y="2212848"/>
          <a:ext cx="1691640" cy="1577340"/>
        </p:xfrm>
        <a:graphic>
          <a:graphicData uri="http://schemas.openxmlformats.org/drawingml/2006/chart">
            <c:chart xmlns:c="http://schemas.openxmlformats.org/drawingml/2006/chart" xmlns:r="http://schemas.openxmlformats.org/officeDocument/2006/relationships" r:id="rId5"/>
          </a:graphicData>
        </a:graphic>
      </p:graphicFrame>
      <p:sp>
        <p:nvSpPr>
          <p:cNvPr id="24" name="Shape 19"/>
          <p:cNvSpPr/>
          <p:nvPr/>
        </p:nvSpPr>
        <p:spPr>
          <a:xfrm>
            <a:off x="4992624" y="2322576"/>
            <a:ext cx="128016" cy="128016"/>
          </a:xfrm>
          <a:prstGeom prst="rect">
            <a:avLst/>
          </a:prstGeom>
          <a:solidFill>
            <a:srgbClr val="8FA6D6"/>
          </a:solidFill>
          <a:ln/>
        </p:spPr>
      </p:sp>
      <p:sp>
        <p:nvSpPr>
          <p:cNvPr id="25" name="Text 20"/>
          <p:cNvSpPr/>
          <p:nvPr/>
        </p:nvSpPr>
        <p:spPr>
          <a:xfrm>
            <a:off x="5202936" y="2249424"/>
            <a:ext cx="1965960" cy="256032"/>
          </a:xfrm>
          <a:prstGeom prst="rect">
            <a:avLst/>
          </a:prstGeom>
          <a:noFill/>
          <a:ln/>
        </p:spPr>
        <p:txBody>
          <a:bodyPr wrap="square" lIns="0" tIns="0" rIns="0" bIns="0" rtlCol="0" anchor="ctr"/>
          <a:lstStyle/>
          <a:p>
            <a:pPr marL="0" indent="0">
              <a:buNone/>
            </a:pPr>
            <a:r>
              <a:rPr lang="en-US" sz="950" dirty="0">
                <a:solidFill>
                  <a:srgbClr val="333333"/>
                </a:solidFill>
                <a:latin typeface="Calibri" pitchFamily="34" charset="0"/>
                <a:ea typeface="Calibri" pitchFamily="34" charset="-122"/>
                <a:cs typeface="Calibri" pitchFamily="34" charset="-120"/>
              </a:rPr>
              <a:t>Budget  25%</a:t>
            </a:r>
            <a:endParaRPr lang="en-US" sz="950" dirty="0"/>
          </a:p>
        </p:txBody>
      </p:sp>
      <p:sp>
        <p:nvSpPr>
          <p:cNvPr id="26" name="Shape 21"/>
          <p:cNvSpPr/>
          <p:nvPr/>
        </p:nvSpPr>
        <p:spPr>
          <a:xfrm>
            <a:off x="4992624" y="2615184"/>
            <a:ext cx="128016" cy="128016"/>
          </a:xfrm>
          <a:prstGeom prst="rect">
            <a:avLst/>
          </a:prstGeom>
          <a:solidFill>
            <a:srgbClr val="4A62A8"/>
          </a:solidFill>
          <a:ln/>
        </p:spPr>
      </p:sp>
      <p:sp>
        <p:nvSpPr>
          <p:cNvPr id="27" name="Text 22"/>
          <p:cNvSpPr/>
          <p:nvPr/>
        </p:nvSpPr>
        <p:spPr>
          <a:xfrm>
            <a:off x="5202936" y="2542032"/>
            <a:ext cx="1965960" cy="256032"/>
          </a:xfrm>
          <a:prstGeom prst="rect">
            <a:avLst/>
          </a:prstGeom>
          <a:noFill/>
          <a:ln/>
        </p:spPr>
        <p:txBody>
          <a:bodyPr wrap="square" lIns="0" tIns="0" rIns="0" bIns="0" rtlCol="0" anchor="ctr"/>
          <a:lstStyle/>
          <a:p>
            <a:pPr marL="0" indent="0">
              <a:buNone/>
            </a:pPr>
            <a:r>
              <a:rPr lang="en-US" sz="950" dirty="0">
                <a:solidFill>
                  <a:srgbClr val="333333"/>
                </a:solidFill>
                <a:latin typeface="Calibri" pitchFamily="34" charset="0"/>
                <a:ea typeface="Calibri" pitchFamily="34" charset="-122"/>
                <a:cs typeface="Calibri" pitchFamily="34" charset="-120"/>
              </a:rPr>
              <a:t>Regular  25%</a:t>
            </a:r>
            <a:endParaRPr lang="en-US" sz="950" dirty="0"/>
          </a:p>
        </p:txBody>
      </p:sp>
      <p:sp>
        <p:nvSpPr>
          <p:cNvPr id="28" name="Shape 23"/>
          <p:cNvSpPr/>
          <p:nvPr/>
        </p:nvSpPr>
        <p:spPr>
          <a:xfrm>
            <a:off x="4992624" y="2907792"/>
            <a:ext cx="128016" cy="128016"/>
          </a:xfrm>
          <a:prstGeom prst="rect">
            <a:avLst/>
          </a:prstGeom>
          <a:solidFill>
            <a:srgbClr val="2A3A82"/>
          </a:solidFill>
          <a:ln/>
        </p:spPr>
      </p:sp>
      <p:sp>
        <p:nvSpPr>
          <p:cNvPr id="29" name="Text 24"/>
          <p:cNvSpPr/>
          <p:nvPr/>
        </p:nvSpPr>
        <p:spPr>
          <a:xfrm>
            <a:off x="5202936" y="2834640"/>
            <a:ext cx="1965960" cy="256032"/>
          </a:xfrm>
          <a:prstGeom prst="rect">
            <a:avLst/>
          </a:prstGeom>
          <a:noFill/>
          <a:ln/>
        </p:spPr>
        <p:txBody>
          <a:bodyPr wrap="square" lIns="0" tIns="0" rIns="0" bIns="0" rtlCol="0" anchor="ctr"/>
          <a:lstStyle/>
          <a:p>
            <a:pPr marL="0" indent="0">
              <a:buNone/>
            </a:pPr>
            <a:r>
              <a:rPr lang="en-US" sz="950" dirty="0">
                <a:solidFill>
                  <a:srgbClr val="333333"/>
                </a:solidFill>
                <a:latin typeface="Calibri" pitchFamily="34" charset="0"/>
                <a:ea typeface="Calibri" pitchFamily="34" charset="-122"/>
                <a:cs typeface="Calibri" pitchFamily="34" charset="-120"/>
              </a:rPr>
              <a:t>Premium  25%</a:t>
            </a:r>
            <a:endParaRPr lang="en-US" sz="950" dirty="0"/>
          </a:p>
        </p:txBody>
      </p:sp>
      <p:sp>
        <p:nvSpPr>
          <p:cNvPr id="30" name="Shape 25"/>
          <p:cNvSpPr/>
          <p:nvPr/>
        </p:nvSpPr>
        <p:spPr>
          <a:xfrm>
            <a:off x="4992624" y="3200400"/>
            <a:ext cx="128016" cy="128016"/>
          </a:xfrm>
          <a:prstGeom prst="rect">
            <a:avLst/>
          </a:prstGeom>
          <a:solidFill>
            <a:srgbClr val="D4A017"/>
          </a:solidFill>
          <a:ln/>
        </p:spPr>
      </p:sp>
      <p:sp>
        <p:nvSpPr>
          <p:cNvPr id="31" name="Text 26"/>
          <p:cNvSpPr/>
          <p:nvPr/>
        </p:nvSpPr>
        <p:spPr>
          <a:xfrm>
            <a:off x="5202936" y="3127248"/>
            <a:ext cx="1965960" cy="256032"/>
          </a:xfrm>
          <a:prstGeom prst="rect">
            <a:avLst/>
          </a:prstGeom>
          <a:noFill/>
          <a:ln/>
        </p:spPr>
        <p:txBody>
          <a:bodyPr wrap="square" lIns="0" tIns="0" rIns="0" bIns="0" rtlCol="0" anchor="ctr"/>
          <a:lstStyle/>
          <a:p>
            <a:pPr marL="0" indent="0">
              <a:buNone/>
            </a:pPr>
            <a:r>
              <a:rPr lang="en-US" sz="950" dirty="0">
                <a:solidFill>
                  <a:srgbClr val="333333"/>
                </a:solidFill>
                <a:latin typeface="Calibri" pitchFamily="34" charset="0"/>
                <a:ea typeface="Calibri" pitchFamily="34" charset="-122"/>
                <a:cs typeface="Calibri" pitchFamily="34" charset="-120"/>
              </a:rPr>
              <a:t>VIP  25%</a:t>
            </a:r>
            <a:endParaRPr lang="en-US" sz="950" dirty="0"/>
          </a:p>
        </p:txBody>
      </p:sp>
      <p:sp>
        <p:nvSpPr>
          <p:cNvPr id="32" name="Shape 27"/>
          <p:cNvSpPr/>
          <p:nvPr/>
        </p:nvSpPr>
        <p:spPr>
          <a:xfrm>
            <a:off x="3118104" y="4027932"/>
            <a:ext cx="4160520" cy="2345436"/>
          </a:xfrm>
          <a:prstGeom prst="roundRect">
            <a:avLst>
              <a:gd name="adj" fmla="val 2339"/>
            </a:avLst>
          </a:prstGeom>
          <a:solidFill>
            <a:srgbClr val="F7F8FC"/>
          </a:solidFill>
          <a:ln/>
        </p:spPr>
      </p:sp>
      <p:sp>
        <p:nvSpPr>
          <p:cNvPr id="33" name="Text 28"/>
          <p:cNvSpPr/>
          <p:nvPr/>
        </p:nvSpPr>
        <p:spPr>
          <a:xfrm>
            <a:off x="3255264" y="4119372"/>
            <a:ext cx="3886200" cy="237744"/>
          </a:xfrm>
          <a:prstGeom prst="rect">
            <a:avLst/>
          </a:prstGeom>
          <a:noFill/>
          <a:ln/>
        </p:spPr>
        <p:txBody>
          <a:bodyPr wrap="square" lIns="0" tIns="0" rIns="0" bIns="0" rtlCol="0" anchor="ctr"/>
          <a:lstStyle/>
          <a:p>
            <a:pPr marL="0" indent="0">
              <a:buNone/>
            </a:pPr>
            <a:r>
              <a:rPr lang="en-US" sz="1050" b="1" dirty="0">
                <a:solidFill>
                  <a:srgbClr val="161C4D"/>
                </a:solidFill>
                <a:latin typeface="Calibri" pitchFamily="34" charset="0"/>
                <a:ea typeface="Calibri" pitchFamily="34" charset="-122"/>
                <a:cs typeface="Calibri" pitchFamily="34" charset="-120"/>
              </a:rPr>
              <a:t>Income Chart — Avg. by Segment</a:t>
            </a:r>
            <a:endParaRPr lang="en-US" sz="1050" dirty="0"/>
          </a:p>
        </p:txBody>
      </p:sp>
      <p:graphicFrame>
        <p:nvGraphicFramePr>
          <p:cNvPr id="34" name="Chart 2"/>
          <p:cNvGraphicFramePr/>
          <p:nvPr/>
        </p:nvGraphicFramePr>
        <p:xfrm>
          <a:off x="3209544" y="4393692"/>
          <a:ext cx="3977640" cy="1888236"/>
        </p:xfrm>
        <a:graphic>
          <a:graphicData uri="http://schemas.openxmlformats.org/drawingml/2006/chart">
            <c:chart xmlns:c="http://schemas.openxmlformats.org/drawingml/2006/chart" xmlns:r="http://schemas.openxmlformats.org/officeDocument/2006/relationships" r:id="rId6"/>
          </a:graphicData>
        </a:graphic>
      </p:graphicFrame>
      <p:sp>
        <p:nvSpPr>
          <p:cNvPr id="35" name="Shape 29"/>
          <p:cNvSpPr/>
          <p:nvPr/>
        </p:nvSpPr>
        <p:spPr>
          <a:xfrm>
            <a:off x="7443216" y="1883664"/>
            <a:ext cx="4123944" cy="4489704"/>
          </a:xfrm>
          <a:prstGeom prst="roundRect">
            <a:avLst>
              <a:gd name="adj" fmla="val 1330"/>
            </a:avLst>
          </a:prstGeom>
          <a:solidFill>
            <a:srgbClr val="1E2761"/>
          </a:solidFill>
          <a:ln/>
        </p:spPr>
      </p:sp>
      <p:sp>
        <p:nvSpPr>
          <p:cNvPr id="36" name="Text 30"/>
          <p:cNvSpPr/>
          <p:nvPr/>
        </p:nvSpPr>
        <p:spPr>
          <a:xfrm>
            <a:off x="7644384" y="2011680"/>
            <a:ext cx="3758184"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Marketing Suggestions</a:t>
            </a:r>
            <a:endParaRPr lang="en-US" sz="1200" dirty="0"/>
          </a:p>
        </p:txBody>
      </p:sp>
      <p:sp>
        <p:nvSpPr>
          <p:cNvPr id="37" name="Shape 31"/>
          <p:cNvSpPr/>
          <p:nvPr/>
        </p:nvSpPr>
        <p:spPr>
          <a:xfrm>
            <a:off x="7644384" y="2450592"/>
            <a:ext cx="384048" cy="384048"/>
          </a:xfrm>
          <a:prstGeom prst="ellipse">
            <a:avLst/>
          </a:prstGeom>
          <a:solidFill>
            <a:srgbClr val="2A3A82"/>
          </a:solidFill>
          <a:ln/>
        </p:spPr>
      </p:sp>
      <p:pic>
        <p:nvPicPr>
          <p:cNvPr id="38" name="Image 1" descr="/home/claude/icons/award_gold.png"/>
          <p:cNvPicPr>
            <a:picLocks noChangeAspect="1"/>
          </p:cNvPicPr>
          <p:nvPr/>
        </p:nvPicPr>
        <p:blipFill>
          <a:blip r:embed="rId7"/>
          <a:stretch>
            <a:fillRect/>
          </a:stretch>
        </p:blipFill>
        <p:spPr>
          <a:xfrm>
            <a:off x="7744236" y="2550444"/>
            <a:ext cx="184343" cy="184343"/>
          </a:xfrm>
          <a:prstGeom prst="rect">
            <a:avLst/>
          </a:prstGeom>
        </p:spPr>
      </p:pic>
      <p:sp>
        <p:nvSpPr>
          <p:cNvPr id="39" name="Text 32"/>
          <p:cNvSpPr/>
          <p:nvPr/>
        </p:nvSpPr>
        <p:spPr>
          <a:xfrm>
            <a:off x="8129016" y="2414016"/>
            <a:ext cx="3209544" cy="685800"/>
          </a:xfrm>
          <a:prstGeom prst="rect">
            <a:avLst/>
          </a:prstGeom>
          <a:noFill/>
          <a:ln/>
        </p:spPr>
        <p:txBody>
          <a:bodyPr wrap="square" lIns="0" tIns="0" rIns="0" bIns="0" rtlCol="0" anchor="t"/>
          <a:lstStyle/>
          <a:p>
            <a:pPr marL="0" indent="0">
              <a:buNone/>
            </a:pPr>
            <a:r>
              <a:rPr lang="en-US" sz="980" dirty="0">
                <a:solidFill>
                  <a:srgbClr val="E6EAF7"/>
                </a:solidFill>
                <a:latin typeface="Calibri" pitchFamily="34" charset="0"/>
                <a:ea typeface="Calibri" pitchFamily="34" charset="-122"/>
                <a:cs typeface="Calibri" pitchFamily="34" charset="-120"/>
              </a:rPr>
              <a:t>Reward VIP loyalty with early access &amp; concierge perks.</a:t>
            </a:r>
            <a:endParaRPr lang="en-US" sz="980" dirty="0"/>
          </a:p>
        </p:txBody>
      </p:sp>
      <p:sp>
        <p:nvSpPr>
          <p:cNvPr id="40" name="Shape 33"/>
          <p:cNvSpPr/>
          <p:nvPr/>
        </p:nvSpPr>
        <p:spPr>
          <a:xfrm>
            <a:off x="7644384" y="3319272"/>
            <a:ext cx="384048" cy="384048"/>
          </a:xfrm>
          <a:prstGeom prst="ellipse">
            <a:avLst/>
          </a:prstGeom>
          <a:solidFill>
            <a:srgbClr val="2A3A82"/>
          </a:solidFill>
          <a:ln/>
        </p:spPr>
      </p:sp>
      <p:pic>
        <p:nvPicPr>
          <p:cNvPr id="41" name="Image 2" descr="/home/claude/icons/star_gold.png"/>
          <p:cNvPicPr>
            <a:picLocks noChangeAspect="1"/>
          </p:cNvPicPr>
          <p:nvPr/>
        </p:nvPicPr>
        <p:blipFill>
          <a:blip r:embed="rId8"/>
          <a:stretch>
            <a:fillRect/>
          </a:stretch>
        </p:blipFill>
        <p:spPr>
          <a:xfrm>
            <a:off x="7744236" y="3419124"/>
            <a:ext cx="184343" cy="184343"/>
          </a:xfrm>
          <a:prstGeom prst="rect">
            <a:avLst/>
          </a:prstGeom>
        </p:spPr>
      </p:pic>
      <p:sp>
        <p:nvSpPr>
          <p:cNvPr id="42" name="Text 34"/>
          <p:cNvSpPr/>
          <p:nvPr/>
        </p:nvSpPr>
        <p:spPr>
          <a:xfrm>
            <a:off x="8129016" y="3282696"/>
            <a:ext cx="3209544" cy="685800"/>
          </a:xfrm>
          <a:prstGeom prst="rect">
            <a:avLst/>
          </a:prstGeom>
          <a:noFill/>
          <a:ln/>
        </p:spPr>
        <p:txBody>
          <a:bodyPr wrap="square" lIns="0" tIns="0" rIns="0" bIns="0" rtlCol="0" anchor="t"/>
          <a:lstStyle/>
          <a:p>
            <a:pPr marL="0" indent="0">
              <a:buNone/>
            </a:pPr>
            <a:r>
              <a:rPr lang="en-US" sz="980" dirty="0">
                <a:solidFill>
                  <a:srgbClr val="E6EAF7"/>
                </a:solidFill>
                <a:latin typeface="Calibri" pitchFamily="34" charset="0"/>
                <a:ea typeface="Calibri" pitchFamily="34" charset="-122"/>
                <a:cs typeface="Calibri" pitchFamily="34" charset="-120"/>
              </a:rPr>
              <a:t>Upsell Premium customers toward VIP-level engagement.</a:t>
            </a:r>
            <a:endParaRPr lang="en-US" sz="980" dirty="0"/>
          </a:p>
        </p:txBody>
      </p:sp>
      <p:sp>
        <p:nvSpPr>
          <p:cNvPr id="43" name="Shape 35"/>
          <p:cNvSpPr/>
          <p:nvPr/>
        </p:nvSpPr>
        <p:spPr>
          <a:xfrm>
            <a:off x="7644384" y="4187952"/>
            <a:ext cx="384048" cy="384048"/>
          </a:xfrm>
          <a:prstGeom prst="ellipse">
            <a:avLst/>
          </a:prstGeom>
          <a:solidFill>
            <a:srgbClr val="2A3A82"/>
          </a:solidFill>
          <a:ln/>
        </p:spPr>
      </p:sp>
      <p:pic>
        <p:nvPicPr>
          <p:cNvPr id="44" name="Image 3" descr="/home/claude/icons/user_gold.png"/>
          <p:cNvPicPr>
            <a:picLocks noChangeAspect="1"/>
          </p:cNvPicPr>
          <p:nvPr/>
        </p:nvPicPr>
        <p:blipFill>
          <a:blip r:embed="rId9"/>
          <a:stretch>
            <a:fillRect/>
          </a:stretch>
        </p:blipFill>
        <p:spPr>
          <a:xfrm>
            <a:off x="7744236" y="4287804"/>
            <a:ext cx="184343" cy="184343"/>
          </a:xfrm>
          <a:prstGeom prst="rect">
            <a:avLst/>
          </a:prstGeom>
        </p:spPr>
      </p:pic>
      <p:sp>
        <p:nvSpPr>
          <p:cNvPr id="45" name="Text 36"/>
          <p:cNvSpPr/>
          <p:nvPr/>
        </p:nvSpPr>
        <p:spPr>
          <a:xfrm>
            <a:off x="8129016" y="4151376"/>
            <a:ext cx="3209544" cy="685800"/>
          </a:xfrm>
          <a:prstGeom prst="rect">
            <a:avLst/>
          </a:prstGeom>
          <a:noFill/>
          <a:ln/>
        </p:spPr>
        <p:txBody>
          <a:bodyPr wrap="square" lIns="0" tIns="0" rIns="0" bIns="0" rtlCol="0" anchor="t"/>
          <a:lstStyle/>
          <a:p>
            <a:pPr marL="0" indent="0">
              <a:buNone/>
            </a:pPr>
            <a:r>
              <a:rPr lang="en-US" sz="980" dirty="0">
                <a:solidFill>
                  <a:srgbClr val="E6EAF7"/>
                </a:solidFill>
                <a:latin typeface="Calibri" pitchFamily="34" charset="0"/>
                <a:ea typeface="Calibri" pitchFamily="34" charset="-122"/>
                <a:cs typeface="Calibri" pitchFamily="34" charset="-120"/>
              </a:rPr>
              <a:t>Re-engage Regular buyers with lifecycle email campaigns.</a:t>
            </a:r>
            <a:endParaRPr lang="en-US" sz="980" dirty="0"/>
          </a:p>
        </p:txBody>
      </p:sp>
      <p:sp>
        <p:nvSpPr>
          <p:cNvPr id="46" name="Shape 37"/>
          <p:cNvSpPr/>
          <p:nvPr/>
        </p:nvSpPr>
        <p:spPr>
          <a:xfrm>
            <a:off x="7644384" y="5056632"/>
            <a:ext cx="384048" cy="384048"/>
          </a:xfrm>
          <a:prstGeom prst="ellipse">
            <a:avLst/>
          </a:prstGeom>
          <a:solidFill>
            <a:srgbClr val="2A3A82"/>
          </a:solidFill>
          <a:ln/>
        </p:spPr>
      </p:sp>
      <p:pic>
        <p:nvPicPr>
          <p:cNvPr id="47" name="Image 4" descr="/home/claude/icons/card_gold.png"/>
          <p:cNvPicPr>
            <a:picLocks noChangeAspect="1"/>
          </p:cNvPicPr>
          <p:nvPr/>
        </p:nvPicPr>
        <p:blipFill>
          <a:blip r:embed="rId10"/>
          <a:stretch>
            <a:fillRect/>
          </a:stretch>
        </p:blipFill>
        <p:spPr>
          <a:xfrm>
            <a:off x="7744236" y="5156484"/>
            <a:ext cx="184343" cy="184343"/>
          </a:xfrm>
          <a:prstGeom prst="rect">
            <a:avLst/>
          </a:prstGeom>
        </p:spPr>
      </p:pic>
      <p:sp>
        <p:nvSpPr>
          <p:cNvPr id="48" name="Text 38"/>
          <p:cNvSpPr/>
          <p:nvPr/>
        </p:nvSpPr>
        <p:spPr>
          <a:xfrm>
            <a:off x="8129016" y="5020056"/>
            <a:ext cx="3209544" cy="685800"/>
          </a:xfrm>
          <a:prstGeom prst="rect">
            <a:avLst/>
          </a:prstGeom>
          <a:noFill/>
          <a:ln/>
        </p:spPr>
        <p:txBody>
          <a:bodyPr wrap="square" lIns="0" tIns="0" rIns="0" bIns="0" rtlCol="0" anchor="t"/>
          <a:lstStyle/>
          <a:p>
            <a:pPr marL="0" indent="0">
              <a:buNone/>
            </a:pPr>
            <a:r>
              <a:rPr lang="en-US" sz="980" dirty="0">
                <a:solidFill>
                  <a:srgbClr val="E6EAF7"/>
                </a:solidFill>
                <a:latin typeface="Calibri" pitchFamily="34" charset="0"/>
                <a:ea typeface="Calibri" pitchFamily="34" charset="-122"/>
                <a:cs typeface="Calibri" pitchFamily="34" charset="-120"/>
              </a:rPr>
              <a:t>Offer value bundles to convert Budget-tier customers.</a:t>
            </a:r>
            <a:endParaRPr lang="en-US" sz="980" dirty="0"/>
          </a:p>
        </p:txBody>
      </p:sp>
      <p:sp>
        <p:nvSpPr>
          <p:cNvPr id="49" name="Text 39"/>
          <p:cNvSpPr/>
          <p:nvPr/>
        </p:nvSpPr>
        <p:spPr>
          <a:xfrm>
            <a:off x="457200" y="6565392"/>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50" name="Text 40"/>
          <p:cNvSpPr/>
          <p:nvPr/>
        </p:nvSpPr>
        <p:spPr>
          <a:xfrm>
            <a:off x="11274552" y="6565392"/>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System Integration</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How every piece of the project connects, end to end</a:t>
            </a:r>
            <a:endParaRPr lang="en-US" sz="1300" dirty="0"/>
          </a:p>
        </p:txBody>
      </p:sp>
      <p:sp>
        <p:nvSpPr>
          <p:cNvPr id="4" name="Shape 2"/>
          <p:cNvSpPr/>
          <p:nvPr/>
        </p:nvSpPr>
        <p:spPr>
          <a:xfrm>
            <a:off x="525780" y="2194560"/>
            <a:ext cx="1993392" cy="3200400"/>
          </a:xfrm>
          <a:prstGeom prst="roundRect">
            <a:avLst>
              <a:gd name="adj" fmla="val 4128"/>
            </a:avLst>
          </a:prstGeom>
          <a:solidFill>
            <a:srgbClr val="F7F8FC"/>
          </a:solidFill>
          <a:ln/>
          <a:effectLst>
            <a:outerShdw blurRad="76200" dist="25400" dir="5400000" algn="bl" rotWithShape="0">
              <a:srgbClr val="1E2761">
                <a:alpha val="12000"/>
              </a:srgbClr>
            </a:outerShdw>
          </a:effectLst>
        </p:spPr>
      </p:sp>
      <p:sp>
        <p:nvSpPr>
          <p:cNvPr id="5" name="Shape 3"/>
          <p:cNvSpPr/>
          <p:nvPr/>
        </p:nvSpPr>
        <p:spPr>
          <a:xfrm>
            <a:off x="1339596" y="2377440"/>
            <a:ext cx="365760" cy="365760"/>
          </a:xfrm>
          <a:prstGeom prst="ellipse">
            <a:avLst/>
          </a:prstGeom>
          <a:solidFill>
            <a:srgbClr val="1E2761"/>
          </a:solidFill>
          <a:ln/>
        </p:spPr>
      </p:sp>
      <p:sp>
        <p:nvSpPr>
          <p:cNvPr id="6" name="Text 4"/>
          <p:cNvSpPr/>
          <p:nvPr/>
        </p:nvSpPr>
        <p:spPr>
          <a:xfrm>
            <a:off x="1339596" y="23774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Shape 5"/>
          <p:cNvSpPr/>
          <p:nvPr/>
        </p:nvSpPr>
        <p:spPr>
          <a:xfrm>
            <a:off x="1179576" y="2907792"/>
            <a:ext cx="685800" cy="685800"/>
          </a:xfrm>
          <a:prstGeom prst="ellipse">
            <a:avLst/>
          </a:prstGeom>
          <a:solidFill>
            <a:srgbClr val="1E2761"/>
          </a:solidFill>
          <a:ln/>
        </p:spPr>
      </p:sp>
      <p:pic>
        <p:nvPicPr>
          <p:cNvPr id="8" name="Image 0" descr="/home/claude/icons/database_white.png"/>
          <p:cNvPicPr>
            <a:picLocks noChangeAspect="1"/>
          </p:cNvPicPr>
          <p:nvPr/>
        </p:nvPicPr>
        <p:blipFill>
          <a:blip r:embed="rId3"/>
          <a:stretch>
            <a:fillRect/>
          </a:stretch>
        </p:blipFill>
        <p:spPr>
          <a:xfrm>
            <a:off x="1357884" y="3086100"/>
            <a:ext cx="329184" cy="329184"/>
          </a:xfrm>
          <a:prstGeom prst="rect">
            <a:avLst/>
          </a:prstGeom>
        </p:spPr>
      </p:pic>
      <p:sp>
        <p:nvSpPr>
          <p:cNvPr id="9" name="Text 6"/>
          <p:cNvSpPr/>
          <p:nvPr/>
        </p:nvSpPr>
        <p:spPr>
          <a:xfrm>
            <a:off x="598932" y="3730752"/>
            <a:ext cx="1847088" cy="502920"/>
          </a:xfrm>
          <a:prstGeom prst="rect">
            <a:avLst/>
          </a:prstGeom>
          <a:noFill/>
          <a:ln/>
        </p:spPr>
        <p:txBody>
          <a:bodyPr wrap="square" lIns="0" tIns="0" rIns="0" bIns="0" rtlCol="0" anchor="t"/>
          <a:lstStyle/>
          <a:p>
            <a:pPr marL="0" indent="0" algn="ctr">
              <a:buNone/>
            </a:pPr>
            <a:r>
              <a:rPr lang="en-US" sz="1250" b="1" dirty="0">
                <a:solidFill>
                  <a:srgbClr val="1E2761"/>
                </a:solidFill>
                <a:latin typeface="Calibri" pitchFamily="34" charset="0"/>
                <a:ea typeface="Calibri" pitchFamily="34" charset="-122"/>
                <a:cs typeface="Calibri" pitchFamily="34" charset="-120"/>
              </a:rPr>
              <a:t>Dataset</a:t>
            </a:r>
            <a:endParaRPr lang="en-US" sz="1250" dirty="0"/>
          </a:p>
        </p:txBody>
      </p:sp>
      <p:sp>
        <p:nvSpPr>
          <p:cNvPr id="10" name="Text 7"/>
          <p:cNvSpPr/>
          <p:nvPr/>
        </p:nvSpPr>
        <p:spPr>
          <a:xfrm>
            <a:off x="653796" y="4279392"/>
            <a:ext cx="1737360" cy="96012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200 raw customer records collected and structured.</a:t>
            </a:r>
            <a:endParaRPr lang="en-US" sz="900" dirty="0"/>
          </a:p>
        </p:txBody>
      </p:sp>
      <p:sp>
        <p:nvSpPr>
          <p:cNvPr id="11" name="Shape 8"/>
          <p:cNvSpPr/>
          <p:nvPr/>
        </p:nvSpPr>
        <p:spPr>
          <a:xfrm>
            <a:off x="2574036" y="2857500"/>
            <a:ext cx="182880" cy="0"/>
          </a:xfrm>
          <a:prstGeom prst="line">
            <a:avLst/>
          </a:prstGeom>
          <a:noFill/>
          <a:ln w="25400">
            <a:solidFill>
              <a:srgbClr val="C7CFE8"/>
            </a:solidFill>
            <a:prstDash val="solid"/>
            <a:tailEnd type="triangle"/>
          </a:ln>
        </p:spPr>
      </p:sp>
      <p:sp>
        <p:nvSpPr>
          <p:cNvPr id="12" name="Shape 9"/>
          <p:cNvSpPr/>
          <p:nvPr/>
        </p:nvSpPr>
        <p:spPr>
          <a:xfrm>
            <a:off x="2811780" y="2194560"/>
            <a:ext cx="1993392" cy="3200400"/>
          </a:xfrm>
          <a:prstGeom prst="roundRect">
            <a:avLst>
              <a:gd name="adj" fmla="val 4128"/>
            </a:avLst>
          </a:prstGeom>
          <a:solidFill>
            <a:srgbClr val="F7F8FC"/>
          </a:solidFill>
          <a:ln/>
          <a:effectLst>
            <a:outerShdw blurRad="76200" dist="25400" dir="5400000" algn="bl" rotWithShape="0">
              <a:srgbClr val="1E2761">
                <a:alpha val="12000"/>
              </a:srgbClr>
            </a:outerShdw>
          </a:effectLst>
        </p:spPr>
      </p:sp>
      <p:sp>
        <p:nvSpPr>
          <p:cNvPr id="13" name="Shape 10"/>
          <p:cNvSpPr/>
          <p:nvPr/>
        </p:nvSpPr>
        <p:spPr>
          <a:xfrm>
            <a:off x="3625596" y="2377440"/>
            <a:ext cx="365760" cy="365760"/>
          </a:xfrm>
          <a:prstGeom prst="ellipse">
            <a:avLst/>
          </a:prstGeom>
          <a:solidFill>
            <a:srgbClr val="1E2761"/>
          </a:solidFill>
          <a:ln/>
        </p:spPr>
      </p:sp>
      <p:sp>
        <p:nvSpPr>
          <p:cNvPr id="14" name="Text 11"/>
          <p:cNvSpPr/>
          <p:nvPr/>
        </p:nvSpPr>
        <p:spPr>
          <a:xfrm>
            <a:off x="3625596" y="23774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Shape 12"/>
          <p:cNvSpPr/>
          <p:nvPr/>
        </p:nvSpPr>
        <p:spPr>
          <a:xfrm>
            <a:off x="3465576" y="2907792"/>
            <a:ext cx="685800" cy="685800"/>
          </a:xfrm>
          <a:prstGeom prst="ellipse">
            <a:avLst/>
          </a:prstGeom>
          <a:solidFill>
            <a:srgbClr val="1E2761"/>
          </a:solidFill>
          <a:ln/>
        </p:spPr>
      </p:sp>
      <p:pic>
        <p:nvPicPr>
          <p:cNvPr id="16" name="Image 1" descr="/home/claude/icons/check_white.png"/>
          <p:cNvPicPr>
            <a:picLocks noChangeAspect="1"/>
          </p:cNvPicPr>
          <p:nvPr/>
        </p:nvPicPr>
        <p:blipFill>
          <a:blip r:embed="rId4"/>
          <a:stretch>
            <a:fillRect/>
          </a:stretch>
        </p:blipFill>
        <p:spPr>
          <a:xfrm>
            <a:off x="3643884" y="3086100"/>
            <a:ext cx="329184" cy="329184"/>
          </a:xfrm>
          <a:prstGeom prst="rect">
            <a:avLst/>
          </a:prstGeom>
        </p:spPr>
      </p:pic>
      <p:sp>
        <p:nvSpPr>
          <p:cNvPr id="17" name="Text 13"/>
          <p:cNvSpPr/>
          <p:nvPr/>
        </p:nvSpPr>
        <p:spPr>
          <a:xfrm>
            <a:off x="2884932" y="3730752"/>
            <a:ext cx="1847088" cy="502920"/>
          </a:xfrm>
          <a:prstGeom prst="rect">
            <a:avLst/>
          </a:prstGeom>
          <a:noFill/>
          <a:ln/>
        </p:spPr>
        <p:txBody>
          <a:bodyPr wrap="square" lIns="0" tIns="0" rIns="0" bIns="0" rtlCol="0" anchor="t"/>
          <a:lstStyle/>
          <a:p>
            <a:pPr marL="0" indent="0" algn="ctr">
              <a:buNone/>
            </a:pPr>
            <a:r>
              <a:rPr lang="en-US" sz="1250" b="1" dirty="0">
                <a:solidFill>
                  <a:srgbClr val="1E2761"/>
                </a:solidFill>
                <a:latin typeface="Calibri" pitchFamily="34" charset="0"/>
                <a:ea typeface="Calibri" pitchFamily="34" charset="-122"/>
                <a:cs typeface="Calibri" pitchFamily="34" charset="-120"/>
              </a:rPr>
              <a:t>Preprocessing</a:t>
            </a:r>
            <a:endParaRPr lang="en-US" sz="1250" dirty="0"/>
          </a:p>
        </p:txBody>
      </p:sp>
      <p:sp>
        <p:nvSpPr>
          <p:cNvPr id="18" name="Text 14"/>
          <p:cNvSpPr/>
          <p:nvPr/>
        </p:nvSpPr>
        <p:spPr>
          <a:xfrm>
            <a:off x="2939796" y="4279392"/>
            <a:ext cx="1737360" cy="96012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Cleaned, validated, and prepared for modeling.</a:t>
            </a:r>
            <a:endParaRPr lang="en-US" sz="900" dirty="0"/>
          </a:p>
        </p:txBody>
      </p:sp>
      <p:sp>
        <p:nvSpPr>
          <p:cNvPr id="19" name="Shape 15"/>
          <p:cNvSpPr/>
          <p:nvPr/>
        </p:nvSpPr>
        <p:spPr>
          <a:xfrm>
            <a:off x="4860036" y="2857500"/>
            <a:ext cx="182880" cy="0"/>
          </a:xfrm>
          <a:prstGeom prst="line">
            <a:avLst/>
          </a:prstGeom>
          <a:noFill/>
          <a:ln w="25400">
            <a:solidFill>
              <a:srgbClr val="C7CFE8"/>
            </a:solidFill>
            <a:prstDash val="solid"/>
            <a:tailEnd type="triangle"/>
          </a:ln>
        </p:spPr>
      </p:sp>
      <p:sp>
        <p:nvSpPr>
          <p:cNvPr id="20" name="Shape 16"/>
          <p:cNvSpPr/>
          <p:nvPr/>
        </p:nvSpPr>
        <p:spPr>
          <a:xfrm>
            <a:off x="5097780" y="2194560"/>
            <a:ext cx="1993392" cy="3200400"/>
          </a:xfrm>
          <a:prstGeom prst="roundRect">
            <a:avLst>
              <a:gd name="adj" fmla="val 4128"/>
            </a:avLst>
          </a:prstGeom>
          <a:solidFill>
            <a:srgbClr val="F7F8FC"/>
          </a:solidFill>
          <a:ln/>
          <a:effectLst>
            <a:outerShdw blurRad="76200" dist="25400" dir="5400000" algn="bl" rotWithShape="0">
              <a:srgbClr val="1E2761">
                <a:alpha val="12000"/>
              </a:srgbClr>
            </a:outerShdw>
          </a:effectLst>
        </p:spPr>
      </p:sp>
      <p:sp>
        <p:nvSpPr>
          <p:cNvPr id="21" name="Shape 17"/>
          <p:cNvSpPr/>
          <p:nvPr/>
        </p:nvSpPr>
        <p:spPr>
          <a:xfrm>
            <a:off x="5911596" y="2377440"/>
            <a:ext cx="365760" cy="365760"/>
          </a:xfrm>
          <a:prstGeom prst="ellipse">
            <a:avLst/>
          </a:prstGeom>
          <a:solidFill>
            <a:srgbClr val="1E2761"/>
          </a:solidFill>
          <a:ln/>
        </p:spPr>
      </p:sp>
      <p:sp>
        <p:nvSpPr>
          <p:cNvPr id="22" name="Text 18"/>
          <p:cNvSpPr/>
          <p:nvPr/>
        </p:nvSpPr>
        <p:spPr>
          <a:xfrm>
            <a:off x="5911596" y="23774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Shape 19"/>
          <p:cNvSpPr/>
          <p:nvPr/>
        </p:nvSpPr>
        <p:spPr>
          <a:xfrm>
            <a:off x="5751576" y="2907792"/>
            <a:ext cx="685800" cy="685800"/>
          </a:xfrm>
          <a:prstGeom prst="ellipse">
            <a:avLst/>
          </a:prstGeom>
          <a:solidFill>
            <a:srgbClr val="1E2761"/>
          </a:solidFill>
          <a:ln/>
        </p:spPr>
      </p:sp>
      <p:pic>
        <p:nvPicPr>
          <p:cNvPr id="24" name="Image 2" descr="/home/claude/icons/pie_white.png"/>
          <p:cNvPicPr>
            <a:picLocks noChangeAspect="1"/>
          </p:cNvPicPr>
          <p:nvPr/>
        </p:nvPicPr>
        <p:blipFill>
          <a:blip r:embed="rId5"/>
          <a:stretch>
            <a:fillRect/>
          </a:stretch>
        </p:blipFill>
        <p:spPr>
          <a:xfrm>
            <a:off x="5929884" y="3086100"/>
            <a:ext cx="329184" cy="329184"/>
          </a:xfrm>
          <a:prstGeom prst="rect">
            <a:avLst/>
          </a:prstGeom>
        </p:spPr>
      </p:pic>
      <p:sp>
        <p:nvSpPr>
          <p:cNvPr id="25" name="Text 20"/>
          <p:cNvSpPr/>
          <p:nvPr/>
        </p:nvSpPr>
        <p:spPr>
          <a:xfrm>
            <a:off x="5170932" y="3730752"/>
            <a:ext cx="1847088" cy="502920"/>
          </a:xfrm>
          <a:prstGeom prst="rect">
            <a:avLst/>
          </a:prstGeom>
          <a:noFill/>
          <a:ln/>
        </p:spPr>
        <p:txBody>
          <a:bodyPr wrap="square" lIns="0" tIns="0" rIns="0" bIns="0" rtlCol="0" anchor="t"/>
          <a:lstStyle/>
          <a:p>
            <a:pPr marL="0" indent="0" algn="ctr">
              <a:buNone/>
            </a:pPr>
            <a:r>
              <a:rPr lang="en-US" sz="1250" b="1" dirty="0">
                <a:solidFill>
                  <a:srgbClr val="1E2761"/>
                </a:solidFill>
                <a:latin typeface="Calibri" pitchFamily="34" charset="0"/>
                <a:ea typeface="Calibri" pitchFamily="34" charset="-122"/>
                <a:cs typeface="Calibri" pitchFamily="34" charset="-120"/>
              </a:rPr>
              <a:t>K-Means</a:t>
            </a:r>
            <a:endParaRPr lang="en-US" sz="1250" dirty="0"/>
          </a:p>
        </p:txBody>
      </p:sp>
      <p:sp>
        <p:nvSpPr>
          <p:cNvPr id="26" name="Text 21"/>
          <p:cNvSpPr/>
          <p:nvPr/>
        </p:nvSpPr>
        <p:spPr>
          <a:xfrm>
            <a:off x="5225796" y="4279392"/>
            <a:ext cx="1737360" cy="96012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Clusters customers into four segments.</a:t>
            </a:r>
            <a:endParaRPr lang="en-US" sz="900" dirty="0"/>
          </a:p>
        </p:txBody>
      </p:sp>
      <p:sp>
        <p:nvSpPr>
          <p:cNvPr id="27" name="Shape 22"/>
          <p:cNvSpPr/>
          <p:nvPr/>
        </p:nvSpPr>
        <p:spPr>
          <a:xfrm>
            <a:off x="7146036" y="2857500"/>
            <a:ext cx="182880" cy="0"/>
          </a:xfrm>
          <a:prstGeom prst="line">
            <a:avLst/>
          </a:prstGeom>
          <a:noFill/>
          <a:ln w="25400">
            <a:solidFill>
              <a:srgbClr val="C7CFE8"/>
            </a:solidFill>
            <a:prstDash val="solid"/>
            <a:tailEnd type="triangle"/>
          </a:ln>
        </p:spPr>
      </p:sp>
      <p:sp>
        <p:nvSpPr>
          <p:cNvPr id="28" name="Shape 23"/>
          <p:cNvSpPr/>
          <p:nvPr/>
        </p:nvSpPr>
        <p:spPr>
          <a:xfrm>
            <a:off x="7383780" y="2194560"/>
            <a:ext cx="1993392" cy="3200400"/>
          </a:xfrm>
          <a:prstGeom prst="roundRect">
            <a:avLst>
              <a:gd name="adj" fmla="val 4128"/>
            </a:avLst>
          </a:prstGeom>
          <a:solidFill>
            <a:srgbClr val="F7F8FC"/>
          </a:solidFill>
          <a:ln/>
          <a:effectLst>
            <a:outerShdw blurRad="76200" dist="25400" dir="5400000" algn="bl" rotWithShape="0">
              <a:srgbClr val="1E2761">
                <a:alpha val="12000"/>
              </a:srgbClr>
            </a:outerShdw>
          </a:effectLst>
        </p:spPr>
      </p:sp>
      <p:sp>
        <p:nvSpPr>
          <p:cNvPr id="29" name="Shape 24"/>
          <p:cNvSpPr/>
          <p:nvPr/>
        </p:nvSpPr>
        <p:spPr>
          <a:xfrm>
            <a:off x="8197596" y="2377440"/>
            <a:ext cx="365760" cy="365760"/>
          </a:xfrm>
          <a:prstGeom prst="ellipse">
            <a:avLst/>
          </a:prstGeom>
          <a:solidFill>
            <a:srgbClr val="1E2761"/>
          </a:solidFill>
          <a:ln/>
        </p:spPr>
      </p:sp>
      <p:sp>
        <p:nvSpPr>
          <p:cNvPr id="30" name="Text 25"/>
          <p:cNvSpPr/>
          <p:nvPr/>
        </p:nvSpPr>
        <p:spPr>
          <a:xfrm>
            <a:off x="8197596" y="237744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Shape 26"/>
          <p:cNvSpPr/>
          <p:nvPr/>
        </p:nvSpPr>
        <p:spPr>
          <a:xfrm>
            <a:off x="8037576" y="2907792"/>
            <a:ext cx="685800" cy="685800"/>
          </a:xfrm>
          <a:prstGeom prst="ellipse">
            <a:avLst/>
          </a:prstGeom>
          <a:solidFill>
            <a:srgbClr val="1E2761"/>
          </a:solidFill>
          <a:ln/>
        </p:spPr>
      </p:sp>
      <p:pic>
        <p:nvPicPr>
          <p:cNvPr id="32" name="Image 3" descr="/home/claude/icons/bar_white.png"/>
          <p:cNvPicPr>
            <a:picLocks noChangeAspect="1"/>
          </p:cNvPicPr>
          <p:nvPr/>
        </p:nvPicPr>
        <p:blipFill>
          <a:blip r:embed="rId6"/>
          <a:stretch>
            <a:fillRect/>
          </a:stretch>
        </p:blipFill>
        <p:spPr>
          <a:xfrm>
            <a:off x="8215884" y="3086100"/>
            <a:ext cx="329184" cy="329184"/>
          </a:xfrm>
          <a:prstGeom prst="rect">
            <a:avLst/>
          </a:prstGeom>
        </p:spPr>
      </p:pic>
      <p:sp>
        <p:nvSpPr>
          <p:cNvPr id="33" name="Text 27"/>
          <p:cNvSpPr/>
          <p:nvPr/>
        </p:nvSpPr>
        <p:spPr>
          <a:xfrm>
            <a:off x="7456932" y="3730752"/>
            <a:ext cx="1847088" cy="502920"/>
          </a:xfrm>
          <a:prstGeom prst="rect">
            <a:avLst/>
          </a:prstGeom>
          <a:noFill/>
          <a:ln/>
        </p:spPr>
        <p:txBody>
          <a:bodyPr wrap="square" lIns="0" tIns="0" rIns="0" bIns="0" rtlCol="0" anchor="t"/>
          <a:lstStyle/>
          <a:p>
            <a:pPr marL="0" indent="0" algn="ctr">
              <a:buNone/>
            </a:pPr>
            <a:r>
              <a:rPr lang="en-US" sz="1250" b="1" dirty="0">
                <a:solidFill>
                  <a:srgbClr val="1E2761"/>
                </a:solidFill>
                <a:latin typeface="Calibri" pitchFamily="34" charset="0"/>
                <a:ea typeface="Calibri" pitchFamily="34" charset="-122"/>
                <a:cs typeface="Calibri" pitchFamily="34" charset="-120"/>
              </a:rPr>
              <a:t>Dashboard</a:t>
            </a:r>
            <a:endParaRPr lang="en-US" sz="1250" dirty="0"/>
          </a:p>
        </p:txBody>
      </p:sp>
      <p:sp>
        <p:nvSpPr>
          <p:cNvPr id="34" name="Text 28"/>
          <p:cNvSpPr/>
          <p:nvPr/>
        </p:nvSpPr>
        <p:spPr>
          <a:xfrm>
            <a:off x="7511796" y="4279392"/>
            <a:ext cx="1737360" cy="96012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Visualizes segments, income, and spending behavior.</a:t>
            </a:r>
            <a:endParaRPr lang="en-US" sz="900" dirty="0"/>
          </a:p>
        </p:txBody>
      </p:sp>
      <p:sp>
        <p:nvSpPr>
          <p:cNvPr id="35" name="Shape 29"/>
          <p:cNvSpPr/>
          <p:nvPr/>
        </p:nvSpPr>
        <p:spPr>
          <a:xfrm>
            <a:off x="9432036" y="2857500"/>
            <a:ext cx="182880" cy="0"/>
          </a:xfrm>
          <a:prstGeom prst="line">
            <a:avLst/>
          </a:prstGeom>
          <a:noFill/>
          <a:ln w="25400">
            <a:solidFill>
              <a:srgbClr val="C7CFE8"/>
            </a:solidFill>
            <a:prstDash val="solid"/>
            <a:tailEnd type="triangle"/>
          </a:ln>
        </p:spPr>
      </p:sp>
      <p:sp>
        <p:nvSpPr>
          <p:cNvPr id="36" name="Shape 30"/>
          <p:cNvSpPr/>
          <p:nvPr/>
        </p:nvSpPr>
        <p:spPr>
          <a:xfrm>
            <a:off x="9669780" y="2194560"/>
            <a:ext cx="1993392" cy="3200400"/>
          </a:xfrm>
          <a:prstGeom prst="roundRect">
            <a:avLst>
              <a:gd name="adj" fmla="val 4128"/>
            </a:avLst>
          </a:prstGeom>
          <a:solidFill>
            <a:srgbClr val="1E2761"/>
          </a:solidFill>
          <a:ln/>
          <a:effectLst>
            <a:outerShdw blurRad="76200" dist="25400" dir="5400000" algn="bl" rotWithShape="0">
              <a:srgbClr val="1E2761">
                <a:alpha val="12000"/>
              </a:srgbClr>
            </a:outerShdw>
          </a:effectLst>
        </p:spPr>
      </p:sp>
      <p:sp>
        <p:nvSpPr>
          <p:cNvPr id="37" name="Shape 31"/>
          <p:cNvSpPr/>
          <p:nvPr/>
        </p:nvSpPr>
        <p:spPr>
          <a:xfrm>
            <a:off x="10483596" y="2377440"/>
            <a:ext cx="365760" cy="365760"/>
          </a:xfrm>
          <a:prstGeom prst="ellipse">
            <a:avLst/>
          </a:prstGeom>
          <a:solidFill>
            <a:srgbClr val="D4A017"/>
          </a:solidFill>
          <a:ln/>
        </p:spPr>
      </p:sp>
      <p:sp>
        <p:nvSpPr>
          <p:cNvPr id="38" name="Text 32"/>
          <p:cNvSpPr/>
          <p:nvPr/>
        </p:nvSpPr>
        <p:spPr>
          <a:xfrm>
            <a:off x="10483596" y="2377440"/>
            <a:ext cx="365760" cy="36576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5</a:t>
            </a:r>
            <a:endParaRPr lang="en-US" sz="1200" dirty="0"/>
          </a:p>
        </p:txBody>
      </p:sp>
      <p:sp>
        <p:nvSpPr>
          <p:cNvPr id="39" name="Shape 33"/>
          <p:cNvSpPr/>
          <p:nvPr/>
        </p:nvSpPr>
        <p:spPr>
          <a:xfrm>
            <a:off x="10323576" y="2907792"/>
            <a:ext cx="685800" cy="685800"/>
          </a:xfrm>
          <a:prstGeom prst="ellipse">
            <a:avLst/>
          </a:prstGeom>
          <a:solidFill>
            <a:srgbClr val="2A3A82"/>
          </a:solidFill>
          <a:ln/>
        </p:spPr>
      </p:sp>
      <p:pic>
        <p:nvPicPr>
          <p:cNvPr id="40" name="Image 4" descr="/home/claude/icons/target_gold.png"/>
          <p:cNvPicPr>
            <a:picLocks noChangeAspect="1"/>
          </p:cNvPicPr>
          <p:nvPr/>
        </p:nvPicPr>
        <p:blipFill>
          <a:blip r:embed="rId7"/>
          <a:stretch>
            <a:fillRect/>
          </a:stretch>
        </p:blipFill>
        <p:spPr>
          <a:xfrm>
            <a:off x="10501884" y="3086100"/>
            <a:ext cx="329184" cy="329184"/>
          </a:xfrm>
          <a:prstGeom prst="rect">
            <a:avLst/>
          </a:prstGeom>
        </p:spPr>
      </p:pic>
      <p:sp>
        <p:nvSpPr>
          <p:cNvPr id="41" name="Text 34"/>
          <p:cNvSpPr/>
          <p:nvPr/>
        </p:nvSpPr>
        <p:spPr>
          <a:xfrm>
            <a:off x="9742932" y="3730752"/>
            <a:ext cx="1847088" cy="502920"/>
          </a:xfrm>
          <a:prstGeom prst="rect">
            <a:avLst/>
          </a:prstGeom>
          <a:noFill/>
          <a:ln/>
        </p:spPr>
        <p:txBody>
          <a:bodyPr wrap="square" lIns="0" tIns="0" rIns="0" bIns="0" rtlCol="0" anchor="t"/>
          <a:lstStyle/>
          <a:p>
            <a:pPr marL="0" indent="0" algn="ctr">
              <a:buNone/>
            </a:pPr>
            <a:r>
              <a:rPr lang="en-US" sz="1250" b="1" dirty="0">
                <a:solidFill>
                  <a:srgbClr val="FFFFFF"/>
                </a:solidFill>
                <a:latin typeface="Calibri" pitchFamily="34" charset="0"/>
                <a:ea typeface="Calibri" pitchFamily="34" charset="-122"/>
                <a:cs typeface="Calibri" pitchFamily="34" charset="-120"/>
              </a:rPr>
              <a:t>Marketing Suggestions</a:t>
            </a:r>
            <a:endParaRPr lang="en-US" sz="1250" dirty="0"/>
          </a:p>
        </p:txBody>
      </p:sp>
      <p:sp>
        <p:nvSpPr>
          <p:cNvPr id="42" name="Text 35"/>
          <p:cNvSpPr/>
          <p:nvPr/>
        </p:nvSpPr>
        <p:spPr>
          <a:xfrm>
            <a:off x="9797796" y="4279392"/>
            <a:ext cx="1737360" cy="960120"/>
          </a:xfrm>
          <a:prstGeom prst="rect">
            <a:avLst/>
          </a:prstGeom>
          <a:noFill/>
          <a:ln/>
        </p:spPr>
        <p:txBody>
          <a:bodyPr wrap="square" lIns="0" tIns="0" rIns="0" bIns="0" rtlCol="0" anchor="t"/>
          <a:lstStyle/>
          <a:p>
            <a:pPr marL="0" indent="0" algn="ctr">
              <a:buNone/>
            </a:pPr>
            <a:r>
              <a:rPr lang="en-US" sz="900" dirty="0">
                <a:solidFill>
                  <a:srgbClr val="D7DEF5"/>
                </a:solidFill>
                <a:latin typeface="Calibri" pitchFamily="34" charset="0"/>
                <a:ea typeface="Calibri" pitchFamily="34" charset="-122"/>
                <a:cs typeface="Calibri" pitchFamily="34" charset="-120"/>
              </a:rPr>
              <a:t>Delivers targeted strategy for each segment.</a:t>
            </a:r>
            <a:endParaRPr lang="en-US" sz="900" dirty="0"/>
          </a:p>
        </p:txBody>
      </p:sp>
      <p:sp>
        <p:nvSpPr>
          <p:cNvPr id="43" name="Text 36"/>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44" name="Text 3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594360"/>
          </a:xfrm>
          <a:prstGeom prst="rect">
            <a:avLst/>
          </a:prstGeom>
          <a:noFill/>
          <a:ln/>
        </p:spPr>
        <p:txBody>
          <a:bodyPr wrap="square" lIns="0" tIns="0" rIns="0" bIns="0"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Complete Project Workflow</a:t>
            </a:r>
            <a:endParaRPr lang="en-US" sz="2800" dirty="0"/>
          </a:p>
        </p:txBody>
      </p:sp>
      <p:sp>
        <p:nvSpPr>
          <p:cNvPr id="3" name="Text 1"/>
          <p:cNvSpPr/>
          <p:nvPr/>
        </p:nvSpPr>
        <p:spPr>
          <a:xfrm>
            <a:off x="548640" y="914400"/>
            <a:ext cx="11064240" cy="32004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From raw customer data to targeted marketing recommendations</a:t>
            </a:r>
            <a:endParaRPr lang="en-US" sz="1250" dirty="0"/>
          </a:p>
        </p:txBody>
      </p:sp>
      <p:sp>
        <p:nvSpPr>
          <p:cNvPr id="4" name="Shape 2"/>
          <p:cNvSpPr/>
          <p:nvPr/>
        </p:nvSpPr>
        <p:spPr>
          <a:xfrm>
            <a:off x="548640" y="1965960"/>
            <a:ext cx="2606040" cy="1783080"/>
          </a:xfrm>
          <a:prstGeom prst="roundRect">
            <a:avLst>
              <a:gd name="adj" fmla="val 4615"/>
            </a:avLst>
          </a:prstGeom>
          <a:solidFill>
            <a:srgbClr val="F7F8FC"/>
          </a:solidFill>
          <a:ln w="15875">
            <a:solidFill>
              <a:srgbClr val="1E2761"/>
            </a:solidFill>
            <a:prstDash val="solid"/>
          </a:ln>
          <a:effectLst>
            <a:outerShdw blurRad="63500" dist="25400" dir="5400000" algn="bl" rotWithShape="0">
              <a:srgbClr val="1E2761">
                <a:alpha val="10000"/>
              </a:srgbClr>
            </a:outerShdw>
          </a:effectLst>
        </p:spPr>
      </p:sp>
      <p:sp>
        <p:nvSpPr>
          <p:cNvPr id="5" name="Shape 3"/>
          <p:cNvSpPr/>
          <p:nvPr/>
        </p:nvSpPr>
        <p:spPr>
          <a:xfrm>
            <a:off x="1417320" y="2130552"/>
            <a:ext cx="868680" cy="868680"/>
          </a:xfrm>
          <a:prstGeom prst="ellipse">
            <a:avLst/>
          </a:prstGeom>
          <a:solidFill>
            <a:srgbClr val="1E2761"/>
          </a:solidFill>
          <a:ln/>
        </p:spPr>
      </p:sp>
      <p:pic>
        <p:nvPicPr>
          <p:cNvPr id="6" name="Image 0" descr="/home/claude/icons/database_white.png"/>
          <p:cNvPicPr>
            <a:picLocks noChangeAspect="1"/>
          </p:cNvPicPr>
          <p:nvPr/>
        </p:nvPicPr>
        <p:blipFill>
          <a:blip r:embed="rId3"/>
          <a:stretch>
            <a:fillRect/>
          </a:stretch>
        </p:blipFill>
        <p:spPr>
          <a:xfrm>
            <a:off x="1636776" y="2350008"/>
            <a:ext cx="429768" cy="429768"/>
          </a:xfrm>
          <a:prstGeom prst="rect">
            <a:avLst/>
          </a:prstGeom>
        </p:spPr>
      </p:pic>
      <p:sp>
        <p:nvSpPr>
          <p:cNvPr id="7" name="Shape 4"/>
          <p:cNvSpPr/>
          <p:nvPr/>
        </p:nvSpPr>
        <p:spPr>
          <a:xfrm>
            <a:off x="1993392" y="2020824"/>
            <a:ext cx="310896" cy="310896"/>
          </a:xfrm>
          <a:prstGeom prst="ellipse">
            <a:avLst/>
          </a:prstGeom>
          <a:solidFill>
            <a:srgbClr val="D4A017"/>
          </a:solidFill>
          <a:ln w="19050">
            <a:solidFill>
              <a:srgbClr val="FFFFFF"/>
            </a:solidFill>
            <a:prstDash val="solid"/>
          </a:ln>
        </p:spPr>
      </p:sp>
      <p:sp>
        <p:nvSpPr>
          <p:cNvPr id="8" name="Text 5"/>
          <p:cNvSpPr/>
          <p:nvPr/>
        </p:nvSpPr>
        <p:spPr>
          <a:xfrm>
            <a:off x="1993392" y="202082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1</a:t>
            </a:r>
            <a:endParaRPr lang="en-US" sz="1050" dirty="0"/>
          </a:p>
        </p:txBody>
      </p:sp>
      <p:sp>
        <p:nvSpPr>
          <p:cNvPr id="9" name="Text 6"/>
          <p:cNvSpPr/>
          <p:nvPr/>
        </p:nvSpPr>
        <p:spPr>
          <a:xfrm>
            <a:off x="640080" y="310896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Data Collection</a:t>
            </a:r>
            <a:endParaRPr lang="en-US" sz="1150" dirty="0"/>
          </a:p>
        </p:txBody>
      </p:sp>
      <p:sp>
        <p:nvSpPr>
          <p:cNvPr id="10" name="Shape 7"/>
          <p:cNvSpPr/>
          <p:nvPr/>
        </p:nvSpPr>
        <p:spPr>
          <a:xfrm>
            <a:off x="3377184" y="1965960"/>
            <a:ext cx="2606040" cy="1783080"/>
          </a:xfrm>
          <a:prstGeom prst="roundRect">
            <a:avLst>
              <a:gd name="adj" fmla="val 4615"/>
            </a:avLst>
          </a:prstGeom>
          <a:solidFill>
            <a:srgbClr val="F7F8FC"/>
          </a:solidFill>
          <a:ln w="15875">
            <a:solidFill>
              <a:srgbClr val="2C3B7A"/>
            </a:solidFill>
            <a:prstDash val="solid"/>
          </a:ln>
          <a:effectLst>
            <a:outerShdw blurRad="63500" dist="25400" dir="5400000" algn="bl" rotWithShape="0">
              <a:srgbClr val="1E2761">
                <a:alpha val="10000"/>
              </a:srgbClr>
            </a:outerShdw>
          </a:effectLst>
        </p:spPr>
      </p:sp>
      <p:sp>
        <p:nvSpPr>
          <p:cNvPr id="11" name="Shape 8"/>
          <p:cNvSpPr/>
          <p:nvPr/>
        </p:nvSpPr>
        <p:spPr>
          <a:xfrm>
            <a:off x="4245864" y="2130552"/>
            <a:ext cx="868680" cy="868680"/>
          </a:xfrm>
          <a:prstGeom prst="ellipse">
            <a:avLst/>
          </a:prstGeom>
          <a:solidFill>
            <a:srgbClr val="2C3B7A"/>
          </a:solidFill>
          <a:ln/>
        </p:spPr>
      </p:sp>
      <p:pic>
        <p:nvPicPr>
          <p:cNvPr id="12" name="Image 1" descr="/home/claude/icons/check_white.png"/>
          <p:cNvPicPr>
            <a:picLocks noChangeAspect="1"/>
          </p:cNvPicPr>
          <p:nvPr/>
        </p:nvPicPr>
        <p:blipFill>
          <a:blip r:embed="rId4"/>
          <a:stretch>
            <a:fillRect/>
          </a:stretch>
        </p:blipFill>
        <p:spPr>
          <a:xfrm>
            <a:off x="4465320" y="2350008"/>
            <a:ext cx="429768" cy="429768"/>
          </a:xfrm>
          <a:prstGeom prst="rect">
            <a:avLst/>
          </a:prstGeom>
        </p:spPr>
      </p:pic>
      <p:sp>
        <p:nvSpPr>
          <p:cNvPr id="13" name="Shape 9"/>
          <p:cNvSpPr/>
          <p:nvPr/>
        </p:nvSpPr>
        <p:spPr>
          <a:xfrm>
            <a:off x="4821936" y="2020824"/>
            <a:ext cx="310896" cy="310896"/>
          </a:xfrm>
          <a:prstGeom prst="ellipse">
            <a:avLst/>
          </a:prstGeom>
          <a:solidFill>
            <a:srgbClr val="D4A017"/>
          </a:solidFill>
          <a:ln w="19050">
            <a:solidFill>
              <a:srgbClr val="FFFFFF"/>
            </a:solidFill>
            <a:prstDash val="solid"/>
          </a:ln>
        </p:spPr>
      </p:sp>
      <p:sp>
        <p:nvSpPr>
          <p:cNvPr id="14" name="Text 10"/>
          <p:cNvSpPr/>
          <p:nvPr/>
        </p:nvSpPr>
        <p:spPr>
          <a:xfrm>
            <a:off x="4821936" y="202082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2</a:t>
            </a:r>
            <a:endParaRPr lang="en-US" sz="1050" dirty="0"/>
          </a:p>
        </p:txBody>
      </p:sp>
      <p:sp>
        <p:nvSpPr>
          <p:cNvPr id="15" name="Text 11"/>
          <p:cNvSpPr/>
          <p:nvPr/>
        </p:nvSpPr>
        <p:spPr>
          <a:xfrm>
            <a:off x="3468624" y="310896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Data Cleaning</a:t>
            </a:r>
            <a:endParaRPr lang="en-US" sz="1150" dirty="0"/>
          </a:p>
        </p:txBody>
      </p:sp>
      <p:sp>
        <p:nvSpPr>
          <p:cNvPr id="16" name="Shape 12"/>
          <p:cNvSpPr/>
          <p:nvPr/>
        </p:nvSpPr>
        <p:spPr>
          <a:xfrm>
            <a:off x="3209544" y="2564892"/>
            <a:ext cx="112776" cy="0"/>
          </a:xfrm>
          <a:prstGeom prst="line">
            <a:avLst/>
          </a:prstGeom>
          <a:noFill/>
          <a:ln w="25400">
            <a:solidFill>
              <a:srgbClr val="C7CFE8"/>
            </a:solidFill>
            <a:prstDash val="solid"/>
            <a:tailEnd type="triangle"/>
          </a:ln>
        </p:spPr>
      </p:sp>
      <p:sp>
        <p:nvSpPr>
          <p:cNvPr id="17" name="Shape 13"/>
          <p:cNvSpPr/>
          <p:nvPr/>
        </p:nvSpPr>
        <p:spPr>
          <a:xfrm>
            <a:off x="6205728" y="1965960"/>
            <a:ext cx="2606040" cy="1783080"/>
          </a:xfrm>
          <a:prstGeom prst="roundRect">
            <a:avLst>
              <a:gd name="adj" fmla="val 4615"/>
            </a:avLst>
          </a:prstGeom>
          <a:solidFill>
            <a:srgbClr val="F7F8FC"/>
          </a:solidFill>
          <a:ln w="15875">
            <a:solidFill>
              <a:srgbClr val="3A4E92"/>
            </a:solidFill>
            <a:prstDash val="solid"/>
          </a:ln>
          <a:effectLst>
            <a:outerShdw blurRad="63500" dist="25400" dir="5400000" algn="bl" rotWithShape="0">
              <a:srgbClr val="1E2761">
                <a:alpha val="10000"/>
              </a:srgbClr>
            </a:outerShdw>
          </a:effectLst>
        </p:spPr>
      </p:sp>
      <p:sp>
        <p:nvSpPr>
          <p:cNvPr id="18" name="Shape 14"/>
          <p:cNvSpPr/>
          <p:nvPr/>
        </p:nvSpPr>
        <p:spPr>
          <a:xfrm>
            <a:off x="7074408" y="2130552"/>
            <a:ext cx="868680" cy="868680"/>
          </a:xfrm>
          <a:prstGeom prst="ellipse">
            <a:avLst/>
          </a:prstGeom>
          <a:solidFill>
            <a:srgbClr val="3A4E92"/>
          </a:solidFill>
          <a:ln/>
        </p:spPr>
      </p:sp>
      <p:pic>
        <p:nvPicPr>
          <p:cNvPr id="19" name="Image 2" descr="/home/claude/icons/bar_white.png"/>
          <p:cNvPicPr>
            <a:picLocks noChangeAspect="1"/>
          </p:cNvPicPr>
          <p:nvPr/>
        </p:nvPicPr>
        <p:blipFill>
          <a:blip r:embed="rId5"/>
          <a:stretch>
            <a:fillRect/>
          </a:stretch>
        </p:blipFill>
        <p:spPr>
          <a:xfrm>
            <a:off x="7293864" y="2350008"/>
            <a:ext cx="429768" cy="429768"/>
          </a:xfrm>
          <a:prstGeom prst="rect">
            <a:avLst/>
          </a:prstGeom>
        </p:spPr>
      </p:pic>
      <p:sp>
        <p:nvSpPr>
          <p:cNvPr id="20" name="Shape 15"/>
          <p:cNvSpPr/>
          <p:nvPr/>
        </p:nvSpPr>
        <p:spPr>
          <a:xfrm>
            <a:off x="7650480" y="2020824"/>
            <a:ext cx="310896" cy="310896"/>
          </a:xfrm>
          <a:prstGeom prst="ellipse">
            <a:avLst/>
          </a:prstGeom>
          <a:solidFill>
            <a:srgbClr val="D4A017"/>
          </a:solidFill>
          <a:ln w="19050">
            <a:solidFill>
              <a:srgbClr val="FFFFFF"/>
            </a:solidFill>
            <a:prstDash val="solid"/>
          </a:ln>
        </p:spPr>
      </p:sp>
      <p:sp>
        <p:nvSpPr>
          <p:cNvPr id="21" name="Text 16"/>
          <p:cNvSpPr/>
          <p:nvPr/>
        </p:nvSpPr>
        <p:spPr>
          <a:xfrm>
            <a:off x="7650480" y="202082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3</a:t>
            </a:r>
            <a:endParaRPr lang="en-US" sz="1050" dirty="0"/>
          </a:p>
        </p:txBody>
      </p:sp>
      <p:sp>
        <p:nvSpPr>
          <p:cNvPr id="22" name="Text 17"/>
          <p:cNvSpPr/>
          <p:nvPr/>
        </p:nvSpPr>
        <p:spPr>
          <a:xfrm>
            <a:off x="6297168" y="310896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EDA</a:t>
            </a:r>
            <a:endParaRPr lang="en-US" sz="1150" dirty="0"/>
          </a:p>
        </p:txBody>
      </p:sp>
      <p:sp>
        <p:nvSpPr>
          <p:cNvPr id="23" name="Shape 18"/>
          <p:cNvSpPr/>
          <p:nvPr/>
        </p:nvSpPr>
        <p:spPr>
          <a:xfrm>
            <a:off x="6038088" y="2564892"/>
            <a:ext cx="112776" cy="0"/>
          </a:xfrm>
          <a:prstGeom prst="line">
            <a:avLst/>
          </a:prstGeom>
          <a:noFill/>
          <a:ln w="25400">
            <a:solidFill>
              <a:srgbClr val="C7CFE8"/>
            </a:solidFill>
            <a:prstDash val="solid"/>
            <a:tailEnd type="triangle"/>
          </a:ln>
        </p:spPr>
      </p:sp>
      <p:sp>
        <p:nvSpPr>
          <p:cNvPr id="24" name="Shape 19"/>
          <p:cNvSpPr/>
          <p:nvPr/>
        </p:nvSpPr>
        <p:spPr>
          <a:xfrm>
            <a:off x="9034272" y="1965960"/>
            <a:ext cx="2606040" cy="1783080"/>
          </a:xfrm>
          <a:prstGeom prst="roundRect">
            <a:avLst>
              <a:gd name="adj" fmla="val 4615"/>
            </a:avLst>
          </a:prstGeom>
          <a:solidFill>
            <a:srgbClr val="F7F8FC"/>
          </a:solidFill>
          <a:ln w="15875">
            <a:solidFill>
              <a:srgbClr val="4862A8"/>
            </a:solidFill>
            <a:prstDash val="solid"/>
          </a:ln>
          <a:effectLst>
            <a:outerShdw blurRad="63500" dist="25400" dir="5400000" algn="bl" rotWithShape="0">
              <a:srgbClr val="1E2761">
                <a:alpha val="10000"/>
              </a:srgbClr>
            </a:outerShdw>
          </a:effectLst>
        </p:spPr>
      </p:sp>
      <p:sp>
        <p:nvSpPr>
          <p:cNvPr id="25" name="Shape 20"/>
          <p:cNvSpPr/>
          <p:nvPr/>
        </p:nvSpPr>
        <p:spPr>
          <a:xfrm>
            <a:off x="9902952" y="2130552"/>
            <a:ext cx="868680" cy="868680"/>
          </a:xfrm>
          <a:prstGeom prst="ellipse">
            <a:avLst/>
          </a:prstGeom>
          <a:solidFill>
            <a:srgbClr val="4862A8"/>
          </a:solidFill>
          <a:ln/>
        </p:spPr>
      </p:sp>
      <p:pic>
        <p:nvPicPr>
          <p:cNvPr id="26" name="Image 3" descr="/home/claude/icons/pie_white.png"/>
          <p:cNvPicPr>
            <a:picLocks noChangeAspect="1"/>
          </p:cNvPicPr>
          <p:nvPr/>
        </p:nvPicPr>
        <p:blipFill>
          <a:blip r:embed="rId6"/>
          <a:stretch>
            <a:fillRect/>
          </a:stretch>
        </p:blipFill>
        <p:spPr>
          <a:xfrm>
            <a:off x="10122408" y="2350008"/>
            <a:ext cx="429768" cy="429768"/>
          </a:xfrm>
          <a:prstGeom prst="rect">
            <a:avLst/>
          </a:prstGeom>
        </p:spPr>
      </p:pic>
      <p:sp>
        <p:nvSpPr>
          <p:cNvPr id="27" name="Shape 21"/>
          <p:cNvSpPr/>
          <p:nvPr/>
        </p:nvSpPr>
        <p:spPr>
          <a:xfrm>
            <a:off x="10479024" y="2020824"/>
            <a:ext cx="310896" cy="310896"/>
          </a:xfrm>
          <a:prstGeom prst="ellipse">
            <a:avLst/>
          </a:prstGeom>
          <a:solidFill>
            <a:srgbClr val="D4A017"/>
          </a:solidFill>
          <a:ln w="19050">
            <a:solidFill>
              <a:srgbClr val="FFFFFF"/>
            </a:solidFill>
            <a:prstDash val="solid"/>
          </a:ln>
        </p:spPr>
      </p:sp>
      <p:sp>
        <p:nvSpPr>
          <p:cNvPr id="28" name="Text 22"/>
          <p:cNvSpPr/>
          <p:nvPr/>
        </p:nvSpPr>
        <p:spPr>
          <a:xfrm>
            <a:off x="10479024" y="202082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4</a:t>
            </a:r>
            <a:endParaRPr lang="en-US" sz="1050" dirty="0"/>
          </a:p>
        </p:txBody>
      </p:sp>
      <p:sp>
        <p:nvSpPr>
          <p:cNvPr id="29" name="Text 23"/>
          <p:cNvSpPr/>
          <p:nvPr/>
        </p:nvSpPr>
        <p:spPr>
          <a:xfrm>
            <a:off x="9125712" y="310896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K-Means Clustering</a:t>
            </a:r>
            <a:endParaRPr lang="en-US" sz="1150" dirty="0"/>
          </a:p>
        </p:txBody>
      </p:sp>
      <p:sp>
        <p:nvSpPr>
          <p:cNvPr id="30" name="Shape 24"/>
          <p:cNvSpPr/>
          <p:nvPr/>
        </p:nvSpPr>
        <p:spPr>
          <a:xfrm>
            <a:off x="8866632" y="2564892"/>
            <a:ext cx="112776" cy="0"/>
          </a:xfrm>
          <a:prstGeom prst="line">
            <a:avLst/>
          </a:prstGeom>
          <a:noFill/>
          <a:ln w="25400">
            <a:solidFill>
              <a:srgbClr val="C7CFE8"/>
            </a:solidFill>
            <a:prstDash val="solid"/>
            <a:tailEnd type="triangle"/>
          </a:ln>
        </p:spPr>
      </p:sp>
      <p:sp>
        <p:nvSpPr>
          <p:cNvPr id="31" name="Shape 25"/>
          <p:cNvSpPr/>
          <p:nvPr/>
        </p:nvSpPr>
        <p:spPr>
          <a:xfrm>
            <a:off x="548640" y="4343400"/>
            <a:ext cx="2606040" cy="1783080"/>
          </a:xfrm>
          <a:prstGeom prst="roundRect">
            <a:avLst>
              <a:gd name="adj" fmla="val 4615"/>
            </a:avLst>
          </a:prstGeom>
          <a:solidFill>
            <a:srgbClr val="F7F8FC"/>
          </a:solidFill>
          <a:ln w="15875">
            <a:solidFill>
              <a:srgbClr val="D4A017"/>
            </a:solidFill>
            <a:prstDash val="solid"/>
          </a:ln>
          <a:effectLst>
            <a:outerShdw blurRad="63500" dist="25400" dir="5400000" algn="bl" rotWithShape="0">
              <a:srgbClr val="1E2761">
                <a:alpha val="10000"/>
              </a:srgbClr>
            </a:outerShdw>
          </a:effectLst>
        </p:spPr>
      </p:sp>
      <p:sp>
        <p:nvSpPr>
          <p:cNvPr id="32" name="Shape 26"/>
          <p:cNvSpPr/>
          <p:nvPr/>
        </p:nvSpPr>
        <p:spPr>
          <a:xfrm>
            <a:off x="1417320" y="4507992"/>
            <a:ext cx="868680" cy="868680"/>
          </a:xfrm>
          <a:prstGeom prst="ellipse">
            <a:avLst/>
          </a:prstGeom>
          <a:solidFill>
            <a:srgbClr val="D4A017"/>
          </a:solidFill>
          <a:ln/>
        </p:spPr>
      </p:sp>
      <p:pic>
        <p:nvPicPr>
          <p:cNvPr id="33" name="Image 4" descr="/home/claude/icons/trending_white.png"/>
          <p:cNvPicPr>
            <a:picLocks noChangeAspect="1"/>
          </p:cNvPicPr>
          <p:nvPr/>
        </p:nvPicPr>
        <p:blipFill>
          <a:blip r:embed="rId7"/>
          <a:stretch>
            <a:fillRect/>
          </a:stretch>
        </p:blipFill>
        <p:spPr>
          <a:xfrm>
            <a:off x="1636776" y="4727448"/>
            <a:ext cx="429768" cy="429768"/>
          </a:xfrm>
          <a:prstGeom prst="rect">
            <a:avLst/>
          </a:prstGeom>
        </p:spPr>
      </p:pic>
      <p:sp>
        <p:nvSpPr>
          <p:cNvPr id="34" name="Shape 27"/>
          <p:cNvSpPr/>
          <p:nvPr/>
        </p:nvSpPr>
        <p:spPr>
          <a:xfrm>
            <a:off x="1993392" y="4398264"/>
            <a:ext cx="310896" cy="310896"/>
          </a:xfrm>
          <a:prstGeom prst="ellipse">
            <a:avLst/>
          </a:prstGeom>
          <a:solidFill>
            <a:srgbClr val="D4A017"/>
          </a:solidFill>
          <a:ln w="19050">
            <a:solidFill>
              <a:srgbClr val="FFFFFF"/>
            </a:solidFill>
            <a:prstDash val="solid"/>
          </a:ln>
        </p:spPr>
      </p:sp>
      <p:sp>
        <p:nvSpPr>
          <p:cNvPr id="35" name="Text 28"/>
          <p:cNvSpPr/>
          <p:nvPr/>
        </p:nvSpPr>
        <p:spPr>
          <a:xfrm>
            <a:off x="1993392" y="439826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8</a:t>
            </a:r>
            <a:endParaRPr lang="en-US" sz="1050" dirty="0"/>
          </a:p>
        </p:txBody>
      </p:sp>
      <p:sp>
        <p:nvSpPr>
          <p:cNvPr id="36" name="Text 29"/>
          <p:cNvSpPr/>
          <p:nvPr/>
        </p:nvSpPr>
        <p:spPr>
          <a:xfrm>
            <a:off x="640080" y="548640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Recommendations</a:t>
            </a:r>
            <a:endParaRPr lang="en-US" sz="1150" dirty="0"/>
          </a:p>
        </p:txBody>
      </p:sp>
      <p:sp>
        <p:nvSpPr>
          <p:cNvPr id="37" name="Shape 30"/>
          <p:cNvSpPr/>
          <p:nvPr/>
        </p:nvSpPr>
        <p:spPr>
          <a:xfrm>
            <a:off x="3377184" y="4343400"/>
            <a:ext cx="2606040" cy="1783080"/>
          </a:xfrm>
          <a:prstGeom prst="roundRect">
            <a:avLst>
              <a:gd name="adj" fmla="val 4615"/>
            </a:avLst>
          </a:prstGeom>
          <a:solidFill>
            <a:srgbClr val="F7F8FC"/>
          </a:solidFill>
          <a:ln w="15875">
            <a:solidFill>
              <a:srgbClr val="B27444"/>
            </a:solidFill>
            <a:prstDash val="solid"/>
          </a:ln>
          <a:effectLst>
            <a:outerShdw blurRad="63500" dist="25400" dir="5400000" algn="bl" rotWithShape="0">
              <a:srgbClr val="1E2761">
                <a:alpha val="10000"/>
              </a:srgbClr>
            </a:outerShdw>
          </a:effectLst>
        </p:spPr>
      </p:sp>
      <p:sp>
        <p:nvSpPr>
          <p:cNvPr id="38" name="Shape 31"/>
          <p:cNvSpPr/>
          <p:nvPr/>
        </p:nvSpPr>
        <p:spPr>
          <a:xfrm>
            <a:off x="4245864" y="4507992"/>
            <a:ext cx="868680" cy="868680"/>
          </a:xfrm>
          <a:prstGeom prst="ellipse">
            <a:avLst/>
          </a:prstGeom>
          <a:solidFill>
            <a:srgbClr val="B27444"/>
          </a:solidFill>
          <a:ln/>
        </p:spPr>
      </p:sp>
      <p:pic>
        <p:nvPicPr>
          <p:cNvPr id="39" name="Image 5" descr="/home/claude/icons/target_white.png"/>
          <p:cNvPicPr>
            <a:picLocks noChangeAspect="1"/>
          </p:cNvPicPr>
          <p:nvPr/>
        </p:nvPicPr>
        <p:blipFill>
          <a:blip r:embed="rId8"/>
          <a:stretch>
            <a:fillRect/>
          </a:stretch>
        </p:blipFill>
        <p:spPr>
          <a:xfrm>
            <a:off x="4465320" y="4727448"/>
            <a:ext cx="429768" cy="429768"/>
          </a:xfrm>
          <a:prstGeom prst="rect">
            <a:avLst/>
          </a:prstGeom>
        </p:spPr>
      </p:pic>
      <p:sp>
        <p:nvSpPr>
          <p:cNvPr id="40" name="Shape 32"/>
          <p:cNvSpPr/>
          <p:nvPr/>
        </p:nvSpPr>
        <p:spPr>
          <a:xfrm>
            <a:off x="4821936" y="4398264"/>
            <a:ext cx="310896" cy="310896"/>
          </a:xfrm>
          <a:prstGeom prst="ellipse">
            <a:avLst/>
          </a:prstGeom>
          <a:solidFill>
            <a:srgbClr val="D4A017"/>
          </a:solidFill>
          <a:ln w="19050">
            <a:solidFill>
              <a:srgbClr val="FFFFFF"/>
            </a:solidFill>
            <a:prstDash val="solid"/>
          </a:ln>
        </p:spPr>
      </p:sp>
      <p:sp>
        <p:nvSpPr>
          <p:cNvPr id="41" name="Text 33"/>
          <p:cNvSpPr/>
          <p:nvPr/>
        </p:nvSpPr>
        <p:spPr>
          <a:xfrm>
            <a:off x="4821936" y="439826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7</a:t>
            </a:r>
            <a:endParaRPr lang="en-US" sz="1050" dirty="0"/>
          </a:p>
        </p:txBody>
      </p:sp>
      <p:sp>
        <p:nvSpPr>
          <p:cNvPr id="42" name="Text 34"/>
          <p:cNvSpPr/>
          <p:nvPr/>
        </p:nvSpPr>
        <p:spPr>
          <a:xfrm>
            <a:off x="3468624" y="548640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Marketing Strategy</a:t>
            </a:r>
            <a:endParaRPr lang="en-US" sz="1150" dirty="0"/>
          </a:p>
        </p:txBody>
      </p:sp>
      <p:sp>
        <p:nvSpPr>
          <p:cNvPr id="43" name="Shape 35"/>
          <p:cNvSpPr/>
          <p:nvPr/>
        </p:nvSpPr>
        <p:spPr>
          <a:xfrm>
            <a:off x="493776" y="4942332"/>
            <a:ext cx="112776" cy="0"/>
          </a:xfrm>
          <a:prstGeom prst="line">
            <a:avLst/>
          </a:prstGeom>
          <a:noFill/>
          <a:ln w="25400">
            <a:solidFill>
              <a:srgbClr val="C7CFE8"/>
            </a:solidFill>
            <a:prstDash val="solid"/>
            <a:headEnd type="triangle"/>
          </a:ln>
        </p:spPr>
      </p:sp>
      <p:sp>
        <p:nvSpPr>
          <p:cNvPr id="44" name="Shape 36"/>
          <p:cNvSpPr/>
          <p:nvPr/>
        </p:nvSpPr>
        <p:spPr>
          <a:xfrm>
            <a:off x="6205728" y="4343400"/>
            <a:ext cx="2606040" cy="1783080"/>
          </a:xfrm>
          <a:prstGeom prst="roundRect">
            <a:avLst>
              <a:gd name="adj" fmla="val 4615"/>
            </a:avLst>
          </a:prstGeom>
          <a:solidFill>
            <a:srgbClr val="F7F8FC"/>
          </a:solidFill>
          <a:ln w="15875">
            <a:solidFill>
              <a:srgbClr val="8F6A6A"/>
            </a:solidFill>
            <a:prstDash val="solid"/>
          </a:ln>
          <a:effectLst>
            <a:outerShdw blurRad="63500" dist="25400" dir="5400000" algn="bl" rotWithShape="0">
              <a:srgbClr val="1E2761">
                <a:alpha val="10000"/>
              </a:srgbClr>
            </a:outerShdw>
          </a:effectLst>
        </p:spPr>
      </p:sp>
      <p:sp>
        <p:nvSpPr>
          <p:cNvPr id="45" name="Shape 37"/>
          <p:cNvSpPr/>
          <p:nvPr/>
        </p:nvSpPr>
        <p:spPr>
          <a:xfrm>
            <a:off x="7074408" y="4507992"/>
            <a:ext cx="868680" cy="868680"/>
          </a:xfrm>
          <a:prstGeom prst="ellipse">
            <a:avLst/>
          </a:prstGeom>
          <a:solidFill>
            <a:srgbClr val="8F6A6A"/>
          </a:solidFill>
          <a:ln/>
        </p:spPr>
      </p:sp>
      <p:pic>
        <p:nvPicPr>
          <p:cNvPr id="46" name="Image 6" descr="/home/claude/icons/grid_white.png"/>
          <p:cNvPicPr>
            <a:picLocks noChangeAspect="1"/>
          </p:cNvPicPr>
          <p:nvPr/>
        </p:nvPicPr>
        <p:blipFill>
          <a:blip r:embed="rId9"/>
          <a:stretch>
            <a:fillRect/>
          </a:stretch>
        </p:blipFill>
        <p:spPr>
          <a:xfrm>
            <a:off x="7293864" y="4727448"/>
            <a:ext cx="429768" cy="429768"/>
          </a:xfrm>
          <a:prstGeom prst="rect">
            <a:avLst/>
          </a:prstGeom>
        </p:spPr>
      </p:pic>
      <p:sp>
        <p:nvSpPr>
          <p:cNvPr id="47" name="Shape 38"/>
          <p:cNvSpPr/>
          <p:nvPr/>
        </p:nvSpPr>
        <p:spPr>
          <a:xfrm>
            <a:off x="7650480" y="4398264"/>
            <a:ext cx="310896" cy="310896"/>
          </a:xfrm>
          <a:prstGeom prst="ellipse">
            <a:avLst/>
          </a:prstGeom>
          <a:solidFill>
            <a:srgbClr val="D4A017"/>
          </a:solidFill>
          <a:ln w="19050">
            <a:solidFill>
              <a:srgbClr val="FFFFFF"/>
            </a:solidFill>
            <a:prstDash val="solid"/>
          </a:ln>
        </p:spPr>
      </p:sp>
      <p:sp>
        <p:nvSpPr>
          <p:cNvPr id="48" name="Text 39"/>
          <p:cNvSpPr/>
          <p:nvPr/>
        </p:nvSpPr>
        <p:spPr>
          <a:xfrm>
            <a:off x="7650480" y="439826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6</a:t>
            </a:r>
            <a:endParaRPr lang="en-US" sz="1050" dirty="0"/>
          </a:p>
        </p:txBody>
      </p:sp>
      <p:sp>
        <p:nvSpPr>
          <p:cNvPr id="49" name="Text 40"/>
          <p:cNvSpPr/>
          <p:nvPr/>
        </p:nvSpPr>
        <p:spPr>
          <a:xfrm>
            <a:off x="6297168" y="548640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Dashboard</a:t>
            </a:r>
            <a:endParaRPr lang="en-US" sz="1150" dirty="0"/>
          </a:p>
        </p:txBody>
      </p:sp>
      <p:sp>
        <p:nvSpPr>
          <p:cNvPr id="50" name="Shape 41"/>
          <p:cNvSpPr/>
          <p:nvPr/>
        </p:nvSpPr>
        <p:spPr>
          <a:xfrm>
            <a:off x="3322320" y="4942332"/>
            <a:ext cx="112776" cy="0"/>
          </a:xfrm>
          <a:prstGeom prst="line">
            <a:avLst/>
          </a:prstGeom>
          <a:noFill/>
          <a:ln w="25400">
            <a:solidFill>
              <a:srgbClr val="C7CFE8"/>
            </a:solidFill>
            <a:prstDash val="solid"/>
            <a:headEnd type="triangle"/>
          </a:ln>
        </p:spPr>
      </p:sp>
      <p:sp>
        <p:nvSpPr>
          <p:cNvPr id="51" name="Shape 42"/>
          <p:cNvSpPr/>
          <p:nvPr/>
        </p:nvSpPr>
        <p:spPr>
          <a:xfrm>
            <a:off x="9034272" y="4343400"/>
            <a:ext cx="2606040" cy="1783080"/>
          </a:xfrm>
          <a:prstGeom prst="roundRect">
            <a:avLst>
              <a:gd name="adj" fmla="val 4615"/>
            </a:avLst>
          </a:prstGeom>
          <a:solidFill>
            <a:srgbClr val="F7F8FC"/>
          </a:solidFill>
          <a:ln w="15875">
            <a:solidFill>
              <a:srgbClr val="6B6690"/>
            </a:solidFill>
            <a:prstDash val="solid"/>
          </a:ln>
          <a:effectLst>
            <a:outerShdw blurRad="63500" dist="25400" dir="5400000" algn="bl" rotWithShape="0">
              <a:srgbClr val="1E2761">
                <a:alpha val="10000"/>
              </a:srgbClr>
            </a:outerShdw>
          </a:effectLst>
        </p:spPr>
      </p:sp>
      <p:sp>
        <p:nvSpPr>
          <p:cNvPr id="52" name="Shape 43"/>
          <p:cNvSpPr/>
          <p:nvPr/>
        </p:nvSpPr>
        <p:spPr>
          <a:xfrm>
            <a:off x="9902952" y="4507992"/>
            <a:ext cx="868680" cy="868680"/>
          </a:xfrm>
          <a:prstGeom prst="ellipse">
            <a:avLst/>
          </a:prstGeom>
          <a:solidFill>
            <a:srgbClr val="6B6690"/>
          </a:solidFill>
          <a:ln/>
        </p:spPr>
      </p:sp>
      <p:pic>
        <p:nvPicPr>
          <p:cNvPr id="53" name="Image 7" descr="/home/claude/icons/users_white.png"/>
          <p:cNvPicPr>
            <a:picLocks noChangeAspect="1"/>
          </p:cNvPicPr>
          <p:nvPr/>
        </p:nvPicPr>
        <p:blipFill>
          <a:blip r:embed="rId10"/>
          <a:stretch>
            <a:fillRect/>
          </a:stretch>
        </p:blipFill>
        <p:spPr>
          <a:xfrm>
            <a:off x="10122408" y="4727448"/>
            <a:ext cx="429768" cy="429768"/>
          </a:xfrm>
          <a:prstGeom prst="rect">
            <a:avLst/>
          </a:prstGeom>
        </p:spPr>
      </p:pic>
      <p:sp>
        <p:nvSpPr>
          <p:cNvPr id="54" name="Shape 44"/>
          <p:cNvSpPr/>
          <p:nvPr/>
        </p:nvSpPr>
        <p:spPr>
          <a:xfrm>
            <a:off x="10479024" y="4398264"/>
            <a:ext cx="310896" cy="310896"/>
          </a:xfrm>
          <a:prstGeom prst="ellipse">
            <a:avLst/>
          </a:prstGeom>
          <a:solidFill>
            <a:srgbClr val="D4A017"/>
          </a:solidFill>
          <a:ln w="19050">
            <a:solidFill>
              <a:srgbClr val="FFFFFF"/>
            </a:solidFill>
            <a:prstDash val="solid"/>
          </a:ln>
        </p:spPr>
      </p:sp>
      <p:sp>
        <p:nvSpPr>
          <p:cNvPr id="55" name="Text 45"/>
          <p:cNvSpPr/>
          <p:nvPr/>
        </p:nvSpPr>
        <p:spPr>
          <a:xfrm>
            <a:off x="10479024" y="4398264"/>
            <a:ext cx="310896" cy="310896"/>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5</a:t>
            </a:r>
            <a:endParaRPr lang="en-US" sz="1050" dirty="0"/>
          </a:p>
        </p:txBody>
      </p:sp>
      <p:sp>
        <p:nvSpPr>
          <p:cNvPr id="56" name="Text 46"/>
          <p:cNvSpPr/>
          <p:nvPr/>
        </p:nvSpPr>
        <p:spPr>
          <a:xfrm>
            <a:off x="9125712" y="5486400"/>
            <a:ext cx="2423160" cy="548640"/>
          </a:xfrm>
          <a:prstGeom prst="rect">
            <a:avLst/>
          </a:prstGeom>
          <a:noFill/>
          <a:ln/>
        </p:spPr>
        <p:txBody>
          <a:bodyPr wrap="square" lIns="0" tIns="0" rIns="0" bIns="0" rtlCol="0" anchor="t"/>
          <a:lstStyle/>
          <a:p>
            <a:pPr marL="0" indent="0" algn="ctr">
              <a:buNone/>
            </a:pPr>
            <a:r>
              <a:rPr lang="en-US" sz="1150" b="1" dirty="0">
                <a:solidFill>
                  <a:srgbClr val="1E2761"/>
                </a:solidFill>
                <a:latin typeface="Calibri" pitchFamily="34" charset="0"/>
                <a:ea typeface="Calibri" pitchFamily="34" charset="-122"/>
                <a:cs typeface="Calibri" pitchFamily="34" charset="-120"/>
              </a:rPr>
              <a:t>Customer Segments</a:t>
            </a:r>
            <a:endParaRPr lang="en-US" sz="1150" dirty="0"/>
          </a:p>
        </p:txBody>
      </p:sp>
      <p:sp>
        <p:nvSpPr>
          <p:cNvPr id="57" name="Shape 47"/>
          <p:cNvSpPr/>
          <p:nvPr/>
        </p:nvSpPr>
        <p:spPr>
          <a:xfrm>
            <a:off x="6150864" y="4942332"/>
            <a:ext cx="112776" cy="0"/>
          </a:xfrm>
          <a:prstGeom prst="line">
            <a:avLst/>
          </a:prstGeom>
          <a:noFill/>
          <a:ln w="25400">
            <a:solidFill>
              <a:srgbClr val="C7CFE8"/>
            </a:solidFill>
            <a:prstDash val="solid"/>
            <a:headEnd type="triangle"/>
          </a:ln>
        </p:spPr>
      </p:sp>
      <p:sp>
        <p:nvSpPr>
          <p:cNvPr id="58" name="Shape 48"/>
          <p:cNvSpPr/>
          <p:nvPr/>
        </p:nvSpPr>
        <p:spPr>
          <a:xfrm>
            <a:off x="11183112" y="3794760"/>
            <a:ext cx="0" cy="502920"/>
          </a:xfrm>
          <a:prstGeom prst="line">
            <a:avLst/>
          </a:prstGeom>
          <a:noFill/>
          <a:ln w="25400">
            <a:solidFill>
              <a:srgbClr val="C7CFE8"/>
            </a:solidFill>
            <a:prstDash val="solid"/>
            <a:tailEnd type="triangle"/>
          </a:ln>
        </p:spPr>
      </p:sp>
      <p:sp>
        <p:nvSpPr>
          <p:cNvPr id="59" name="Text 49"/>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60" name="Text 5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Technologies Used</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The tools and libraries powering this project</a:t>
            </a:r>
            <a:endParaRPr lang="en-US" sz="1300" dirty="0"/>
          </a:p>
        </p:txBody>
      </p:sp>
      <p:sp>
        <p:nvSpPr>
          <p:cNvPr id="4" name="Shape 2"/>
          <p:cNvSpPr/>
          <p:nvPr/>
        </p:nvSpPr>
        <p:spPr>
          <a:xfrm>
            <a:off x="790956" y="178308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5" name="Shape 3"/>
          <p:cNvSpPr/>
          <p:nvPr/>
        </p:nvSpPr>
        <p:spPr>
          <a:xfrm>
            <a:off x="1691640" y="2011680"/>
            <a:ext cx="685800" cy="685800"/>
          </a:xfrm>
          <a:prstGeom prst="ellipse">
            <a:avLst/>
          </a:prstGeom>
          <a:solidFill>
            <a:srgbClr val="FFFFFF"/>
          </a:solidFill>
          <a:ln w="12700">
            <a:solidFill>
              <a:srgbClr val="E2E6F2"/>
            </a:solidFill>
            <a:prstDash val="solid"/>
          </a:ln>
        </p:spPr>
      </p:sp>
      <p:pic>
        <p:nvPicPr>
          <p:cNvPr id="6" name="Image 0" descr="/home/claude/icons/python_navy.png"/>
          <p:cNvPicPr>
            <a:picLocks noChangeAspect="1"/>
          </p:cNvPicPr>
          <p:nvPr/>
        </p:nvPicPr>
        <p:blipFill>
          <a:blip r:embed="rId3"/>
          <a:stretch>
            <a:fillRect/>
          </a:stretch>
        </p:blipFill>
        <p:spPr>
          <a:xfrm>
            <a:off x="1856232" y="2176272"/>
            <a:ext cx="356616" cy="356616"/>
          </a:xfrm>
          <a:prstGeom prst="rect">
            <a:avLst/>
          </a:prstGeom>
        </p:spPr>
      </p:pic>
      <p:sp>
        <p:nvSpPr>
          <p:cNvPr id="7" name="Text 4"/>
          <p:cNvSpPr/>
          <p:nvPr/>
        </p:nvSpPr>
        <p:spPr>
          <a:xfrm>
            <a:off x="882396" y="280720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Python</a:t>
            </a:r>
            <a:endParaRPr lang="en-US" sz="1300" dirty="0"/>
          </a:p>
        </p:txBody>
      </p:sp>
      <p:sp>
        <p:nvSpPr>
          <p:cNvPr id="8" name="Text 5"/>
          <p:cNvSpPr/>
          <p:nvPr/>
        </p:nvSpPr>
        <p:spPr>
          <a:xfrm>
            <a:off x="937260" y="311810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Core language for the entire pipeline.</a:t>
            </a:r>
            <a:endParaRPr lang="en-US" sz="900" dirty="0"/>
          </a:p>
        </p:txBody>
      </p:sp>
      <p:sp>
        <p:nvSpPr>
          <p:cNvPr id="9" name="Shape 6"/>
          <p:cNvSpPr/>
          <p:nvPr/>
        </p:nvSpPr>
        <p:spPr>
          <a:xfrm>
            <a:off x="3497580" y="178308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10" name="Shape 7"/>
          <p:cNvSpPr/>
          <p:nvPr/>
        </p:nvSpPr>
        <p:spPr>
          <a:xfrm>
            <a:off x="4398264" y="2011680"/>
            <a:ext cx="685800" cy="685800"/>
          </a:xfrm>
          <a:prstGeom prst="ellipse">
            <a:avLst/>
          </a:prstGeom>
          <a:solidFill>
            <a:srgbClr val="FFFFFF"/>
          </a:solidFill>
          <a:ln w="12700">
            <a:solidFill>
              <a:srgbClr val="E2E6F2"/>
            </a:solidFill>
            <a:prstDash val="solid"/>
          </a:ln>
        </p:spPr>
      </p:sp>
      <p:pic>
        <p:nvPicPr>
          <p:cNvPr id="11" name="Image 1" descr="/home/claude/icons/pandas_navy.png"/>
          <p:cNvPicPr>
            <a:picLocks noChangeAspect="1"/>
          </p:cNvPicPr>
          <p:nvPr/>
        </p:nvPicPr>
        <p:blipFill>
          <a:blip r:embed="rId4"/>
          <a:stretch>
            <a:fillRect/>
          </a:stretch>
        </p:blipFill>
        <p:spPr>
          <a:xfrm>
            <a:off x="4562856" y="2176272"/>
            <a:ext cx="356616" cy="356616"/>
          </a:xfrm>
          <a:prstGeom prst="rect">
            <a:avLst/>
          </a:prstGeom>
        </p:spPr>
      </p:pic>
      <p:sp>
        <p:nvSpPr>
          <p:cNvPr id="12" name="Text 8"/>
          <p:cNvSpPr/>
          <p:nvPr/>
        </p:nvSpPr>
        <p:spPr>
          <a:xfrm>
            <a:off x="3589020" y="280720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Pandas</a:t>
            </a:r>
            <a:endParaRPr lang="en-US" sz="1300" dirty="0"/>
          </a:p>
        </p:txBody>
      </p:sp>
      <p:sp>
        <p:nvSpPr>
          <p:cNvPr id="13" name="Text 9"/>
          <p:cNvSpPr/>
          <p:nvPr/>
        </p:nvSpPr>
        <p:spPr>
          <a:xfrm>
            <a:off x="3643884" y="311810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Data manipulation and analysis.</a:t>
            </a:r>
            <a:endParaRPr lang="en-US" sz="900" dirty="0"/>
          </a:p>
        </p:txBody>
      </p:sp>
      <p:sp>
        <p:nvSpPr>
          <p:cNvPr id="14" name="Shape 10"/>
          <p:cNvSpPr/>
          <p:nvPr/>
        </p:nvSpPr>
        <p:spPr>
          <a:xfrm>
            <a:off x="6204204" y="178308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15" name="Shape 11"/>
          <p:cNvSpPr/>
          <p:nvPr/>
        </p:nvSpPr>
        <p:spPr>
          <a:xfrm>
            <a:off x="7104888" y="2011680"/>
            <a:ext cx="685800" cy="685800"/>
          </a:xfrm>
          <a:prstGeom prst="ellipse">
            <a:avLst/>
          </a:prstGeom>
          <a:solidFill>
            <a:srgbClr val="FFFFFF"/>
          </a:solidFill>
          <a:ln w="12700">
            <a:solidFill>
              <a:srgbClr val="E2E6F2"/>
            </a:solidFill>
            <a:prstDash val="solid"/>
          </a:ln>
        </p:spPr>
      </p:sp>
      <p:pic>
        <p:nvPicPr>
          <p:cNvPr id="16" name="Image 2" descr="/home/claude/icons/numpy_navy.png"/>
          <p:cNvPicPr>
            <a:picLocks noChangeAspect="1"/>
          </p:cNvPicPr>
          <p:nvPr/>
        </p:nvPicPr>
        <p:blipFill>
          <a:blip r:embed="rId5"/>
          <a:stretch>
            <a:fillRect/>
          </a:stretch>
        </p:blipFill>
        <p:spPr>
          <a:xfrm>
            <a:off x="7269480" y="2176272"/>
            <a:ext cx="356616" cy="356616"/>
          </a:xfrm>
          <a:prstGeom prst="rect">
            <a:avLst/>
          </a:prstGeom>
        </p:spPr>
      </p:pic>
      <p:sp>
        <p:nvSpPr>
          <p:cNvPr id="17" name="Text 12"/>
          <p:cNvSpPr/>
          <p:nvPr/>
        </p:nvSpPr>
        <p:spPr>
          <a:xfrm>
            <a:off x="6295644" y="280720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NumPy</a:t>
            </a:r>
            <a:endParaRPr lang="en-US" sz="1300" dirty="0"/>
          </a:p>
        </p:txBody>
      </p:sp>
      <p:sp>
        <p:nvSpPr>
          <p:cNvPr id="18" name="Text 13"/>
          <p:cNvSpPr/>
          <p:nvPr/>
        </p:nvSpPr>
        <p:spPr>
          <a:xfrm>
            <a:off x="6350508" y="311810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Numerical computing and arrays.</a:t>
            </a:r>
            <a:endParaRPr lang="en-US" sz="900" dirty="0"/>
          </a:p>
        </p:txBody>
      </p:sp>
      <p:sp>
        <p:nvSpPr>
          <p:cNvPr id="19" name="Shape 14"/>
          <p:cNvSpPr/>
          <p:nvPr/>
        </p:nvSpPr>
        <p:spPr>
          <a:xfrm>
            <a:off x="8910828" y="178308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20" name="Shape 15"/>
          <p:cNvSpPr/>
          <p:nvPr/>
        </p:nvSpPr>
        <p:spPr>
          <a:xfrm>
            <a:off x="9811512" y="2011680"/>
            <a:ext cx="685800" cy="685800"/>
          </a:xfrm>
          <a:prstGeom prst="ellipse">
            <a:avLst/>
          </a:prstGeom>
          <a:solidFill>
            <a:srgbClr val="FFFFFF"/>
          </a:solidFill>
          <a:ln w="12700">
            <a:solidFill>
              <a:srgbClr val="E2E6F2"/>
            </a:solidFill>
            <a:prstDash val="solid"/>
          </a:ln>
        </p:spPr>
      </p:sp>
      <p:pic>
        <p:nvPicPr>
          <p:cNvPr id="21" name="Image 3" descr="/home/claude/icons/bar_navy.png"/>
          <p:cNvPicPr>
            <a:picLocks noChangeAspect="1"/>
          </p:cNvPicPr>
          <p:nvPr/>
        </p:nvPicPr>
        <p:blipFill>
          <a:blip r:embed="rId6"/>
          <a:stretch>
            <a:fillRect/>
          </a:stretch>
        </p:blipFill>
        <p:spPr>
          <a:xfrm>
            <a:off x="9976104" y="2176272"/>
            <a:ext cx="356616" cy="356616"/>
          </a:xfrm>
          <a:prstGeom prst="rect">
            <a:avLst/>
          </a:prstGeom>
        </p:spPr>
      </p:pic>
      <p:sp>
        <p:nvSpPr>
          <p:cNvPr id="22" name="Text 16"/>
          <p:cNvSpPr/>
          <p:nvPr/>
        </p:nvSpPr>
        <p:spPr>
          <a:xfrm>
            <a:off x="9002268" y="280720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Matplotlib</a:t>
            </a:r>
            <a:endParaRPr lang="en-US" sz="1300" dirty="0"/>
          </a:p>
        </p:txBody>
      </p:sp>
      <p:sp>
        <p:nvSpPr>
          <p:cNvPr id="23" name="Text 17"/>
          <p:cNvSpPr/>
          <p:nvPr/>
        </p:nvSpPr>
        <p:spPr>
          <a:xfrm>
            <a:off x="9057132" y="311810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Foundational data visualization.</a:t>
            </a:r>
            <a:endParaRPr lang="en-US" sz="900" dirty="0"/>
          </a:p>
        </p:txBody>
      </p:sp>
      <p:sp>
        <p:nvSpPr>
          <p:cNvPr id="24" name="Shape 18"/>
          <p:cNvSpPr/>
          <p:nvPr/>
        </p:nvSpPr>
        <p:spPr>
          <a:xfrm>
            <a:off x="2144268" y="402336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25" name="Shape 19"/>
          <p:cNvSpPr/>
          <p:nvPr/>
        </p:nvSpPr>
        <p:spPr>
          <a:xfrm>
            <a:off x="3044952" y="4251960"/>
            <a:ext cx="685800" cy="685800"/>
          </a:xfrm>
          <a:prstGeom prst="ellipse">
            <a:avLst/>
          </a:prstGeom>
          <a:solidFill>
            <a:srgbClr val="FFFFFF"/>
          </a:solidFill>
          <a:ln w="12700">
            <a:solidFill>
              <a:srgbClr val="E2E6F2"/>
            </a:solidFill>
            <a:prstDash val="solid"/>
          </a:ln>
        </p:spPr>
      </p:sp>
      <p:pic>
        <p:nvPicPr>
          <p:cNvPr id="26" name="Image 4" descr="/home/claude/icons/trending_navy.png"/>
          <p:cNvPicPr>
            <a:picLocks noChangeAspect="1"/>
          </p:cNvPicPr>
          <p:nvPr/>
        </p:nvPicPr>
        <p:blipFill>
          <a:blip r:embed="rId7"/>
          <a:stretch>
            <a:fillRect/>
          </a:stretch>
        </p:blipFill>
        <p:spPr>
          <a:xfrm>
            <a:off x="3209544" y="4416552"/>
            <a:ext cx="356616" cy="356616"/>
          </a:xfrm>
          <a:prstGeom prst="rect">
            <a:avLst/>
          </a:prstGeom>
        </p:spPr>
      </p:pic>
      <p:sp>
        <p:nvSpPr>
          <p:cNvPr id="27" name="Text 20"/>
          <p:cNvSpPr/>
          <p:nvPr/>
        </p:nvSpPr>
        <p:spPr>
          <a:xfrm>
            <a:off x="2235708" y="504748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Seaborn</a:t>
            </a:r>
            <a:endParaRPr lang="en-US" sz="1300" dirty="0"/>
          </a:p>
        </p:txBody>
      </p:sp>
      <p:sp>
        <p:nvSpPr>
          <p:cNvPr id="28" name="Text 21"/>
          <p:cNvSpPr/>
          <p:nvPr/>
        </p:nvSpPr>
        <p:spPr>
          <a:xfrm>
            <a:off x="2290572" y="535838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Statistical chart styling.</a:t>
            </a:r>
            <a:endParaRPr lang="en-US" sz="900" dirty="0"/>
          </a:p>
        </p:txBody>
      </p:sp>
      <p:sp>
        <p:nvSpPr>
          <p:cNvPr id="29" name="Shape 22"/>
          <p:cNvSpPr/>
          <p:nvPr/>
        </p:nvSpPr>
        <p:spPr>
          <a:xfrm>
            <a:off x="4850892" y="402336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30" name="Shape 23"/>
          <p:cNvSpPr/>
          <p:nvPr/>
        </p:nvSpPr>
        <p:spPr>
          <a:xfrm>
            <a:off x="5751576" y="4251960"/>
            <a:ext cx="685800" cy="685800"/>
          </a:xfrm>
          <a:prstGeom prst="ellipse">
            <a:avLst/>
          </a:prstGeom>
          <a:solidFill>
            <a:srgbClr val="FFFFFF"/>
          </a:solidFill>
          <a:ln w="12700">
            <a:solidFill>
              <a:srgbClr val="E2E6F2"/>
            </a:solidFill>
            <a:prstDash val="solid"/>
          </a:ln>
        </p:spPr>
      </p:sp>
      <p:pic>
        <p:nvPicPr>
          <p:cNvPr id="31" name="Image 5" descr="/home/claude/icons/scikitlearn_navy.png"/>
          <p:cNvPicPr>
            <a:picLocks noChangeAspect="1"/>
          </p:cNvPicPr>
          <p:nvPr/>
        </p:nvPicPr>
        <p:blipFill>
          <a:blip r:embed="rId8"/>
          <a:stretch>
            <a:fillRect/>
          </a:stretch>
        </p:blipFill>
        <p:spPr>
          <a:xfrm>
            <a:off x="5916168" y="4416552"/>
            <a:ext cx="356616" cy="356616"/>
          </a:xfrm>
          <a:prstGeom prst="rect">
            <a:avLst/>
          </a:prstGeom>
        </p:spPr>
      </p:pic>
      <p:sp>
        <p:nvSpPr>
          <p:cNvPr id="32" name="Text 24"/>
          <p:cNvSpPr/>
          <p:nvPr/>
        </p:nvSpPr>
        <p:spPr>
          <a:xfrm>
            <a:off x="4942332" y="504748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Scikit-learn</a:t>
            </a:r>
            <a:endParaRPr lang="en-US" sz="1300" dirty="0"/>
          </a:p>
        </p:txBody>
      </p:sp>
      <p:sp>
        <p:nvSpPr>
          <p:cNvPr id="33" name="Text 25"/>
          <p:cNvSpPr/>
          <p:nvPr/>
        </p:nvSpPr>
        <p:spPr>
          <a:xfrm>
            <a:off x="4997196" y="535838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K-Means clustering and modeling.</a:t>
            </a:r>
            <a:endParaRPr lang="en-US" sz="900" dirty="0"/>
          </a:p>
        </p:txBody>
      </p:sp>
      <p:sp>
        <p:nvSpPr>
          <p:cNvPr id="34" name="Shape 26"/>
          <p:cNvSpPr/>
          <p:nvPr/>
        </p:nvSpPr>
        <p:spPr>
          <a:xfrm>
            <a:off x="7557516" y="4023360"/>
            <a:ext cx="2487168"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35" name="Shape 27"/>
          <p:cNvSpPr/>
          <p:nvPr/>
        </p:nvSpPr>
        <p:spPr>
          <a:xfrm>
            <a:off x="8458200" y="4251960"/>
            <a:ext cx="685800" cy="685800"/>
          </a:xfrm>
          <a:prstGeom prst="ellipse">
            <a:avLst/>
          </a:prstGeom>
          <a:solidFill>
            <a:srgbClr val="FFFFFF"/>
          </a:solidFill>
          <a:ln w="12700">
            <a:solidFill>
              <a:srgbClr val="E2E6F2"/>
            </a:solidFill>
            <a:prstDash val="solid"/>
          </a:ln>
        </p:spPr>
      </p:sp>
      <p:pic>
        <p:nvPicPr>
          <p:cNvPr id="36" name="Image 6" descr="/home/claude/icons/streamlit_navy.png"/>
          <p:cNvPicPr>
            <a:picLocks noChangeAspect="1"/>
          </p:cNvPicPr>
          <p:nvPr/>
        </p:nvPicPr>
        <p:blipFill>
          <a:blip r:embed="rId9"/>
          <a:stretch>
            <a:fillRect/>
          </a:stretch>
        </p:blipFill>
        <p:spPr>
          <a:xfrm>
            <a:off x="8622792" y="4416552"/>
            <a:ext cx="356616" cy="356616"/>
          </a:xfrm>
          <a:prstGeom prst="rect">
            <a:avLst/>
          </a:prstGeom>
        </p:spPr>
      </p:pic>
      <p:sp>
        <p:nvSpPr>
          <p:cNvPr id="37" name="Text 28"/>
          <p:cNvSpPr/>
          <p:nvPr/>
        </p:nvSpPr>
        <p:spPr>
          <a:xfrm>
            <a:off x="7648956" y="5047488"/>
            <a:ext cx="2304288" cy="310896"/>
          </a:xfrm>
          <a:prstGeom prst="rect">
            <a:avLst/>
          </a:prstGeom>
          <a:noFill/>
          <a:ln/>
        </p:spPr>
        <p:txBody>
          <a:bodyPr wrap="square" lIns="0" tIns="0" rIns="0" bIns="0"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Streamlit</a:t>
            </a:r>
            <a:endParaRPr lang="en-US" sz="1300" dirty="0"/>
          </a:p>
        </p:txBody>
      </p:sp>
      <p:sp>
        <p:nvSpPr>
          <p:cNvPr id="38" name="Text 29"/>
          <p:cNvSpPr/>
          <p:nvPr/>
        </p:nvSpPr>
        <p:spPr>
          <a:xfrm>
            <a:off x="7703820" y="5358384"/>
            <a:ext cx="2194560" cy="54864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Interactive dashboard &amp; deployment.</a:t>
            </a:r>
            <a:endParaRPr lang="en-US" sz="900" dirty="0"/>
          </a:p>
        </p:txBody>
      </p:sp>
      <p:sp>
        <p:nvSpPr>
          <p:cNvPr id="39" name="Text 30"/>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40" name="Text 31"/>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Project Results</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What this project delivered, end to end</a:t>
            </a:r>
            <a:endParaRPr lang="en-US" sz="1300" dirty="0"/>
          </a:p>
        </p:txBody>
      </p:sp>
      <p:sp>
        <p:nvSpPr>
          <p:cNvPr id="4" name="Shape 2"/>
          <p:cNvSpPr/>
          <p:nvPr/>
        </p:nvSpPr>
        <p:spPr>
          <a:xfrm>
            <a:off x="548640" y="1783080"/>
            <a:ext cx="5349240" cy="2057400"/>
          </a:xfrm>
          <a:prstGeom prst="roundRect">
            <a:avLst>
              <a:gd name="adj" fmla="val 4000"/>
            </a:avLst>
          </a:prstGeom>
          <a:solidFill>
            <a:srgbClr val="1E2761"/>
          </a:solidFill>
          <a:ln/>
          <a:effectLst>
            <a:outerShdw blurRad="101600" dist="38100" dir="5400000" algn="bl" rotWithShape="0">
              <a:srgbClr val="1E2761">
                <a:alpha val="18000"/>
              </a:srgbClr>
            </a:outerShdw>
          </a:effectLst>
        </p:spPr>
      </p:sp>
      <p:sp>
        <p:nvSpPr>
          <p:cNvPr id="5" name="Shape 3"/>
          <p:cNvSpPr/>
          <p:nvPr/>
        </p:nvSpPr>
        <p:spPr>
          <a:xfrm>
            <a:off x="804672" y="2039112"/>
            <a:ext cx="594360" cy="594360"/>
          </a:xfrm>
          <a:prstGeom prst="ellipse">
            <a:avLst/>
          </a:prstGeom>
          <a:solidFill>
            <a:srgbClr val="FFFFFF"/>
          </a:solidFill>
          <a:ln/>
        </p:spPr>
      </p:sp>
      <p:pic>
        <p:nvPicPr>
          <p:cNvPr id="6" name="Image 0" descr="/home/claude/icons/pie_navy.png"/>
          <p:cNvPicPr>
            <a:picLocks noChangeAspect="1"/>
          </p:cNvPicPr>
          <p:nvPr/>
        </p:nvPicPr>
        <p:blipFill>
          <a:blip r:embed="rId3"/>
          <a:stretch>
            <a:fillRect/>
          </a:stretch>
        </p:blipFill>
        <p:spPr>
          <a:xfrm>
            <a:off x="959206" y="2193646"/>
            <a:ext cx="285293" cy="285293"/>
          </a:xfrm>
          <a:prstGeom prst="rect">
            <a:avLst/>
          </a:prstGeom>
        </p:spPr>
      </p:pic>
      <p:sp>
        <p:nvSpPr>
          <p:cNvPr id="7" name="Text 4"/>
          <p:cNvSpPr/>
          <p:nvPr/>
        </p:nvSpPr>
        <p:spPr>
          <a:xfrm>
            <a:off x="1554480" y="203911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Customer Segmentation</a:t>
            </a:r>
            <a:endParaRPr lang="en-US" sz="1500" dirty="0"/>
          </a:p>
        </p:txBody>
      </p:sp>
      <p:sp>
        <p:nvSpPr>
          <p:cNvPr id="8" name="Text 5"/>
          <p:cNvSpPr/>
          <p:nvPr/>
        </p:nvSpPr>
        <p:spPr>
          <a:xfrm>
            <a:off x="841248" y="265176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Identified 4 distinct segments — Budget, Regular, Premium, and VIP — from 200 customer records using K-Means clustering.</a:t>
            </a:r>
            <a:endParaRPr lang="en-US" sz="1150" dirty="0"/>
          </a:p>
        </p:txBody>
      </p:sp>
      <p:sp>
        <p:nvSpPr>
          <p:cNvPr id="9" name="Shape 6"/>
          <p:cNvSpPr/>
          <p:nvPr/>
        </p:nvSpPr>
        <p:spPr>
          <a:xfrm>
            <a:off x="6153912" y="1783080"/>
            <a:ext cx="5349240" cy="2057400"/>
          </a:xfrm>
          <a:prstGeom prst="roundRect">
            <a:avLst>
              <a:gd name="adj" fmla="val 4000"/>
            </a:avLst>
          </a:prstGeom>
          <a:solidFill>
            <a:srgbClr val="B8860B"/>
          </a:solidFill>
          <a:ln/>
          <a:effectLst>
            <a:outerShdw blurRad="101600" dist="38100" dir="5400000" algn="bl" rotWithShape="0">
              <a:srgbClr val="1E2761">
                <a:alpha val="18000"/>
              </a:srgbClr>
            </a:outerShdw>
          </a:effectLst>
        </p:spPr>
      </p:sp>
      <p:sp>
        <p:nvSpPr>
          <p:cNvPr id="10" name="Shape 7"/>
          <p:cNvSpPr/>
          <p:nvPr/>
        </p:nvSpPr>
        <p:spPr>
          <a:xfrm>
            <a:off x="6409944" y="2039112"/>
            <a:ext cx="594360" cy="594360"/>
          </a:xfrm>
          <a:prstGeom prst="ellipse">
            <a:avLst/>
          </a:prstGeom>
          <a:solidFill>
            <a:srgbClr val="FFFFFF"/>
          </a:solidFill>
          <a:ln/>
        </p:spPr>
      </p:sp>
      <p:pic>
        <p:nvPicPr>
          <p:cNvPr id="11" name="Image 1" descr="/home/claude/icons/grid_navy.png"/>
          <p:cNvPicPr>
            <a:picLocks noChangeAspect="1"/>
          </p:cNvPicPr>
          <p:nvPr/>
        </p:nvPicPr>
        <p:blipFill>
          <a:blip r:embed="rId4"/>
          <a:stretch>
            <a:fillRect/>
          </a:stretch>
        </p:blipFill>
        <p:spPr>
          <a:xfrm>
            <a:off x="6564478" y="2193646"/>
            <a:ext cx="285293" cy="285293"/>
          </a:xfrm>
          <a:prstGeom prst="rect">
            <a:avLst/>
          </a:prstGeom>
        </p:spPr>
      </p:pic>
      <p:sp>
        <p:nvSpPr>
          <p:cNvPr id="12" name="Text 8"/>
          <p:cNvSpPr/>
          <p:nvPr/>
        </p:nvSpPr>
        <p:spPr>
          <a:xfrm>
            <a:off x="7159752" y="203911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Cluster Visualization</a:t>
            </a:r>
            <a:endParaRPr lang="en-US" sz="1500" dirty="0"/>
          </a:p>
        </p:txBody>
      </p:sp>
      <p:sp>
        <p:nvSpPr>
          <p:cNvPr id="13" name="Text 9"/>
          <p:cNvSpPr/>
          <p:nvPr/>
        </p:nvSpPr>
        <p:spPr>
          <a:xfrm>
            <a:off x="6446520" y="265176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Plotted all 200 customers by income vs. spending score, revealing four clearly separated, non-overlapping clusters.</a:t>
            </a:r>
            <a:endParaRPr lang="en-US" sz="1150" dirty="0"/>
          </a:p>
        </p:txBody>
      </p:sp>
      <p:sp>
        <p:nvSpPr>
          <p:cNvPr id="14" name="Shape 10"/>
          <p:cNvSpPr/>
          <p:nvPr/>
        </p:nvSpPr>
        <p:spPr>
          <a:xfrm>
            <a:off x="548640" y="4114800"/>
            <a:ext cx="5349240" cy="2057400"/>
          </a:xfrm>
          <a:prstGeom prst="roundRect">
            <a:avLst>
              <a:gd name="adj" fmla="val 4000"/>
            </a:avLst>
          </a:prstGeom>
          <a:solidFill>
            <a:srgbClr val="4A62A8"/>
          </a:solidFill>
          <a:ln/>
          <a:effectLst>
            <a:outerShdw blurRad="101600" dist="38100" dir="5400000" algn="bl" rotWithShape="0">
              <a:srgbClr val="1E2761">
                <a:alpha val="18000"/>
              </a:srgbClr>
            </a:outerShdw>
          </a:effectLst>
        </p:spPr>
      </p:sp>
      <p:sp>
        <p:nvSpPr>
          <p:cNvPr id="15" name="Shape 11"/>
          <p:cNvSpPr/>
          <p:nvPr/>
        </p:nvSpPr>
        <p:spPr>
          <a:xfrm>
            <a:off x="804672" y="4370832"/>
            <a:ext cx="594360" cy="594360"/>
          </a:xfrm>
          <a:prstGeom prst="ellipse">
            <a:avLst/>
          </a:prstGeom>
          <a:solidFill>
            <a:srgbClr val="FFFFFF"/>
          </a:solidFill>
          <a:ln/>
        </p:spPr>
      </p:sp>
      <p:pic>
        <p:nvPicPr>
          <p:cNvPr id="16" name="Image 2" descr="/home/claude/icons/target_navy.png"/>
          <p:cNvPicPr>
            <a:picLocks noChangeAspect="1"/>
          </p:cNvPicPr>
          <p:nvPr/>
        </p:nvPicPr>
        <p:blipFill>
          <a:blip r:embed="rId5"/>
          <a:stretch>
            <a:fillRect/>
          </a:stretch>
        </p:blipFill>
        <p:spPr>
          <a:xfrm>
            <a:off x="959206" y="4525366"/>
            <a:ext cx="285293" cy="285293"/>
          </a:xfrm>
          <a:prstGeom prst="rect">
            <a:avLst/>
          </a:prstGeom>
        </p:spPr>
      </p:pic>
      <p:sp>
        <p:nvSpPr>
          <p:cNvPr id="17" name="Text 12"/>
          <p:cNvSpPr/>
          <p:nvPr/>
        </p:nvSpPr>
        <p:spPr>
          <a:xfrm>
            <a:off x="1554480" y="437083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Marketing Suggestions</a:t>
            </a:r>
            <a:endParaRPr lang="en-US" sz="1500" dirty="0"/>
          </a:p>
        </p:txBody>
      </p:sp>
      <p:sp>
        <p:nvSpPr>
          <p:cNvPr id="18" name="Text 13"/>
          <p:cNvSpPr/>
          <p:nvPr/>
        </p:nvSpPr>
        <p:spPr>
          <a:xfrm>
            <a:off x="841248" y="498348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Delivered one tailored strategy per segment — from value bundles for Budget to loyalty perks for VIP customers.</a:t>
            </a:r>
            <a:endParaRPr lang="en-US" sz="1150" dirty="0"/>
          </a:p>
        </p:txBody>
      </p:sp>
      <p:sp>
        <p:nvSpPr>
          <p:cNvPr id="19" name="Shape 14"/>
          <p:cNvSpPr/>
          <p:nvPr/>
        </p:nvSpPr>
        <p:spPr>
          <a:xfrm>
            <a:off x="6153912" y="4114800"/>
            <a:ext cx="5349240" cy="2057400"/>
          </a:xfrm>
          <a:prstGeom prst="roundRect">
            <a:avLst>
              <a:gd name="adj" fmla="val 4000"/>
            </a:avLst>
          </a:prstGeom>
          <a:solidFill>
            <a:srgbClr val="2A3A82"/>
          </a:solidFill>
          <a:ln/>
          <a:effectLst>
            <a:outerShdw blurRad="101600" dist="38100" dir="5400000" algn="bl" rotWithShape="0">
              <a:srgbClr val="1E2761">
                <a:alpha val="18000"/>
              </a:srgbClr>
            </a:outerShdw>
          </a:effectLst>
        </p:spPr>
      </p:sp>
      <p:sp>
        <p:nvSpPr>
          <p:cNvPr id="20" name="Shape 15"/>
          <p:cNvSpPr/>
          <p:nvPr/>
        </p:nvSpPr>
        <p:spPr>
          <a:xfrm>
            <a:off x="6409944" y="4370832"/>
            <a:ext cx="594360" cy="594360"/>
          </a:xfrm>
          <a:prstGeom prst="ellipse">
            <a:avLst/>
          </a:prstGeom>
          <a:solidFill>
            <a:srgbClr val="FFFFFF"/>
          </a:solidFill>
          <a:ln/>
        </p:spPr>
      </p:sp>
      <p:pic>
        <p:nvPicPr>
          <p:cNvPr id="21" name="Image 3" descr="/home/claude/icons/user_navy.png"/>
          <p:cNvPicPr>
            <a:picLocks noChangeAspect="1"/>
          </p:cNvPicPr>
          <p:nvPr/>
        </p:nvPicPr>
        <p:blipFill>
          <a:blip r:embed="rId6"/>
          <a:stretch>
            <a:fillRect/>
          </a:stretch>
        </p:blipFill>
        <p:spPr>
          <a:xfrm>
            <a:off x="6564478" y="4525366"/>
            <a:ext cx="285293" cy="285293"/>
          </a:xfrm>
          <a:prstGeom prst="rect">
            <a:avLst/>
          </a:prstGeom>
        </p:spPr>
      </p:pic>
      <p:sp>
        <p:nvSpPr>
          <p:cNvPr id="22" name="Text 16"/>
          <p:cNvSpPr/>
          <p:nvPr/>
        </p:nvSpPr>
        <p:spPr>
          <a:xfrm>
            <a:off x="7159752" y="4370832"/>
            <a:ext cx="41148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Customer Profiles</a:t>
            </a:r>
            <a:endParaRPr lang="en-US" sz="1500" dirty="0"/>
          </a:p>
        </p:txBody>
      </p:sp>
      <p:sp>
        <p:nvSpPr>
          <p:cNvPr id="23" name="Text 17"/>
          <p:cNvSpPr/>
          <p:nvPr/>
        </p:nvSpPr>
        <p:spPr>
          <a:xfrm>
            <a:off x="6446520" y="4983480"/>
            <a:ext cx="4764024" cy="1097280"/>
          </a:xfrm>
          <a:prstGeom prst="rect">
            <a:avLst/>
          </a:prstGeom>
          <a:noFill/>
          <a:ln/>
        </p:spPr>
        <p:txBody>
          <a:bodyPr wrap="square" lIns="0" tIns="0" rIns="0" bIns="0" rtlCol="0" anchor="t"/>
          <a:lstStyle/>
          <a:p>
            <a:pPr marL="0" indent="0">
              <a:buNone/>
            </a:pPr>
            <a:r>
              <a:rPr lang="en-US" sz="1150" dirty="0">
                <a:solidFill>
                  <a:srgbClr val="F0F2FA"/>
                </a:solidFill>
                <a:latin typeface="Calibri" pitchFamily="34" charset="0"/>
                <a:ea typeface="Calibri" pitchFamily="34" charset="-122"/>
                <a:cs typeface="Calibri" pitchFamily="34" charset="-120"/>
              </a:rPr>
              <a:t>Built real sample profiles for each tier, grounding every segment in an actual customer record from the dataset.</a:t>
            </a:r>
            <a:endParaRPr lang="en-US" sz="1150" dirty="0"/>
          </a:p>
        </p:txBody>
      </p:sp>
      <p:sp>
        <p:nvSpPr>
          <p:cNvPr id="24" name="Text 18"/>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25" name="Text 1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Future Scope</a:t>
            </a:r>
            <a:endParaRPr lang="en-US" sz="3000" dirty="0"/>
          </a:p>
        </p:txBody>
      </p:sp>
      <p:sp>
        <p:nvSpPr>
          <p:cNvPr id="3" name="Text 1"/>
          <p:cNvSpPr/>
          <p:nvPr/>
        </p:nvSpPr>
        <p:spPr>
          <a:xfrm>
            <a:off x="548640" y="1051560"/>
            <a:ext cx="1106424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Where this project could go next</a:t>
            </a:r>
            <a:endParaRPr lang="en-US" sz="1300" dirty="0"/>
          </a:p>
        </p:txBody>
      </p:sp>
      <p:sp>
        <p:nvSpPr>
          <p:cNvPr id="4" name="Shape 2"/>
          <p:cNvSpPr/>
          <p:nvPr/>
        </p:nvSpPr>
        <p:spPr>
          <a:xfrm>
            <a:off x="548640" y="178308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5" name="Shape 3"/>
          <p:cNvSpPr/>
          <p:nvPr/>
        </p:nvSpPr>
        <p:spPr>
          <a:xfrm>
            <a:off x="804672" y="2039112"/>
            <a:ext cx="594360" cy="594360"/>
          </a:xfrm>
          <a:prstGeom prst="ellipse">
            <a:avLst/>
          </a:prstGeom>
          <a:solidFill>
            <a:srgbClr val="1E2761"/>
          </a:solidFill>
          <a:ln/>
        </p:spPr>
      </p:sp>
      <p:pic>
        <p:nvPicPr>
          <p:cNvPr id="6" name="Image 0" descr="/home/claude/icons/trending_white.png"/>
          <p:cNvPicPr>
            <a:picLocks noChangeAspect="1"/>
          </p:cNvPicPr>
          <p:nvPr/>
        </p:nvPicPr>
        <p:blipFill>
          <a:blip r:embed="rId3"/>
          <a:stretch>
            <a:fillRect/>
          </a:stretch>
        </p:blipFill>
        <p:spPr>
          <a:xfrm>
            <a:off x="959206" y="2193646"/>
            <a:ext cx="285293" cy="285293"/>
          </a:xfrm>
          <a:prstGeom prst="rect">
            <a:avLst/>
          </a:prstGeom>
        </p:spPr>
      </p:pic>
      <p:sp>
        <p:nvSpPr>
          <p:cNvPr id="7" name="Text 4"/>
          <p:cNvSpPr/>
          <p:nvPr/>
        </p:nvSpPr>
        <p:spPr>
          <a:xfrm>
            <a:off x="1554480" y="2002536"/>
            <a:ext cx="416052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Real-Time Analytics</a:t>
            </a:r>
            <a:endParaRPr lang="en-US" sz="1450" dirty="0"/>
          </a:p>
        </p:txBody>
      </p:sp>
      <p:sp>
        <p:nvSpPr>
          <p:cNvPr id="8" name="Text 5"/>
          <p:cNvSpPr/>
          <p:nvPr/>
        </p:nvSpPr>
        <p:spPr>
          <a:xfrm>
            <a:off x="1554480" y="2386584"/>
            <a:ext cx="4160520" cy="11887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Stream live customer activity so segments and dashboards update continuously, not just at analysis time.</a:t>
            </a:r>
            <a:endParaRPr lang="en-US" sz="1100" dirty="0"/>
          </a:p>
        </p:txBody>
      </p:sp>
      <p:sp>
        <p:nvSpPr>
          <p:cNvPr id="9" name="Shape 6"/>
          <p:cNvSpPr/>
          <p:nvPr/>
        </p:nvSpPr>
        <p:spPr>
          <a:xfrm>
            <a:off x="6153912" y="178308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10" name="Shape 7"/>
          <p:cNvSpPr/>
          <p:nvPr/>
        </p:nvSpPr>
        <p:spPr>
          <a:xfrm>
            <a:off x="6409944" y="2039112"/>
            <a:ext cx="594360" cy="594360"/>
          </a:xfrm>
          <a:prstGeom prst="ellipse">
            <a:avLst/>
          </a:prstGeom>
          <a:solidFill>
            <a:srgbClr val="1E2761"/>
          </a:solidFill>
          <a:ln/>
        </p:spPr>
      </p:sp>
      <p:pic>
        <p:nvPicPr>
          <p:cNvPr id="11" name="Image 1" descr="/home/claude/icons/zap_white.png"/>
          <p:cNvPicPr>
            <a:picLocks noChangeAspect="1"/>
          </p:cNvPicPr>
          <p:nvPr/>
        </p:nvPicPr>
        <p:blipFill>
          <a:blip r:embed="rId4"/>
          <a:stretch>
            <a:fillRect/>
          </a:stretch>
        </p:blipFill>
        <p:spPr>
          <a:xfrm>
            <a:off x="6564478" y="2193646"/>
            <a:ext cx="285293" cy="285293"/>
          </a:xfrm>
          <a:prstGeom prst="rect">
            <a:avLst/>
          </a:prstGeom>
        </p:spPr>
      </p:pic>
      <p:sp>
        <p:nvSpPr>
          <p:cNvPr id="12" name="Text 8"/>
          <p:cNvSpPr/>
          <p:nvPr/>
        </p:nvSpPr>
        <p:spPr>
          <a:xfrm>
            <a:off x="7159752" y="2002536"/>
            <a:ext cx="416052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AI Recommendations</a:t>
            </a:r>
            <a:endParaRPr lang="en-US" sz="1450" dirty="0"/>
          </a:p>
        </p:txBody>
      </p:sp>
      <p:sp>
        <p:nvSpPr>
          <p:cNvPr id="13" name="Text 9"/>
          <p:cNvSpPr/>
          <p:nvPr/>
        </p:nvSpPr>
        <p:spPr>
          <a:xfrm>
            <a:off x="7159752" y="2386584"/>
            <a:ext cx="4160520" cy="11887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Layer in machine learning to power personalized product and offer recommendations for each customer.</a:t>
            </a:r>
            <a:endParaRPr lang="en-US" sz="1100" dirty="0"/>
          </a:p>
        </p:txBody>
      </p:sp>
      <p:sp>
        <p:nvSpPr>
          <p:cNvPr id="14" name="Shape 10"/>
          <p:cNvSpPr/>
          <p:nvPr/>
        </p:nvSpPr>
        <p:spPr>
          <a:xfrm>
            <a:off x="548640" y="402336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15" name="Shape 11"/>
          <p:cNvSpPr/>
          <p:nvPr/>
        </p:nvSpPr>
        <p:spPr>
          <a:xfrm>
            <a:off x="804672" y="4279392"/>
            <a:ext cx="594360" cy="594360"/>
          </a:xfrm>
          <a:prstGeom prst="ellipse">
            <a:avLst/>
          </a:prstGeom>
          <a:solidFill>
            <a:srgbClr val="1E2761"/>
          </a:solidFill>
          <a:ln/>
        </p:spPr>
      </p:sp>
      <p:pic>
        <p:nvPicPr>
          <p:cNvPr id="16" name="Image 2" descr="/home/claude/icons/smartphone_white.png"/>
          <p:cNvPicPr>
            <a:picLocks noChangeAspect="1"/>
          </p:cNvPicPr>
          <p:nvPr/>
        </p:nvPicPr>
        <p:blipFill>
          <a:blip r:embed="rId5"/>
          <a:stretch>
            <a:fillRect/>
          </a:stretch>
        </p:blipFill>
        <p:spPr>
          <a:xfrm>
            <a:off x="959206" y="4433926"/>
            <a:ext cx="285293" cy="285293"/>
          </a:xfrm>
          <a:prstGeom prst="rect">
            <a:avLst/>
          </a:prstGeom>
        </p:spPr>
      </p:pic>
      <p:sp>
        <p:nvSpPr>
          <p:cNvPr id="17" name="Text 12"/>
          <p:cNvSpPr/>
          <p:nvPr/>
        </p:nvSpPr>
        <p:spPr>
          <a:xfrm>
            <a:off x="1554480" y="4242816"/>
            <a:ext cx="416052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Mobile App</a:t>
            </a:r>
            <a:endParaRPr lang="en-US" sz="1450" dirty="0"/>
          </a:p>
        </p:txBody>
      </p:sp>
      <p:sp>
        <p:nvSpPr>
          <p:cNvPr id="18" name="Text 13"/>
          <p:cNvSpPr/>
          <p:nvPr/>
        </p:nvSpPr>
        <p:spPr>
          <a:xfrm>
            <a:off x="1554480" y="4626864"/>
            <a:ext cx="4160520" cy="11887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Extend the dashboard into a mobile experience so segments and insights are accessible on the go.</a:t>
            </a:r>
            <a:endParaRPr lang="en-US" sz="1100" dirty="0"/>
          </a:p>
        </p:txBody>
      </p:sp>
      <p:sp>
        <p:nvSpPr>
          <p:cNvPr id="19" name="Shape 14"/>
          <p:cNvSpPr/>
          <p:nvPr/>
        </p:nvSpPr>
        <p:spPr>
          <a:xfrm>
            <a:off x="6153912" y="4023360"/>
            <a:ext cx="5349240" cy="1965960"/>
          </a:xfrm>
          <a:prstGeom prst="roundRect">
            <a:avLst>
              <a:gd name="adj" fmla="val 4186"/>
            </a:avLst>
          </a:prstGeom>
          <a:solidFill>
            <a:srgbClr val="F7F8FC"/>
          </a:solidFill>
          <a:ln/>
          <a:effectLst>
            <a:outerShdw blurRad="63500" dist="25400" dir="5400000" algn="bl" rotWithShape="0">
              <a:srgbClr val="1E2761">
                <a:alpha val="10000"/>
              </a:srgbClr>
            </a:outerShdw>
          </a:effectLst>
        </p:spPr>
      </p:sp>
      <p:sp>
        <p:nvSpPr>
          <p:cNvPr id="20" name="Shape 15"/>
          <p:cNvSpPr/>
          <p:nvPr/>
        </p:nvSpPr>
        <p:spPr>
          <a:xfrm>
            <a:off x="6409944" y="4279392"/>
            <a:ext cx="594360" cy="594360"/>
          </a:xfrm>
          <a:prstGeom prst="ellipse">
            <a:avLst/>
          </a:prstGeom>
          <a:solidFill>
            <a:srgbClr val="1E2761"/>
          </a:solidFill>
          <a:ln/>
        </p:spPr>
      </p:sp>
      <p:pic>
        <p:nvPicPr>
          <p:cNvPr id="21" name="Image 3" descr="/home/claude/icons/award_white.png"/>
          <p:cNvPicPr>
            <a:picLocks noChangeAspect="1"/>
          </p:cNvPicPr>
          <p:nvPr/>
        </p:nvPicPr>
        <p:blipFill>
          <a:blip r:embed="rId6"/>
          <a:stretch>
            <a:fillRect/>
          </a:stretch>
        </p:blipFill>
        <p:spPr>
          <a:xfrm>
            <a:off x="6564478" y="4433926"/>
            <a:ext cx="285293" cy="285293"/>
          </a:xfrm>
          <a:prstGeom prst="rect">
            <a:avLst/>
          </a:prstGeom>
        </p:spPr>
      </p:pic>
      <p:sp>
        <p:nvSpPr>
          <p:cNvPr id="22" name="Text 16"/>
          <p:cNvSpPr/>
          <p:nvPr/>
        </p:nvSpPr>
        <p:spPr>
          <a:xfrm>
            <a:off x="7159752" y="4242816"/>
            <a:ext cx="4160520" cy="365760"/>
          </a:xfrm>
          <a:prstGeom prst="rect">
            <a:avLst/>
          </a:prstGeom>
          <a:noFill/>
          <a:ln/>
        </p:spPr>
        <p:txBody>
          <a:bodyPr wrap="square" lIns="0" tIns="0" rIns="0" bIns="0"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Customer Retention Features</a:t>
            </a:r>
            <a:endParaRPr lang="en-US" sz="1450" dirty="0"/>
          </a:p>
        </p:txBody>
      </p:sp>
      <p:sp>
        <p:nvSpPr>
          <p:cNvPr id="23" name="Text 17"/>
          <p:cNvSpPr/>
          <p:nvPr/>
        </p:nvSpPr>
        <p:spPr>
          <a:xfrm>
            <a:off x="7159752" y="4626864"/>
            <a:ext cx="4160520" cy="1188720"/>
          </a:xfrm>
          <a:prstGeom prst="rect">
            <a:avLst/>
          </a:prstGeom>
          <a:noFill/>
          <a:ln/>
        </p:spPr>
        <p:txBody>
          <a:bodyPr wrap="square" lIns="0" tIns="0" rIns="0" bIns="0" rtlCol="0" anchor="t"/>
          <a:lstStyle/>
          <a:p>
            <a:pPr marL="0" indent="0">
              <a:buNone/>
            </a:pPr>
            <a:r>
              <a:rPr lang="en-US" sz="1100" dirty="0">
                <a:solidFill>
                  <a:srgbClr val="6B7280"/>
                </a:solidFill>
                <a:latin typeface="Calibri" pitchFamily="34" charset="0"/>
                <a:ea typeface="Calibri" pitchFamily="34" charset="-122"/>
                <a:cs typeface="Calibri" pitchFamily="34" charset="-120"/>
              </a:rPr>
              <a:t>Add loyalty programs and early churn alerts to proactively retain high-value customers.</a:t>
            </a:r>
            <a:endParaRPr lang="en-US" sz="1100" dirty="0"/>
          </a:p>
        </p:txBody>
      </p:sp>
      <p:sp>
        <p:nvSpPr>
          <p:cNvPr id="24" name="Text 18"/>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9AA3B8"/>
                </a:solidFill>
                <a:latin typeface="Calibri" pitchFamily="34" charset="0"/>
                <a:ea typeface="Calibri" pitchFamily="34" charset="-122"/>
                <a:cs typeface="Calibri" pitchFamily="34" charset="-120"/>
              </a:rPr>
              <a:t>Customer Segmentation Analysis</a:t>
            </a:r>
            <a:endParaRPr lang="en-US" sz="900" dirty="0"/>
          </a:p>
        </p:txBody>
      </p:sp>
      <p:sp>
        <p:nvSpPr>
          <p:cNvPr id="25" name="Text 1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9AA3B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61C4D"/>
          </a:solidFill>
          <a:ln/>
        </p:spPr>
      </p:sp>
      <p:sp>
        <p:nvSpPr>
          <p:cNvPr id="3" name="Shape 1"/>
          <p:cNvSpPr/>
          <p:nvPr/>
        </p:nvSpPr>
        <p:spPr>
          <a:xfrm>
            <a:off x="-1463040" y="4480560"/>
            <a:ext cx="3291840" cy="3291840"/>
          </a:xfrm>
          <a:prstGeom prst="ellipse">
            <a:avLst/>
          </a:prstGeom>
          <a:solidFill>
            <a:srgbClr val="161C4D"/>
          </a:solidFill>
          <a:ln/>
        </p:spPr>
      </p:sp>
      <p:sp>
        <p:nvSpPr>
          <p:cNvPr id="4" name="Shape 2"/>
          <p:cNvSpPr/>
          <p:nvPr/>
        </p:nvSpPr>
        <p:spPr>
          <a:xfrm>
            <a:off x="10241280" y="5120640"/>
            <a:ext cx="2377440" cy="2377440"/>
          </a:xfrm>
          <a:prstGeom prst="ellipse">
            <a:avLst/>
          </a:prstGeom>
          <a:solidFill>
            <a:srgbClr val="161C4D"/>
          </a:solidFill>
          <a:ln/>
        </p:spPr>
      </p:sp>
      <p:sp>
        <p:nvSpPr>
          <p:cNvPr id="5" name="Shape 3"/>
          <p:cNvSpPr/>
          <p:nvPr/>
        </p:nvSpPr>
        <p:spPr>
          <a:xfrm>
            <a:off x="5591556" y="1737360"/>
            <a:ext cx="1005840" cy="1005840"/>
          </a:xfrm>
          <a:prstGeom prst="ellipse">
            <a:avLst/>
          </a:prstGeom>
          <a:solidFill>
            <a:srgbClr val="2A3A82"/>
          </a:solidFill>
          <a:ln/>
        </p:spPr>
      </p:sp>
      <p:pic>
        <p:nvPicPr>
          <p:cNvPr id="6" name="Image 0" descr="/home/claude/icons/check_gold.png"/>
          <p:cNvPicPr>
            <a:picLocks noChangeAspect="1"/>
          </p:cNvPicPr>
          <p:nvPr/>
        </p:nvPicPr>
        <p:blipFill>
          <a:blip r:embed="rId3"/>
          <a:stretch>
            <a:fillRect/>
          </a:stretch>
        </p:blipFill>
        <p:spPr>
          <a:xfrm>
            <a:off x="5853074" y="1998878"/>
            <a:ext cx="482803" cy="482803"/>
          </a:xfrm>
          <a:prstGeom prst="rect">
            <a:avLst/>
          </a:prstGeom>
        </p:spPr>
      </p:pic>
      <p:sp>
        <p:nvSpPr>
          <p:cNvPr id="7" name="Text 4"/>
          <p:cNvSpPr/>
          <p:nvPr/>
        </p:nvSpPr>
        <p:spPr>
          <a:xfrm>
            <a:off x="0" y="2971800"/>
            <a:ext cx="12188952"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8" name="Shape 5"/>
          <p:cNvSpPr/>
          <p:nvPr/>
        </p:nvSpPr>
        <p:spPr>
          <a:xfrm>
            <a:off x="5088636" y="3913632"/>
            <a:ext cx="2011680" cy="0"/>
          </a:xfrm>
          <a:prstGeom prst="line">
            <a:avLst/>
          </a:prstGeom>
          <a:noFill/>
          <a:ln w="31750">
            <a:solidFill>
              <a:srgbClr val="D4A017"/>
            </a:solidFill>
            <a:prstDash val="solid"/>
          </a:ln>
        </p:spPr>
      </p:sp>
      <p:sp>
        <p:nvSpPr>
          <p:cNvPr id="9" name="Text 6"/>
          <p:cNvSpPr/>
          <p:nvPr/>
        </p:nvSpPr>
        <p:spPr>
          <a:xfrm>
            <a:off x="1371600" y="4069080"/>
            <a:ext cx="9445752" cy="411480"/>
          </a:xfrm>
          <a:prstGeom prst="rect">
            <a:avLst/>
          </a:prstGeom>
          <a:noFill/>
          <a:ln/>
        </p:spPr>
        <p:txBody>
          <a:bodyPr wrap="square" lIns="0" tIns="0" rIns="0" bIns="0" rtlCol="0" anchor="ctr"/>
          <a:lstStyle/>
          <a:p>
            <a:pPr marL="0" indent="0" algn="ctr">
              <a:buNone/>
            </a:pPr>
            <a:r>
              <a:rPr lang="en-US" sz="1500" i="1" dirty="0">
                <a:solidFill>
                  <a:srgbClr val="CADCFC"/>
                </a:solidFill>
                <a:latin typeface="Calibri" pitchFamily="34" charset="0"/>
                <a:ea typeface="Calibri" pitchFamily="34" charset="-122"/>
                <a:cs typeface="Calibri" pitchFamily="34" charset="-120"/>
              </a:rPr>
              <a:t>Customer Segmentation &amp; Personalized Marketing</a:t>
            </a:r>
            <a:endParaRPr lang="en-US" sz="1500" dirty="0"/>
          </a:p>
        </p:txBody>
      </p:sp>
      <p:sp>
        <p:nvSpPr>
          <p:cNvPr id="10" name="Text 7"/>
          <p:cNvSpPr/>
          <p:nvPr/>
        </p:nvSpPr>
        <p:spPr>
          <a:xfrm>
            <a:off x="0" y="5989320"/>
            <a:ext cx="12188952" cy="365760"/>
          </a:xfrm>
          <a:prstGeom prst="rect">
            <a:avLst/>
          </a:prstGeom>
          <a:noFill/>
          <a:ln/>
        </p:spPr>
        <p:txBody>
          <a:bodyPr wrap="square" lIns="0" tIns="0" rIns="0" bIns="0" rtlCol="0" anchor="ctr"/>
          <a:lstStyle/>
          <a:p>
            <a:pPr marL="0" indent="0" algn="ctr">
              <a:buNone/>
            </a:pPr>
            <a:r>
              <a:rPr lang="en-US" sz="1100" dirty="0">
                <a:solidFill>
                  <a:srgbClr val="8891C4"/>
                </a:solidFill>
                <a:latin typeface="Calibri" pitchFamily="34" charset="0"/>
                <a:ea typeface="Calibri" pitchFamily="34" charset="-122"/>
                <a:cs typeface="Calibri" pitchFamily="34" charset="-120"/>
              </a:rPr>
              <a:t>Questions &amp; Discussion</a:t>
            </a:r>
            <a:endParaRPr lang="en-US" sz="1100" dirty="0"/>
          </a:p>
        </p:txBody>
      </p:sp>
      <p:sp>
        <p:nvSpPr>
          <p:cNvPr id="11" name="Text 8"/>
          <p:cNvSpPr/>
          <p:nvPr/>
        </p:nvSpPr>
        <p:spPr>
          <a:xfrm>
            <a:off x="457200" y="6492240"/>
            <a:ext cx="5486400" cy="274320"/>
          </a:xfrm>
          <a:prstGeom prst="rect">
            <a:avLst/>
          </a:prstGeom>
          <a:noFill/>
          <a:ln/>
        </p:spPr>
        <p:txBody>
          <a:bodyPr wrap="square" lIns="0" tIns="0" rIns="0" bIns="0" rtlCol="0" anchor="ctr"/>
          <a:lstStyle/>
          <a:p>
            <a:pPr marL="0" indent="0" algn="l">
              <a:buNone/>
            </a:pPr>
            <a:r>
              <a:rPr lang="en-US" sz="900" dirty="0">
                <a:solidFill>
                  <a:srgbClr val="6C77B0"/>
                </a:solidFill>
                <a:latin typeface="Calibri" pitchFamily="34" charset="0"/>
                <a:ea typeface="Calibri" pitchFamily="34" charset="-122"/>
                <a:cs typeface="Calibri" pitchFamily="34" charset="-120"/>
              </a:rPr>
              <a:t>Customer Segmentation Analysis</a:t>
            </a:r>
            <a:endParaRPr lang="en-US" sz="900" dirty="0"/>
          </a:p>
        </p:txBody>
      </p:sp>
      <p:sp>
        <p:nvSpPr>
          <p:cNvPr id="12" name="Text 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C77B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2366</Words>
  <Application>Microsoft Office PowerPoint</Application>
  <PresentationFormat>Custom</PresentationFormat>
  <Paragraphs>498</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MOUNAVI GOLLAPALLI</cp:lastModifiedBy>
  <cp:revision>2</cp:revision>
  <dcterms:created xsi:type="dcterms:W3CDTF">2026-09-17T05:40:10Z</dcterms:created>
  <dcterms:modified xsi:type="dcterms:W3CDTF">2026-09-17T05:48:26Z</dcterms:modified>
</cp:coreProperties>
</file>